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bin" ContentType="image/webp"/>
  <Override PartName="/ppt/media/image2.bin" ContentType="image/webp"/>
  <Override PartName="/ppt/media/image3.bin" ContentType="image/webp"/>
  <Override PartName="/ppt/media/image4.bin" ContentType="image/webp"/>
  <Override PartName="/ppt/media/image5.bin" ContentType="image/webp"/>
  <Override PartName="/ppt/media/image6.bin" ContentType="image/webp"/>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dce45728b7a4e66" Type="http://schemas.openxmlformats.org/package/2006/relationships/metadata/core-properties" Target="docProps/core.xml"/><Relationship Id="Rb9b21af96c774c9f" Type="http://schemas.openxmlformats.org/officeDocument/2006/relationships/officeDocument" Target="ppt/presentation.xml"/><Relationship Id="Rc98ad078b840498a"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5908df5bbc8b4ed5"/>
  </p:sldMasterIdLst>
  <p:notesMasterIdLst>
    <p:notesMasterId xmlns:r="http://schemas.openxmlformats.org/officeDocument/2006/relationships" r:id="Rd1598f9e16634236"/>
  </p:notesMasterIdLst>
  <p:sldIdLst>
    <p:sldId xmlns:r="http://schemas.openxmlformats.org/officeDocument/2006/relationships" id="256" r:id="R9c37f7b6805744a6"/>
    <p:sldId xmlns:r="http://schemas.openxmlformats.org/officeDocument/2006/relationships" id="257" r:id="R6e293f7ef42f4223"/>
    <p:sldId xmlns:r="http://schemas.openxmlformats.org/officeDocument/2006/relationships" id="258" r:id="R742f405d4aa64c98"/>
    <p:sldId xmlns:r="http://schemas.openxmlformats.org/officeDocument/2006/relationships" id="259" r:id="Recbae6e8a2e14d41"/>
    <p:sldId xmlns:r="http://schemas.openxmlformats.org/officeDocument/2006/relationships" id="260" r:id="R56411159c52c479e"/>
    <p:sldId xmlns:r="http://schemas.openxmlformats.org/officeDocument/2006/relationships" id="261" r:id="Reb283653a79a4441"/>
    <p:sldId xmlns:r="http://schemas.openxmlformats.org/officeDocument/2006/relationships" id="262" r:id="R9bb62ad81a8d4f5d"/>
    <p:sldId xmlns:r="http://schemas.openxmlformats.org/officeDocument/2006/relationships" id="263" r:id="R3e5b2d67b5c545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25628dfb0eed4f46" Type="http://schemas.openxmlformats.org/officeDocument/2006/relationships/tableStyles" Target="tableStyles.xml"/><Relationship Id="R3e5b2d67b5c545be" Type="http://schemas.openxmlformats.org/officeDocument/2006/relationships/slide" Target="slides/slide8.xml"/><Relationship Id="R56411159c52c479e" Type="http://schemas.openxmlformats.org/officeDocument/2006/relationships/slide" Target="slides/slide5.xml"/><Relationship Id="R5908df5bbc8b4ed5" Type="http://schemas.openxmlformats.org/officeDocument/2006/relationships/slideMaster" Target="slideMasters/slideMaster1.xml"/><Relationship Id="R6e293f7ef42f4223" Type="http://schemas.openxmlformats.org/officeDocument/2006/relationships/slide" Target="slides/slide2.xml"/><Relationship Id="R742f405d4aa64c98" Type="http://schemas.openxmlformats.org/officeDocument/2006/relationships/slide" Target="slides/slide3.xml"/><Relationship Id="R957b7f584dc64c61" Type="http://schemas.openxmlformats.org/officeDocument/2006/relationships/presProps" Target="presProps.xml"/><Relationship Id="R9bb62ad81a8d4f5d" Type="http://schemas.openxmlformats.org/officeDocument/2006/relationships/slide" Target="slides/slide7.xml"/><Relationship Id="R9c37f7b6805744a6" Type="http://schemas.openxmlformats.org/officeDocument/2006/relationships/slide" Target="slides/slide1.xml"/><Relationship Id="Rd1598f9e16634236" Type="http://schemas.openxmlformats.org/officeDocument/2006/relationships/notesMaster" Target="notesMasters/notesMaster1.xml"/><Relationship Id="Reb283653a79a4441" Type="http://schemas.openxmlformats.org/officeDocument/2006/relationships/slide" Target="slides/slide6.xml"/><Relationship Id="Recbae6e8a2e14d41" Type="http://schemas.openxmlformats.org/officeDocument/2006/relationships/slide" Target="slides/slide4.xml"/><Relationship Id="Rf2fe6212fc5d41b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4c7d4dd023ce4633"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8aa419426440445a" Type="http://schemas.openxmlformats.org/officeDocument/2006/relationships/slide" Target="../slides/slide1.xml"/><Relationship Id="Rbaf91533e5774905"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ab75254f897b43a3" Type="http://schemas.openxmlformats.org/officeDocument/2006/relationships/slide" Target="../slides/slide2.xml"/><Relationship Id="Rbf87dbc8a1fe4e3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8b44d70349747cc" Type="http://schemas.openxmlformats.org/officeDocument/2006/relationships/notesMaster" Target="../notesMasters/notesMaster1.xml"/><Relationship Id="Re53bdc895abe4490"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56e5689527e4a15" Type="http://schemas.openxmlformats.org/officeDocument/2006/relationships/notesMaster" Target="../notesMasters/notesMaster1.xml"/><Relationship Id="Rb5db946c261b4e20"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3ffe915bd7554322" Type="http://schemas.openxmlformats.org/officeDocument/2006/relationships/slide" Target="../slides/slide5.xml"/><Relationship Id="R4b67410c9c864ba3"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cae985704fd48c4" Type="http://schemas.openxmlformats.org/officeDocument/2006/relationships/notesMaster" Target="../notesMasters/notesMaster1.xml"/><Relationship Id="Ra6164c4a2a034c16"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ce790bef33fa4dcc" Type="http://schemas.openxmlformats.org/officeDocument/2006/relationships/notesMaster" Target="../notesMasters/notesMaster1.xml"/><Relationship Id="Rd1ea3b950e4c4008"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cc5820334fc5482d" Type="http://schemas.openxmlformats.org/officeDocument/2006/relationships/notesMaster" Target="../notesMasters/notesMaster1.xml"/><Relationship Id="Rfd31fbecaa82491a" Type="http://schemas.openxmlformats.org/officeDocument/2006/relationships/slide" Target="../slides/slide8.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Workplace Issues.</a:t>
            </a:r>
          </a:p>
          <a:p xmlns:a="http://schemas.openxmlformats.org/drawingml/2006/main">
            <a:r>
              <a:t/>
            </a:r>
          </a:p>
          <a:p xmlns:a="http://schemas.openxmlformats.org/drawingml/2006/main">
            <a:r>
              <a:t>Talking points</a:t>
            </a:r>
          </a:p>
          <a:p xmlns:a="http://schemas.openxmlformats.org/drawingml/2006/main">
            <a:r>
              <a:t>- Investigate workplace issues, weigh perspectives and choose evidence-based responses.</a:t>
            </a:r>
          </a:p>
          <a:p xmlns:a="http://schemas.openxmlformats.org/drawingml/2006/main">
            <a:r>
              <a:t>- Name the three learning areas without teaching them yet: Recognising contemporary workplace issues; Analysing impacts, evidence and perspectives; Responding through policy, support and action.</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Recognising contemporary workplace issues: Recognise workplace issues as contested situations shaped by work structures, relationships and wider change.</a:t>
            </a:r>
          </a:p>
          <a:p xmlns:a="http://schemas.openxmlformats.org/drawingml/2006/main">
            <a:r>
              <a:t>- 2. Analysing impacts, evidence and perspectives: Analyse a workplace issue using credible evidence, stakeholder perspectives and short- and long-term impacts.</a:t>
            </a:r>
          </a:p>
          <a:p xmlns:a="http://schemas.openxmlformats.org/drawingml/2006/main">
            <a:r>
              <a:t>- 3. Responding through policy, support and action: Design proportionate responses to workplace issues using confirmed policy, support, communication and review.</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Recognising contemporary workplace issues.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Recognise workplace issues as contested situations shaped by work structures, relationships and wider change.</a:t>
            </a:r>
          </a:p>
          <a:p xmlns:a="http://schemas.openxmlformats.org/drawingml/2006/main">
            <a:r>
              <a:t/>
            </a:r>
          </a:p>
          <a:p xmlns:a="http://schemas.openxmlformats.org/drawingml/2006/main">
            <a:r>
              <a:t>Talking points</a:t>
            </a:r>
          </a:p>
          <a:p xmlns:a="http://schemas.openxmlformats.org/drawingml/2006/main">
            <a:r>
              <a:t>- A workplace issue is a matter that affects how work is organised, experienced or regulated and that may require judgement or action. Examples in the official module include workplace relations, equity, performance appraisal, leaving an employer and unemployment. Contemporary issues can also emerge through changing technology, work location, employment patterns and expectations about safety and inclusion. An issue is not established merely because a claim is repeated: the situation, evidence, relevant expectations and people affected must be identified.</a:t>
            </a:r>
          </a:p>
          <a:p xmlns:a="http://schemas.openxmlformats.org/drawingml/2006/main">
            <a:r>
              <a:t>- Issues operate at several levels. An individual may experience unclear duties, exclusion or a performance concern; a team may face workload, communication or fairness problems; an organisation may confront unsafe systems or rapid restructuring; an industry may experience automation, skills shortages or declining demand. The same event can have different effects at each level. Separating the immediate event from the underlying conditions helps avoid blaming one person for a broader system problem or treating a personal disagreement as proof of an industry-wide trend.</a:t>
            </a:r>
          </a:p>
          <a:p xmlns:a="http://schemas.openxmlformats.org/drawingml/2006/main">
            <a:r>
              <a:t>- Language and rules change over time, so old examples are prompts for investigation rather than current legal instructions. Current information should come from the appropriate authoritative body and the workplace's confirmed policies. Local reporting contacts, complaint pathways, representation arrangements and emergency procedures are Teacher to confirm. In classroom analysis, privacy matters: use fictional or de-identified cases, report only information needed for the task and avoid naming people or workplaces when the facts have not been established.</a:t>
            </a:r>
          </a:p>
          <a:p xmlns:a="http://schemas.openxmlformats.org/drawingml/2006/main">
            <a:r>
              <a:t>- Worked example — Recognising the issue behind a roster change: A retail team receives a new roster with less notice than usual. Two workers report caring difficulties, while the manager says the change responds to customer demand. The issue is not simply 'bad management' or 'workers resisting change'. Relevant questions include what changed, who is affected, what evidence supports the operational need, which current workplace rules and policies apply, and whether consultation or adjustment options exist. Caring impacts, business needs, fairness and communication all form part of the issue. A conclusion requires current authoritative and workplace-specific information.</a:t>
            </a:r>
          </a:p>
          <a:p xmlns:a="http://schemas.openxmlformats.org/drawingml/2006/main">
            <a:r>
              <a:t>- Visual caption: A workplace issue often appears as a recurring pattern, not only as one person's difficult moment.</a:t>
            </a:r>
          </a:p>
          <a:p xmlns:a="http://schemas.openxmlformats.org/drawingml/2006/main">
            <a:r>
              <a:t>- Visual notice: Notice the roster, work stations and workers' attention. What repeated pattern would you investigate before drawing a conclusion?</a:t>
            </a:r>
          </a:p>
          <a:p xmlns:a="http://schemas.openxmlformats.org/drawingml/2006/main">
            <a:r>
              <a:t>- Applied evidence: Sort six fictional workplace situations by event, possible issue, affected stakeholders, evidence available and information still needed. Select one and explain why a conclusion would be premature or justified. A de-identified issue map and 150-word classification rationale.</a:t>
            </a:r>
          </a:p>
          <a:p xmlns:a="http://schemas.openxmlformats.org/drawingml/2006/main">
            <a:r>
              <a:t/>
            </a:r>
          </a:p>
          <a:p xmlns:a="http://schemas.openxmlformats.org/drawingml/2006/main">
            <a:r>
              <a:t>Prompt: State the issue and two questions that remain open.</a:t>
            </a:r>
          </a:p>
          <a:p xmlns:a="http://schemas.openxmlformats.org/drawingml/2006/main">
            <a:r>
              <a:t/>
            </a:r>
          </a:p>
          <a:p xmlns:a="http://schemas.openxmlformats.org/drawingml/2006/main">
            <a:r>
              <a:t>Likely misconception or nuance</a:t>
            </a:r>
          </a:p>
          <a:p xmlns:a="http://schemas.openxmlformats.org/drawingml/2006/main">
            <a:r>
              <a:t>- Every workplace problem is caused by one difficult individual. Correction: Individual behaviour can matter, but structures, workload, communication, policy, technology and wider conditions may also create or intensify an issue.</a:t>
            </a:r>
          </a:p>
          <a:p xmlns:a="http://schemas.openxmlformats.org/drawingml/2006/main">
            <a:r>
              <a:t/>
            </a:r>
          </a:p>
          <a:p xmlns:a="http://schemas.openxmlformats.org/drawingml/2006/main">
            <a:r>
              <a:t>Transition: Move to Analysing impacts, evidence and perspectives.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specialists/visuals/web-ready/m07-s01.webp | original AI-generated raster | SHA-256 83584b9e7bb73a1643175772768a779511a50144803b425c6c2afc9490d149a8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Analyse a workplace issue using credible evidence, stakeholder perspectives and short- and long-term impacts.</a:t>
            </a:r>
          </a:p>
          <a:p xmlns:a="http://schemas.openxmlformats.org/drawingml/2006/main">
            <a:r>
              <a:t/>
            </a:r>
          </a:p>
          <a:p xmlns:a="http://schemas.openxmlformats.org/drawingml/2006/main">
            <a:r>
              <a:t>Talking points</a:t>
            </a:r>
          </a:p>
          <a:p xmlns:a="http://schemas.openxmlformats.org/drawingml/2006/main">
            <a:r>
              <a:t>- Strong issue analysis asks both what is claimed and how the claim is supported. Useful evidence may include a confirmed policy, dated workplace record, aggregated data, direct observation or a statement from an authoritative body. Each source has limits. A policy shows what should occur, not necessarily what occurred; one person's account gives important experience but may not explain the whole pattern; a statistic can show scale but not every cause. Authority, currency, relevance, corroboration and possible bias should be considered together.</a:t>
            </a:r>
          </a:p>
          <a:p xmlns:a="http://schemas.openxmlformats.org/drawingml/2006/main">
            <a:r>
              <a:t>- Stakeholders may interpret the same change differently because they have different responsibilities, information, risks and values. An employer may focus on continuity and cost, workers on security and workload, customers on access, and a representative body on fair process. Perspective-taking means explaining why each view exists, not assuming every view is equally accurate or ethically acceptable. Claims can still be tested against evidence, current obligations and effects on others.</a:t>
            </a:r>
          </a:p>
          <a:p xmlns:a="http://schemas.openxmlformats.org/drawingml/2006/main">
            <a:r>
              <a:t>- Impact analysis follows consequences through time and across levels. A new technology might improve speed while creating training needs, surveillance concerns or unequal access. A redundancy may affect income and identity for an individual, workload for a team, capacity for an organisation and employment in a community. Intended outcomes, unintended consequences and who carries each cost should be made explicit. A balanced conclusion weighs the quality of evidence and the distribution of benefits and harms rather than averaging opinions.</a:t>
            </a:r>
          </a:p>
          <a:p xmlns:a="http://schemas.openxmlformats.org/drawingml/2006/main">
            <a:r>
              <a:t>- Worked example — Analysing a digital monitoring proposal: A service business proposes software that records task completion and location during work time. Management expects better scheduling; workers raise privacy, trust and workload concerns. The analysis checks the proposal, stated purpose, data collected, access arrangements, accuracy limits and current policy or legal guidance. It distinguishes a projected efficiency benefit from measured evidence. Management, workers, customers and technology staff have different responsibilities and risks. A conditional conclusion might support a limited trial only if purpose, consultation, data boundaries, training, review indicators and a response to errors are clear.</a:t>
            </a:r>
          </a:p>
          <a:p xmlns:a="http://schemas.openxmlformats.org/drawingml/2006/main">
            <a:r>
              <a:t>- Visual caption: A stronger analysis tests several forms of evidence and asks how the issue affects different people and outcomes.</a:t>
            </a:r>
          </a:p>
          <a:p xmlns:a="http://schemas.openxmlformats.org/drawingml/2006/main">
            <a:r>
              <a:t>- Visual notice: Notice the records, photographs, response sheet and perspective cards. What might one source reveal that another misses?</a:t>
            </a:r>
          </a:p>
          <a:p xmlns:a="http://schemas.openxmlformats.org/drawingml/2006/main">
            <a:r>
              <a:t>- Applied evidence: Analyse a fictional workplace change using five short source cards. Rate each source for authority, currency, relevance and limitation; map stakeholder impacts; then write a conditional finding. An evidence-rating matrix, impact map and 200-word finding.</a:t>
            </a:r>
          </a:p>
          <a:p xmlns:a="http://schemas.openxmlformats.org/drawingml/2006/main">
            <a:r>
              <a:t/>
            </a:r>
          </a:p>
          <a:p xmlns:a="http://schemas.openxmlformats.org/drawingml/2006/main">
            <a:r>
              <a:t>Prompt: Write a finding whose certainty matches the evidence.</a:t>
            </a:r>
          </a:p>
          <a:p xmlns:a="http://schemas.openxmlformats.org/drawingml/2006/main">
            <a:r>
              <a:t/>
            </a:r>
          </a:p>
          <a:p xmlns:a="http://schemas.openxmlformats.org/drawingml/2006/main">
            <a:r>
              <a:t>Likely misconception or nuance</a:t>
            </a:r>
          </a:p>
          <a:p xmlns:a="http://schemas.openxmlformats.org/drawingml/2006/main">
            <a:r>
              <a:t>- Balanced analysis means giving every claim the same weight. Correction: Balanced analysis represents relevant perspectives fairly, then gives greater weight to claims supported by stronger, more authoritative and relevant evidence.</a:t>
            </a:r>
          </a:p>
          <a:p xmlns:a="http://schemas.openxmlformats.org/drawingml/2006/main">
            <a:r>
              <a:t/>
            </a:r>
          </a:p>
          <a:p xmlns:a="http://schemas.openxmlformats.org/drawingml/2006/main">
            <a:r>
              <a:t>Transition: Move to Responding through policy, support and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specialists/visuals/web-ready/m07-s02.webp | original AI-generated raster | SHA-256 0d8d5fa8ee20d6a1e5631a0ad6e8647571a6178f3886d225fe23594960a8551b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Design proportionate responses to workplace issues using confirmed policy, support, communication and review.</a:t>
            </a:r>
          </a:p>
          <a:p xmlns:a="http://schemas.openxmlformats.org/drawingml/2006/main">
            <a:r>
              <a:t/>
            </a:r>
          </a:p>
          <a:p xmlns:a="http://schemas.openxmlformats.org/drawingml/2006/main">
            <a:r>
              <a:t>Talking points</a:t>
            </a:r>
          </a:p>
          <a:p xmlns:a="http://schemas.openxmlformats.org/drawingml/2006/main">
            <a:r>
              <a:t>- A response should match the seriousness and urgency of the issue. Immediate danger or emergency requires the workplace's current safety or emergency process; less urgent issues may begin with clarification, factual documentation or a supported conversation. The exact pathway is workplace-specific and Teacher to confirm. A proportionate response protects people without escalating beyond the evidence, while recognising that delay can also cause harm when risk is serious.</a:t>
            </a:r>
          </a:p>
          <a:p xmlns:a="http://schemas.openxmlformats.org/drawingml/2006/main">
            <a:r>
              <a:t>- Different sources of support have different roles. A supervisor or designated workplace contact may clarify duties or apply policy; a support person or representative may help someone understand and communicate their concern; an employer or professional association may advise its members; and an authoritative external body may provide current information or formal avenues. Knowing the role and limit of each source prevents a student from treating informal advice as a binding decision or using a public channel for a private workplace matter.</a:t>
            </a:r>
          </a:p>
          <a:p xmlns:a="http://schemas.openxmlformats.org/drawingml/2006/main">
            <a:r>
              <a:t>- A defensible action plan records observable facts, dates and relevant communications; states the desired outcome; selects a confirmed channel; and sets a reasonable review point. It separates evidence from interpretation and shares only necessary information. Policy matters only when it is understood, accessible and applied in practice, so review should examine both whether the process was followed and whether the issue improved. If new evidence or risk emerges, the plan may need to change.</a:t>
            </a:r>
          </a:p>
          <a:p xmlns:a="http://schemas.openxmlformats.org/drawingml/2006/main">
            <a:r>
              <a:t>- Worked example — Responding to repeated task exclusion: Priya is repeatedly left out of the equipment training offered to other new team members. She has dates and messages but does not know why it occurred. Priya records the pattern without alleging a motive, checks the relevant training and equity expectations, and identifies the confirmed workplace contact. She states the effect on her ability to complete duties and asks for clarification and an equitable training plan. A support person may help if appropriate. She sets a review point and protects colleagues' privacy. If the response or risk requires another avenue, she checks current workplace and authoritative guidance rather than inventing the next step.</a:t>
            </a:r>
          </a:p>
          <a:p xmlns:a="http://schemas.openxmlformats.org/drawingml/2006/main">
            <a:r>
              <a:t>- Visual caption: A response is stronger when the work system changes and affected people can access support and follow-up.</a:t>
            </a:r>
          </a:p>
          <a:p xmlns:a="http://schemas.openxmlformats.org/drawingml/2006/main">
            <a:r>
              <a:t>- Visual notice: Notice the adjusted workstation, support card and procedure folder. Which part addresses the system, and which supports the people?</a:t>
            </a:r>
          </a:p>
          <a:p xmlns:a="http://schemas.openxmlformats.org/drawingml/2006/main">
            <a:r>
              <a:t>- Applied evidence: For a fictional workplace issue, create three possible responses at different levels. Select the most proportionate starting point, specify evidence and privacy boundaries, and add triggers for urgent action or review. Mark all local contacts and procedures Teacher to confirm. A response pathway, factual case note and 180-word justification.</a:t>
            </a:r>
          </a:p>
          <a:p xmlns:a="http://schemas.openxmlformats.org/drawingml/2006/main">
            <a:r>
              <a:t/>
            </a:r>
          </a:p>
          <a:p xmlns:a="http://schemas.openxmlformats.org/drawingml/2006/main">
            <a:r>
              <a:t>Prompt: Set a review point and conditions for changing the response.</a:t>
            </a:r>
          </a:p>
          <a:p xmlns:a="http://schemas.openxmlformats.org/drawingml/2006/main">
            <a:r>
              <a:t/>
            </a:r>
          </a:p>
          <a:p xmlns:a="http://schemas.openxmlformats.org/drawingml/2006/main">
            <a:r>
              <a:t>Likely misconception or nuance</a:t>
            </a:r>
          </a:p>
          <a:p xmlns:a="http://schemas.openxmlformats.org/drawingml/2006/main">
            <a:r>
              <a:t>- The strongest response is always the most public and forceful response. Correction: The strongest response is evidence-based, safe and proportionate, uses an appropriate confirmed channel, protects privacy and can escalate when the facts or risk justify it.</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specialists/visuals/web-ready/m07-s03.webp | original AI-generated raster | SHA-256 7944c86cb6b62ba0f6cf0b826888cd863850cf0a62557051c80de256f29af19b</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Evidence that it affects work relationships, conditions, organisation or participation and requires judgement. Rationale: An issue is defined through impact, context and evidence rather than a label alone.</a:t>
            </a:r>
          </a:p>
          <a:p xmlns:a="http://schemas.openxmlformats.org/drawingml/2006/main">
            <a:r>
              <a:t>- Check 2: It describes an expected process, while incident evidence is needed to establish actual events. Rationale: Normative and event evidence answer different questions.</a:t>
            </a:r>
          </a:p>
          <a:p xmlns:a="http://schemas.openxmlformats.org/drawingml/2006/main">
            <a:r>
              <a:t>- Check 3: Urgency, potential harm, available evidence and the confirmed process. Rationale: Proportionate action is matched to the situation rather than chosen for appearance.</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Responding through policy, support and action.</a:t>
            </a:r>
          </a:p>
          <a:p xmlns:a="http://schemas.openxmlformats.org/drawingml/2006/main">
            <a:r>
              <a:t/>
            </a:r>
          </a:p>
          <a:p xmlns:a="http://schemas.openxmlformats.org/drawingml/2006/main">
            <a:r>
              <a:t>Talking points</a:t>
            </a:r>
          </a:p>
          <a:p xmlns:a="http://schemas.openxmlformats.org/drawingml/2006/main">
            <a:r>
              <a:t>- Prompt: Design and justify a proportionate response plan for a complex fictional workplace issue with uncertain evidence and competing stakeholder needs.</a:t>
            </a:r>
          </a:p>
          <a:p xmlns:a="http://schemas.openxmlformats.org/drawingml/2006/main">
            <a:r>
              <a:t>- Assess urgency, potential harm, confirmed evidence and uncertainty.</a:t>
            </a:r>
          </a:p>
          <a:p xmlns:a="http://schemas.openxmlformats.org/drawingml/2006/main">
            <a:r>
              <a:t>- Identify the roles and limits of workplace policy, support, representation and authoritative guidance.</a:t>
            </a:r>
          </a:p>
          <a:p xmlns:a="http://schemas.openxmlformats.org/drawingml/2006/main">
            <a:r>
              <a:t>- Sequence documentation, communication and action while protecting confidentiality.</a:t>
            </a:r>
          </a:p>
          <a:p xmlns:a="http://schemas.openxmlformats.org/drawingml/2006/main">
            <a:r>
              <a:t>- Set review evidence and triggers for changing or escalating the response.</a:t>
            </a:r>
          </a:p>
          <a:p xmlns:a="http://schemas.openxmlformats.org/drawingml/2006/main">
            <a:r>
              <a:t>- Success criteria: Matches actions to evidence, risk and urgency.; Identifies local contacts and procedures for teacher or workplace confirmation rather than inventing them.; Explains how privacy, fairness and effectiveness will be reviewed.</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 The current Year 12 assessment schedule is Teacher to confirm.</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7 -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c919427cf464fe0"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232ed36906914b17" Type="http://schemas.openxmlformats.org/officeDocument/2006/relationships/slideLayout" Target="../slideLayouts/slideLayout1.xml"/><Relationship Id="R3ec3574d094043ba"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2ed36906914b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7bf85321b02041a1" Type="http://schemas.openxmlformats.org/officeDocument/2006/relationships/slideLayout" Target="../slideLayouts/slideLayout1.xml"/><Relationship Id="Rb034f087b1d8425a" Type="http://schemas.openxmlformats.org/officeDocument/2006/relationships/image" Target="../media/image.bin"/><Relationship Id="Rf1477c9cd0f5491a"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89c4444e3cc4da1" Type="http://schemas.openxmlformats.org/officeDocument/2006/relationships/slideLayout" Target="../slideLayouts/slideLayout1.xml"/><Relationship Id="Rf93a628005a2456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35df96a06f543e6" Type="http://schemas.openxmlformats.org/officeDocument/2006/relationships/notesSlide" Target="../notesSlides/notesSlide3.xml"/><Relationship Id="R4e5688b102d94284" Type="http://schemas.openxmlformats.org/officeDocument/2006/relationships/image" Target="../media/image2.bin"/><Relationship Id="Rc126e22df0fd418a"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8a576dc2ceac4f73" Type="http://schemas.openxmlformats.org/officeDocument/2006/relationships/notesSlide" Target="../notesSlides/notesSlide4.xml"/><Relationship Id="R9383cc2a553e44fc" Type="http://schemas.openxmlformats.org/officeDocument/2006/relationships/slideLayout" Target="../slideLayouts/slideLayout1.xml"/><Relationship Id="Rfe47d3b063034a1d" Type="http://schemas.openxmlformats.org/officeDocument/2006/relationships/image" Target="../media/image3.bin"/></Relationships>
</file>

<file path=ppt/slides/_rels/slide5.xml.rels><?xml version='1.0' encoding='UTF-8' standalone='yes'?>
<Relationships xmlns="http://schemas.openxmlformats.org/package/2006/relationships"><Relationship Id="R610ce95f8c6743b1" Type="http://schemas.openxmlformats.org/officeDocument/2006/relationships/image" Target="../media/image4.bin"/><Relationship Id="Rcf630d6d566841d2" Type="http://schemas.openxmlformats.org/officeDocument/2006/relationships/notesSlide" Target="../notesSlides/notesSlide5.xml"/><Relationship Id="Rea6bdf4531d2435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32981b2c56bd417c" Type="http://schemas.openxmlformats.org/officeDocument/2006/relationships/notesSlide" Target="../notesSlides/notesSlide6.xml"/><Relationship Id="Ra767cfddac0844a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b80adb60c6464bf3" Type="http://schemas.openxmlformats.org/officeDocument/2006/relationships/notesSlide" Target="../notesSlides/notesSlide7.xml"/><Relationship Id="Re3b46954ca4a4b2c" Type="http://schemas.openxmlformats.org/officeDocument/2006/relationships/slideLayout" Target="../slideLayouts/slideLayout1.xml"/><Relationship Id="Rf927701b7aef4b3e" Type="http://schemas.openxmlformats.org/officeDocument/2006/relationships/image" Target="../media/image5.bin"/></Relationships>
</file>

<file path=ppt/slides/_rels/slide8.xml.rels><?xml version='1.0' encoding='UTF-8' standalone='yes'?>
<Relationships xmlns="http://schemas.openxmlformats.org/package/2006/relationships"><Relationship Id="R0636003ce6fa49ec" Type="http://schemas.openxmlformats.org/officeDocument/2006/relationships/image" Target="../media/image6.bin"/><Relationship Id="R26ff10b45d7f4c2d" Type="http://schemas.openxmlformats.org/officeDocument/2006/relationships/notesSlide" Target="../notesSlides/notesSlide8.xml"/><Relationship Id="R5cdee32d310f480f"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034f087b1d8425a"/>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87601284-D2F9-42CC-83FA-521EA1C5C71C}"/>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txBody xmlns:a="http://schemas.openxmlformats.org/drawingml/2006/main">
          <a:bodyPr/>
          <a:p/>
        </p:txBody>
      </p:sp>
      <p:sp>
        <p:nvSpPr>
          <p:cNvPr id="3" name="purpose-course-label">
            <a:extLst xmlns:a="http://schemas.openxmlformats.org/drawingml/2006/main">
              <a:ext uri="{FF2B5EF4-FFF2-40B4-BE49-F238E27FC236}">
                <a16:creationId xmlns:a16="http://schemas.microsoft.com/office/drawing/2014/main" id="{D2B562EC-C950-4E28-BFD2-FF2E1AD3BF94}"/>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12  ·  M07</a:t>
            </a:r>
          </a:p>
        </p:txBody>
      </p:sp>
      <p:sp>
        <p:nvSpPr>
          <p:cNvPr id="4" name="purpose-title">
            <a:extLst xmlns:a="http://schemas.openxmlformats.org/drawingml/2006/main">
              <a:ext uri="{FF2B5EF4-FFF2-40B4-BE49-F238E27FC236}">
                <a16:creationId xmlns:a16="http://schemas.microsoft.com/office/drawing/2014/main" id="{AF5683C6-DF7A-418E-B679-C53F5DF0EA9F}"/>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Workplace Issues</a:t>
            </a:r>
          </a:p>
        </p:txBody>
      </p:sp>
      <p:sp>
        <p:nvSpPr>
          <p:cNvPr id="5" name="purpose-summary">
            <a:extLst xmlns:a="http://schemas.openxmlformats.org/drawingml/2006/main">
              <a:ext uri="{FF2B5EF4-FFF2-40B4-BE49-F238E27FC236}">
                <a16:creationId xmlns:a16="http://schemas.microsoft.com/office/drawing/2014/main" id="{E625CC33-8EC6-4706-B7B9-D2C5EEE64434}"/>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Investigate workplace issues, weigh perspectives and choose evidence-based responses.</a:t>
            </a:r>
          </a:p>
        </p:txBody>
      </p:sp>
      <p:sp>
        <p:nvSpPr>
          <p:cNvPr id="6" name="purpose-before-label">
            <a:extLst xmlns:a="http://schemas.openxmlformats.org/drawingml/2006/main">
              <a:ext uri="{FF2B5EF4-FFF2-40B4-BE49-F238E27FC236}">
                <a16:creationId xmlns:a16="http://schemas.microsoft.com/office/drawing/2014/main" id="{4783E4F9-7F21-4599-AA25-BDFBFA4DD9CB}"/>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A05AC5CB-E6A0-4807-BD4A-8B3DEECCA30A}"/>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31B43BFB-E616-4EB6-804B-052D65D8C4EB}"/>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txBody xmlns:a="http://schemas.openxmlformats.org/drawingml/2006/main">
          <a:bodyPr/>
          <a:p/>
        </p:txBody>
      </p:sp>
      <p:sp>
        <p:nvSpPr>
          <p:cNvPr id="9" name="purpose-footer-module">
            <a:extLst xmlns:a="http://schemas.openxmlformats.org/drawingml/2006/main">
              <a:ext uri="{FF2B5EF4-FFF2-40B4-BE49-F238E27FC236}">
                <a16:creationId xmlns:a16="http://schemas.microsoft.com/office/drawing/2014/main" id="{B7FB2E90-A90B-4450-8AAD-B0D56CAA8AEC}"/>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M07  ·  Workplace Issues</a:t>
            </a:r>
          </a:p>
        </p:txBody>
      </p:sp>
      <p:sp>
        <p:nvSpPr>
          <p:cNvPr id="10" name="purpose-footer-number">
            <a:extLst xmlns:a="http://schemas.openxmlformats.org/drawingml/2006/main">
              <a:ext uri="{FF2B5EF4-FFF2-40B4-BE49-F238E27FC236}">
                <a16:creationId xmlns:a16="http://schemas.microsoft.com/office/drawing/2014/main" id="{37850467-0F57-4C23-9D45-97A92406DCE4}"/>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446546566"/>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0DE654CC-6E6E-4104-927F-7AA6C047709C}"/>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M07</a:t>
            </a:r>
          </a:p>
        </p:txBody>
      </p:sp>
      <p:sp>
        <p:nvSpPr>
          <p:cNvPr id="2" name="slide-title-2">
            <a:extLst xmlns:a="http://schemas.openxmlformats.org/drawingml/2006/main">
              <a:ext uri="{FF2B5EF4-FFF2-40B4-BE49-F238E27FC236}">
                <a16:creationId xmlns:a16="http://schemas.microsoft.com/office/drawing/2014/main" id="{4A9641CA-1533-45A5-935B-E47811963DC8}"/>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7A3C7D5D-E174-4F43-AF59-73EF16BD914B}"/>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D0A9FF76-EB4D-41D0-83D5-D5A009FA82DB}"/>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Recognising contemporary workplace issues</a:t>
            </a:r>
          </a:p>
        </p:txBody>
      </p:sp>
      <p:sp>
        <p:nvSpPr>
          <p:cNvPr id="5" name="map-intention-1">
            <a:extLst xmlns:a="http://schemas.openxmlformats.org/drawingml/2006/main">
              <a:ext uri="{FF2B5EF4-FFF2-40B4-BE49-F238E27FC236}">
                <a16:creationId xmlns:a16="http://schemas.microsoft.com/office/drawing/2014/main" id="{B512F059-BFB0-46DC-98E8-0C9086B766F5}"/>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Recognise workplace issues as contested situations shaped by work structures, relationships and wider change.</a:t>
            </a:r>
          </a:p>
        </p:txBody>
      </p:sp>
      <p:sp>
        <p:nvSpPr>
          <p:cNvPr id="6" name="map-divider-1">
            <a:extLst xmlns:a="http://schemas.openxmlformats.org/drawingml/2006/main">
              <a:ext uri="{FF2B5EF4-FFF2-40B4-BE49-F238E27FC236}">
                <a16:creationId xmlns:a16="http://schemas.microsoft.com/office/drawing/2014/main" id="{A0A584D5-65C4-4E73-BE0A-820C24BC5471}"/>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txBody xmlns:a="http://schemas.openxmlformats.org/drawingml/2006/main">
          <a:bodyPr/>
          <a:p/>
        </p:txBody>
      </p:sp>
      <p:sp>
        <p:nvSpPr>
          <p:cNvPr id="7" name="map-number-2">
            <a:extLst xmlns:a="http://schemas.openxmlformats.org/drawingml/2006/main">
              <a:ext uri="{FF2B5EF4-FFF2-40B4-BE49-F238E27FC236}">
                <a16:creationId xmlns:a16="http://schemas.microsoft.com/office/drawing/2014/main" id="{A257F837-A366-48C9-918A-C05361313F31}"/>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DBFA0F7B-4778-47ED-A72D-691C827271B8}"/>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Analysing impacts, evidence and perspectives</a:t>
            </a:r>
          </a:p>
        </p:txBody>
      </p:sp>
      <p:sp>
        <p:nvSpPr>
          <p:cNvPr id="9" name="map-intention-2">
            <a:extLst xmlns:a="http://schemas.openxmlformats.org/drawingml/2006/main">
              <a:ext uri="{FF2B5EF4-FFF2-40B4-BE49-F238E27FC236}">
                <a16:creationId xmlns:a16="http://schemas.microsoft.com/office/drawing/2014/main" id="{346E62C9-EE22-4703-9A21-BFCFDD3E0EE8}"/>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Analyse a workplace issue using credible evidence, stakeholder perspectives and short- and long-term impacts.</a:t>
            </a:r>
          </a:p>
        </p:txBody>
      </p:sp>
      <p:sp>
        <p:nvSpPr>
          <p:cNvPr id="10" name="map-divider-2">
            <a:extLst xmlns:a="http://schemas.openxmlformats.org/drawingml/2006/main">
              <a:ext uri="{FF2B5EF4-FFF2-40B4-BE49-F238E27FC236}">
                <a16:creationId xmlns:a16="http://schemas.microsoft.com/office/drawing/2014/main" id="{95B010B6-E91E-4BF9-A20A-73F572E94F96}"/>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txBody xmlns:a="http://schemas.openxmlformats.org/drawingml/2006/main">
          <a:bodyPr/>
          <a:p/>
        </p:txBody>
      </p:sp>
      <p:sp>
        <p:nvSpPr>
          <p:cNvPr id="11" name="map-number-3">
            <a:extLst xmlns:a="http://schemas.openxmlformats.org/drawingml/2006/main">
              <a:ext uri="{FF2B5EF4-FFF2-40B4-BE49-F238E27FC236}">
                <a16:creationId xmlns:a16="http://schemas.microsoft.com/office/drawing/2014/main" id="{59943EFC-302B-407D-A221-BC3A2DA4392C}"/>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B9FCA263-1D98-4B75-8743-7CD33B5C681C}"/>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Responding through policy, support and action</a:t>
            </a:r>
          </a:p>
        </p:txBody>
      </p:sp>
      <p:sp>
        <p:nvSpPr>
          <p:cNvPr id="13" name="map-intention-3">
            <a:extLst xmlns:a="http://schemas.openxmlformats.org/drawingml/2006/main">
              <a:ext uri="{FF2B5EF4-FFF2-40B4-BE49-F238E27FC236}">
                <a16:creationId xmlns:a16="http://schemas.microsoft.com/office/drawing/2014/main" id="{14E67AA0-FD81-47CC-A9F5-56E0801D230E}"/>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Design proportionate responses to workplace issues using confirmed policy, support, communication and review.</a:t>
            </a:r>
          </a:p>
        </p:txBody>
      </p:sp>
      <p:sp>
        <p:nvSpPr>
          <p:cNvPr id="14" name="map-prompt-band">
            <a:extLst xmlns:a="http://schemas.openxmlformats.org/drawingml/2006/main">
              <a:ext uri="{FF2B5EF4-FFF2-40B4-BE49-F238E27FC236}">
                <a16:creationId xmlns:a16="http://schemas.microsoft.com/office/drawing/2014/main" id="{9FE08172-FA31-48FE-B366-DB784DD0CA48}"/>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txBody xmlns:a="http://schemas.openxmlformats.org/drawingml/2006/main">
          <a:bodyPr/>
          <a:p/>
        </p:txBody>
      </p:sp>
      <p:sp>
        <p:nvSpPr>
          <p:cNvPr id="15" name="map-retrieval-prompt">
            <a:extLst xmlns:a="http://schemas.openxmlformats.org/drawingml/2006/main">
              <a:ext uri="{FF2B5EF4-FFF2-40B4-BE49-F238E27FC236}">
                <a16:creationId xmlns:a16="http://schemas.microsoft.com/office/drawing/2014/main" id="{D2291A39-1AB8-44C6-867F-0EE09A0BB94B}"/>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64B08607-4899-4B56-8A80-97029BE39C1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txBody xmlns:a="http://schemas.openxmlformats.org/drawingml/2006/main">
          <a:bodyPr/>
          <a:p/>
        </p:txBody>
      </p:sp>
      <p:sp>
        <p:nvSpPr>
          <p:cNvPr id="17" name="footer-module-2">
            <a:extLst xmlns:a="http://schemas.openxmlformats.org/drawingml/2006/main">
              <a:ext uri="{FF2B5EF4-FFF2-40B4-BE49-F238E27FC236}">
                <a16:creationId xmlns:a16="http://schemas.microsoft.com/office/drawing/2014/main" id="{C6DFE97A-6A27-4CCC-AC3C-3C7929CAB876}"/>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M07  ·  Workplace Issues</a:t>
            </a:r>
          </a:p>
        </p:txBody>
      </p:sp>
      <p:sp>
        <p:nvSpPr>
          <p:cNvPr id="18" name="footer-number-2">
            <a:extLst xmlns:a="http://schemas.openxmlformats.org/drawingml/2006/main">
              <a:ext uri="{FF2B5EF4-FFF2-40B4-BE49-F238E27FC236}">
                <a16:creationId xmlns:a16="http://schemas.microsoft.com/office/drawing/2014/main" id="{6DC22BF3-1EFF-439C-AF1D-3575118F433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2096255785"/>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51F16FC8-D534-417F-B93A-24687CBE140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M07</a:t>
            </a:r>
          </a:p>
        </p:txBody>
      </p:sp>
      <p:sp>
        <p:nvSpPr>
          <p:cNvPr id="2" name="slide-title-3">
            <a:extLst xmlns:a="http://schemas.openxmlformats.org/drawingml/2006/main">
              <a:ext uri="{FF2B5EF4-FFF2-40B4-BE49-F238E27FC236}">
                <a16:creationId xmlns:a16="http://schemas.microsoft.com/office/drawing/2014/main" id="{842EB232-9629-46C9-A611-E8DA2996BAE7}"/>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Recognising contemporary workplace issues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e5688b102d94284"/>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6DFE8E7C-2C18-42CF-B59D-1D377314175A}"/>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workplace issue is a matter that affects how work is organised, experienced or regulated and that may require judgement or action. Issues operate at several levels. Language and rules change over time, so old examples are prompts for investigation rather than current legal instructions.</a:t>
            </a:r>
          </a:p>
        </p:txBody>
      </p:sp>
      <p:sp>
        <p:nvSpPr>
          <p:cNvPr id="5" name="theory-evidence-surface-1">
            <a:extLst xmlns:a="http://schemas.openxmlformats.org/drawingml/2006/main">
              <a:ext uri="{FF2B5EF4-FFF2-40B4-BE49-F238E27FC236}">
                <a16:creationId xmlns:a16="http://schemas.microsoft.com/office/drawing/2014/main" id="{331DCD13-97BB-4D70-815D-35B926CD936C}"/>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txBody xmlns:a="http://schemas.openxmlformats.org/drawingml/2006/main">
          <a:bodyPr/>
          <a:p/>
        </p:txBody>
      </p:sp>
      <p:sp>
        <p:nvSpPr>
          <p:cNvPr id="6" name="theory-evidence-label-1">
            <a:extLst xmlns:a="http://schemas.openxmlformats.org/drawingml/2006/main">
              <a:ext uri="{FF2B5EF4-FFF2-40B4-BE49-F238E27FC236}">
                <a16:creationId xmlns:a16="http://schemas.microsoft.com/office/drawing/2014/main" id="{3960F610-8E4C-473D-8BDA-5B565666FCFF}"/>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DAB251C9-64C8-4CDA-B61D-CFCFB033D729}"/>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Issue or incident sorter. Sort six fictional workplace situations by event, possible issue, affected stakeholders, evidence available and information still needed. Evidence: A de-identified issue map and 150-word classification rationale.</a:t>
            </a:r>
          </a:p>
        </p:txBody>
      </p:sp>
      <p:sp>
        <p:nvSpPr>
          <p:cNvPr id="8" name="theory-notice-1">
            <a:extLst xmlns:a="http://schemas.openxmlformats.org/drawingml/2006/main">
              <a:ext uri="{FF2B5EF4-FFF2-40B4-BE49-F238E27FC236}">
                <a16:creationId xmlns:a16="http://schemas.microsoft.com/office/drawing/2014/main" id="{AAFD757E-5516-4BE7-81EB-71C11A87ADF1}"/>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roster, work stations and workers' attention. What repeated pattern would you investigate before drawing a conclusion?</a:t>
            </a:r>
          </a:p>
        </p:txBody>
      </p:sp>
      <p:sp>
        <p:nvSpPr>
          <p:cNvPr id="9" name="theory-success-1">
            <a:extLst xmlns:a="http://schemas.openxmlformats.org/drawingml/2006/main">
              <a:ext uri="{FF2B5EF4-FFF2-40B4-BE49-F238E27FC236}">
                <a16:creationId xmlns:a16="http://schemas.microsoft.com/office/drawing/2014/main" id="{FA9BB806-3EA6-48F2-AAA3-02C427F21E67}"/>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an issue from a single untested allegation or inconvenience.</a:t>
            </a:r>
          </a:p>
        </p:txBody>
      </p:sp>
      <p:sp>
        <p:nvSpPr>
          <p:cNvPr id="10" name="footer-rule-3">
            <a:extLst xmlns:a="http://schemas.openxmlformats.org/drawingml/2006/main">
              <a:ext uri="{FF2B5EF4-FFF2-40B4-BE49-F238E27FC236}">
                <a16:creationId xmlns:a16="http://schemas.microsoft.com/office/drawing/2014/main" id="{F5129351-1753-404B-B7DC-CFF701C0E372}"/>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txBody xmlns:a="http://schemas.openxmlformats.org/drawingml/2006/main">
          <a:bodyPr/>
          <a:p/>
        </p:txBody>
      </p:sp>
      <p:sp>
        <p:nvSpPr>
          <p:cNvPr id="11" name="footer-module-3">
            <a:extLst xmlns:a="http://schemas.openxmlformats.org/drawingml/2006/main">
              <a:ext uri="{FF2B5EF4-FFF2-40B4-BE49-F238E27FC236}">
                <a16:creationId xmlns:a16="http://schemas.microsoft.com/office/drawing/2014/main" id="{C6C4EE33-DC5A-4C37-9E1E-A0342DE0948D}"/>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M07  ·  Workplace Issues</a:t>
            </a:r>
          </a:p>
        </p:txBody>
      </p:sp>
      <p:sp>
        <p:nvSpPr>
          <p:cNvPr id="12" name="footer-number-3">
            <a:extLst xmlns:a="http://schemas.openxmlformats.org/drawingml/2006/main">
              <a:ext uri="{FF2B5EF4-FFF2-40B4-BE49-F238E27FC236}">
                <a16:creationId xmlns:a16="http://schemas.microsoft.com/office/drawing/2014/main" id="{BF5ED8F3-36A0-4922-B664-953D19D74D46}"/>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770051717"/>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61DC9759-1BDA-4999-853C-8FA0C070A21C}"/>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M07</a:t>
            </a:r>
          </a:p>
        </p:txBody>
      </p:sp>
      <p:sp>
        <p:nvSpPr>
          <p:cNvPr id="2" name="slide-title-4">
            <a:extLst xmlns:a="http://schemas.openxmlformats.org/drawingml/2006/main">
              <a:ext uri="{FF2B5EF4-FFF2-40B4-BE49-F238E27FC236}">
                <a16:creationId xmlns:a16="http://schemas.microsoft.com/office/drawing/2014/main" id="{559B7F03-7B92-42B9-9FBF-317D98268C24}"/>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Analysing impacts, evidence and perspectives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47d3b063034a1d"/>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8032F6E6-7813-41F8-B53B-FBC745BF3AC5}"/>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Strong issue analysis asks both what is claimed and how the claim is supported. Stakeholders may interpret the same change differently because they have different responsibilities, information, risks and values. Impact analysis follows consequences through time and across levels.</a:t>
            </a:r>
          </a:p>
        </p:txBody>
      </p:sp>
      <p:sp>
        <p:nvSpPr>
          <p:cNvPr id="5" name="theory-evidence-surface-2">
            <a:extLst xmlns:a="http://schemas.openxmlformats.org/drawingml/2006/main">
              <a:ext uri="{FF2B5EF4-FFF2-40B4-BE49-F238E27FC236}">
                <a16:creationId xmlns:a16="http://schemas.microsoft.com/office/drawing/2014/main" id="{87E8882C-8CD0-4CFD-807D-C1CD096D9366}"/>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txBody xmlns:a="http://schemas.openxmlformats.org/drawingml/2006/main">
          <a:bodyPr/>
          <a:p/>
        </p:txBody>
      </p:sp>
      <p:sp>
        <p:nvSpPr>
          <p:cNvPr id="6" name="theory-evidence-label-2">
            <a:extLst xmlns:a="http://schemas.openxmlformats.org/drawingml/2006/main">
              <a:ext uri="{FF2B5EF4-FFF2-40B4-BE49-F238E27FC236}">
                <a16:creationId xmlns:a16="http://schemas.microsoft.com/office/drawing/2014/main" id="{60E0E383-D44F-4FBB-92C3-FCD733F2F721}"/>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79D15B3E-BFA3-473D-977F-AFAB3D147B57}"/>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Stakeholder evidence hearing. Analyse a fictional workplace change using five short source cards. Evidence: An evidence-rating matrix, impact map and 200-word finding.</a:t>
            </a:r>
          </a:p>
        </p:txBody>
      </p:sp>
      <p:sp>
        <p:nvSpPr>
          <p:cNvPr id="8" name="theory-notice-2">
            <a:extLst xmlns:a="http://schemas.openxmlformats.org/drawingml/2006/main">
              <a:ext uri="{FF2B5EF4-FFF2-40B4-BE49-F238E27FC236}">
                <a16:creationId xmlns:a16="http://schemas.microsoft.com/office/drawing/2014/main" id="{92EA630A-05CD-40EC-B55E-C74EDE081416}"/>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records, photographs, response sheet and perspective cards. What might one source reveal that another misses?</a:t>
            </a:r>
          </a:p>
        </p:txBody>
      </p:sp>
      <p:sp>
        <p:nvSpPr>
          <p:cNvPr id="9" name="theory-success-2">
            <a:extLst xmlns:a="http://schemas.openxmlformats.org/drawingml/2006/main">
              <a:ext uri="{FF2B5EF4-FFF2-40B4-BE49-F238E27FC236}">
                <a16:creationId xmlns:a16="http://schemas.microsoft.com/office/drawing/2014/main" id="{B4C0517B-D280-4CF5-84A1-FB58D4202B63}"/>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assess source authority, currency, relevance and limitations.</a:t>
            </a:r>
          </a:p>
        </p:txBody>
      </p:sp>
      <p:sp>
        <p:nvSpPr>
          <p:cNvPr id="10" name="footer-rule-4">
            <a:extLst xmlns:a="http://schemas.openxmlformats.org/drawingml/2006/main">
              <a:ext uri="{FF2B5EF4-FFF2-40B4-BE49-F238E27FC236}">
                <a16:creationId xmlns:a16="http://schemas.microsoft.com/office/drawing/2014/main" id="{8A6E6FF8-065B-4129-BA8C-048F977E5F2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txBody xmlns:a="http://schemas.openxmlformats.org/drawingml/2006/main">
          <a:bodyPr/>
          <a:p/>
        </p:txBody>
      </p:sp>
      <p:sp>
        <p:nvSpPr>
          <p:cNvPr id="11" name="footer-module-4">
            <a:extLst xmlns:a="http://schemas.openxmlformats.org/drawingml/2006/main">
              <a:ext uri="{FF2B5EF4-FFF2-40B4-BE49-F238E27FC236}">
                <a16:creationId xmlns:a16="http://schemas.microsoft.com/office/drawing/2014/main" id="{C62A9221-BACB-4053-82AF-2E893945B119}"/>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M07  ·  Workplace Issues</a:t>
            </a:r>
          </a:p>
        </p:txBody>
      </p:sp>
      <p:sp>
        <p:nvSpPr>
          <p:cNvPr id="12" name="footer-number-4">
            <a:extLst xmlns:a="http://schemas.openxmlformats.org/drawingml/2006/main">
              <a:ext uri="{FF2B5EF4-FFF2-40B4-BE49-F238E27FC236}">
                <a16:creationId xmlns:a16="http://schemas.microsoft.com/office/drawing/2014/main" id="{782747D5-4845-42C8-9EB5-5696FBAE9C42}"/>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522250260"/>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B1D56E3B-AF8B-4E23-AC5A-A1C1275AF23F}"/>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M07</a:t>
            </a:r>
          </a:p>
        </p:txBody>
      </p:sp>
      <p:sp>
        <p:nvSpPr>
          <p:cNvPr id="2" name="slide-title-5">
            <a:extLst xmlns:a="http://schemas.openxmlformats.org/drawingml/2006/main">
              <a:ext uri="{FF2B5EF4-FFF2-40B4-BE49-F238E27FC236}">
                <a16:creationId xmlns:a16="http://schemas.microsoft.com/office/drawing/2014/main" id="{955B9685-27C8-45AF-91BF-8C60F71DC8D3}"/>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Responding through policy, support and action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10ce95f8c6743b1"/>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155D43C9-9EB7-4C5E-B36C-DFD7D7A596A6}"/>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response should match the seriousness and urgency of the issue. Different sources of support have different roles. A defensible action plan records observable facts, dates and relevant communications; states the desired outcome; selects a confirmed channel; and sets a reasonable review point.</a:t>
            </a:r>
          </a:p>
        </p:txBody>
      </p:sp>
      <p:sp>
        <p:nvSpPr>
          <p:cNvPr id="5" name="theory-evidence-surface-3">
            <a:extLst xmlns:a="http://schemas.openxmlformats.org/drawingml/2006/main">
              <a:ext uri="{FF2B5EF4-FFF2-40B4-BE49-F238E27FC236}">
                <a16:creationId xmlns:a16="http://schemas.microsoft.com/office/drawing/2014/main" id="{D3C4B562-5AFE-4EBE-AFFE-8126FF40A5D0}"/>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txBody xmlns:a="http://schemas.openxmlformats.org/drawingml/2006/main">
          <a:bodyPr/>
          <a:p/>
        </p:txBody>
      </p:sp>
      <p:sp>
        <p:nvSpPr>
          <p:cNvPr id="6" name="theory-evidence-label-3">
            <a:extLst xmlns:a="http://schemas.openxmlformats.org/drawingml/2006/main">
              <a:ext uri="{FF2B5EF4-FFF2-40B4-BE49-F238E27FC236}">
                <a16:creationId xmlns:a16="http://schemas.microsoft.com/office/drawing/2014/main" id="{731B60ED-3F4B-4B57-A197-2B464C3E48A7}"/>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BB1D3B88-8DD2-456D-A218-4B54070AC715}"/>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Response pathway designer. For a fictional workplace issue, create three possible responses at different levels. Evidence: A response pathway, factual case note and 180-word justification.</a:t>
            </a:r>
          </a:p>
        </p:txBody>
      </p:sp>
      <p:sp>
        <p:nvSpPr>
          <p:cNvPr id="8" name="theory-notice-3">
            <a:extLst xmlns:a="http://schemas.openxmlformats.org/drawingml/2006/main">
              <a:ext uri="{FF2B5EF4-FFF2-40B4-BE49-F238E27FC236}">
                <a16:creationId xmlns:a16="http://schemas.microsoft.com/office/drawing/2014/main" id="{87070A0C-E6A9-4F8E-889C-7198B128E9FF}"/>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adjusted workstation, support card and procedure folder. Which part addresses the system, and which supports the people?</a:t>
            </a:r>
          </a:p>
        </p:txBody>
      </p:sp>
      <p:sp>
        <p:nvSpPr>
          <p:cNvPr id="9" name="theory-success-3">
            <a:extLst xmlns:a="http://schemas.openxmlformats.org/drawingml/2006/main">
              <a:ext uri="{FF2B5EF4-FFF2-40B4-BE49-F238E27FC236}">
                <a16:creationId xmlns:a16="http://schemas.microsoft.com/office/drawing/2014/main" id="{4DCD9EED-A26E-417D-9F36-D53C26051C76}"/>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match a response to urgency, evidence and level of risk.</a:t>
            </a:r>
          </a:p>
        </p:txBody>
      </p:sp>
      <p:sp>
        <p:nvSpPr>
          <p:cNvPr id="10" name="footer-rule-5">
            <a:extLst xmlns:a="http://schemas.openxmlformats.org/drawingml/2006/main">
              <a:ext uri="{FF2B5EF4-FFF2-40B4-BE49-F238E27FC236}">
                <a16:creationId xmlns:a16="http://schemas.microsoft.com/office/drawing/2014/main" id="{04F26468-669F-42AB-87D3-4264AD117AF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txBody xmlns:a="http://schemas.openxmlformats.org/drawingml/2006/main">
          <a:bodyPr/>
          <a:p/>
        </p:txBody>
      </p:sp>
      <p:sp>
        <p:nvSpPr>
          <p:cNvPr id="11" name="footer-module-5">
            <a:extLst xmlns:a="http://schemas.openxmlformats.org/drawingml/2006/main">
              <a:ext uri="{FF2B5EF4-FFF2-40B4-BE49-F238E27FC236}">
                <a16:creationId xmlns:a16="http://schemas.microsoft.com/office/drawing/2014/main" id="{F89FF4CE-2C99-4704-8B88-3432F351B861}"/>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M07  ·  Workplace Issues</a:t>
            </a:r>
          </a:p>
        </p:txBody>
      </p:sp>
      <p:sp>
        <p:nvSpPr>
          <p:cNvPr id="12" name="footer-number-5">
            <a:extLst xmlns:a="http://schemas.openxmlformats.org/drawingml/2006/main">
              <a:ext uri="{FF2B5EF4-FFF2-40B4-BE49-F238E27FC236}">
                <a16:creationId xmlns:a16="http://schemas.microsoft.com/office/drawing/2014/main" id="{8CE60BB9-A010-4A99-AF35-F1363E95711E}"/>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255450355"/>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78125879-7647-4D33-ABD3-7336C79133DC}"/>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M07</a:t>
            </a:r>
          </a:p>
        </p:txBody>
      </p:sp>
      <p:sp>
        <p:nvSpPr>
          <p:cNvPr id="2" name="slide-title-6">
            <a:extLst xmlns:a="http://schemas.openxmlformats.org/drawingml/2006/main">
              <a:ext uri="{FF2B5EF4-FFF2-40B4-BE49-F238E27FC236}">
                <a16:creationId xmlns:a16="http://schemas.microsoft.com/office/drawing/2014/main" id="{15DC6142-0F3D-47F5-9285-7ABDC8F7F015}"/>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992E2B10-7571-428D-BA2F-21199067CC7C}"/>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366FB087-49AF-4318-B6E9-FD4853FD85F9}"/>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19892E8F-23AC-4533-BD09-BF1A72DB595F}"/>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turns a reported event into a workplace issue for analysis?</a:t>
            </a:r>
          </a:p>
        </p:txBody>
      </p:sp>
      <p:sp>
        <p:nvSpPr>
          <p:cNvPr id="6" name="retrieval-separator-1">
            <a:extLst xmlns:a="http://schemas.openxmlformats.org/drawingml/2006/main">
              <a:ext uri="{FF2B5EF4-FFF2-40B4-BE49-F238E27FC236}">
                <a16:creationId xmlns:a16="http://schemas.microsoft.com/office/drawing/2014/main" id="{D5936E8D-DC93-4F0E-A17B-8956F670B578}"/>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txBody xmlns:a="http://schemas.openxmlformats.org/drawingml/2006/main">
          <a:bodyPr/>
          <a:p/>
        </p:txBody>
      </p:sp>
      <p:sp>
        <p:nvSpPr>
          <p:cNvPr id="7" name="retrieval-number-2">
            <a:extLst xmlns:a="http://schemas.openxmlformats.org/drawingml/2006/main">
              <a:ext uri="{FF2B5EF4-FFF2-40B4-BE49-F238E27FC236}">
                <a16:creationId xmlns:a16="http://schemas.microsoft.com/office/drawing/2014/main" id="{B41FB50D-9698-4B11-B69F-A483BE7FE781}"/>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894EED5A-7067-4038-9509-DACEB460FBD4}"/>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can a confirmed policy not prove by itself what happened in one incident?</a:t>
            </a:r>
          </a:p>
        </p:txBody>
      </p:sp>
      <p:sp>
        <p:nvSpPr>
          <p:cNvPr id="9" name="retrieval-separator-2">
            <a:extLst xmlns:a="http://schemas.openxmlformats.org/drawingml/2006/main">
              <a:ext uri="{FF2B5EF4-FFF2-40B4-BE49-F238E27FC236}">
                <a16:creationId xmlns:a16="http://schemas.microsoft.com/office/drawing/2014/main" id="{7A685112-B0FE-464A-8494-A1EC3E1D2A37}"/>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txBody xmlns:a="http://schemas.openxmlformats.org/drawingml/2006/main">
          <a:bodyPr/>
          <a:p/>
        </p:txBody>
      </p:sp>
      <p:sp>
        <p:nvSpPr>
          <p:cNvPr id="10" name="retrieval-number-3">
            <a:extLst xmlns:a="http://schemas.openxmlformats.org/drawingml/2006/main">
              <a:ext uri="{FF2B5EF4-FFF2-40B4-BE49-F238E27FC236}">
                <a16:creationId xmlns:a16="http://schemas.microsoft.com/office/drawing/2014/main" id="{59252817-8F08-4C6D-BAE9-86BEFC8D23FE}"/>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C5AB68B8-5563-4007-9F31-BE1CC6504B9A}"/>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should determine the starting response to a workplace issue?</a:t>
            </a:r>
          </a:p>
        </p:txBody>
      </p:sp>
      <p:sp>
        <p:nvSpPr>
          <p:cNvPr id="12" name="retrieval-cycle">
            <a:extLst xmlns:a="http://schemas.openxmlformats.org/drawingml/2006/main">
              <a:ext uri="{FF2B5EF4-FFF2-40B4-BE49-F238E27FC236}">
                <a16:creationId xmlns:a16="http://schemas.microsoft.com/office/drawing/2014/main" id="{1AA97494-4E39-4F82-8A7C-87F47659FDED}"/>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txBody xmlns:a="http://schemas.openxmlformats.org/drawingml/2006/main">
          <a:bodyPr/>
          <a:p/>
        </p:txBody>
      </p:sp>
      <p:sp>
        <p:nvSpPr>
          <p:cNvPr id="13" name="retrieval-cycle-title">
            <a:extLst xmlns:a="http://schemas.openxmlformats.org/drawingml/2006/main">
              <a:ext uri="{FF2B5EF4-FFF2-40B4-BE49-F238E27FC236}">
                <a16:creationId xmlns:a16="http://schemas.microsoft.com/office/drawing/2014/main" id="{2973FB10-14AA-4E37-A4D6-1A353B888123}"/>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8DEE0492-79C1-430A-99F5-8769E30703EB}"/>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ABE5C249-6CA7-48D9-8069-246425B2A978}"/>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txBody xmlns:a="http://schemas.openxmlformats.org/drawingml/2006/main">
          <a:bodyPr/>
          <a:p/>
        </p:txBody>
      </p:sp>
      <p:sp>
        <p:nvSpPr>
          <p:cNvPr id="16" name="footer-module-6">
            <a:extLst xmlns:a="http://schemas.openxmlformats.org/drawingml/2006/main">
              <a:ext uri="{FF2B5EF4-FFF2-40B4-BE49-F238E27FC236}">
                <a16:creationId xmlns:a16="http://schemas.microsoft.com/office/drawing/2014/main" id="{8E0EF441-7171-40D3-8631-C398212C2972}"/>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M07  ·  Workplace Issues</a:t>
            </a:r>
          </a:p>
        </p:txBody>
      </p:sp>
      <p:sp>
        <p:nvSpPr>
          <p:cNvPr id="17" name="footer-number-6">
            <a:extLst xmlns:a="http://schemas.openxmlformats.org/drawingml/2006/main">
              <a:ext uri="{FF2B5EF4-FFF2-40B4-BE49-F238E27FC236}">
                <a16:creationId xmlns:a16="http://schemas.microsoft.com/office/drawing/2014/main" id="{6E3DA886-BC9F-448C-A86D-9E007936EE74}"/>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622150505"/>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8FC192BD-1D8A-4A6F-8966-72910871DD71}"/>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M07</a:t>
            </a:r>
          </a:p>
        </p:txBody>
      </p:sp>
      <p:sp>
        <p:nvSpPr>
          <p:cNvPr id="2" name="slide-title-7">
            <a:extLst xmlns:a="http://schemas.openxmlformats.org/drawingml/2006/main">
              <a:ext uri="{FF2B5EF4-FFF2-40B4-BE49-F238E27FC236}">
                <a16:creationId xmlns:a16="http://schemas.microsoft.com/office/drawing/2014/main" id="{CB0DA16B-AD26-4BB5-8ADC-BB411F04FD88}"/>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927701b7aef4b3e"/>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8BE983EB-4514-43D4-853E-7C50377DA4B5}"/>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Design and justify a proportionate response plan for a complex fictional workplace issue with uncertain evidence and competing stakeholder needs.</a:t>
            </a:r>
          </a:p>
        </p:txBody>
      </p:sp>
      <p:sp>
        <p:nvSpPr>
          <p:cNvPr id="5" name="guided-step-number-1">
            <a:extLst xmlns:a="http://schemas.openxmlformats.org/drawingml/2006/main">
              <a:ext uri="{FF2B5EF4-FFF2-40B4-BE49-F238E27FC236}">
                <a16:creationId xmlns:a16="http://schemas.microsoft.com/office/drawing/2014/main" id="{D36F52AD-876A-4E30-8A92-E5EA298A3EC8}"/>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03B49679-1ED2-4AF0-8AAF-BBFFE63127AC}"/>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C69C1ABD-6812-44BC-AB15-63A2166342CD}"/>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726108F0-A232-4FC0-B6B3-9C9603AC2B88}"/>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txBody xmlns:a="http://schemas.openxmlformats.org/drawingml/2006/main">
          <a:bodyPr/>
          <a:p/>
        </p:txBody>
      </p:sp>
      <p:sp>
        <p:nvSpPr>
          <p:cNvPr id="9" name="guided-step-number-2">
            <a:extLst xmlns:a="http://schemas.openxmlformats.org/drawingml/2006/main">
              <a:ext uri="{FF2B5EF4-FFF2-40B4-BE49-F238E27FC236}">
                <a16:creationId xmlns:a16="http://schemas.microsoft.com/office/drawing/2014/main" id="{3CFCFE8A-D33D-4C02-8986-3299229D5005}"/>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F52C5B99-D9F2-4691-8C8D-1E34FCFA7A37}"/>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87FA20BD-95F5-44F1-87BC-E2197F7FEEF0}"/>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F2C0D383-4146-40D4-B51E-A74BB121C45F}"/>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txBody xmlns:a="http://schemas.openxmlformats.org/drawingml/2006/main">
          <a:bodyPr/>
          <a:p/>
        </p:txBody>
      </p:sp>
      <p:sp>
        <p:nvSpPr>
          <p:cNvPr id="13" name="guided-step-number-3">
            <a:extLst xmlns:a="http://schemas.openxmlformats.org/drawingml/2006/main">
              <a:ext uri="{FF2B5EF4-FFF2-40B4-BE49-F238E27FC236}">
                <a16:creationId xmlns:a16="http://schemas.microsoft.com/office/drawing/2014/main" id="{0AC69541-6514-43B4-901B-F9B69283D3FB}"/>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C49F70F6-4C57-4A07-BF9B-20E487ECC782}"/>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287D874E-62FB-41E9-A8B0-C814B76AFB05}"/>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AE71C314-96D7-4076-8EEF-5517898B7A2B}"/>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txBody xmlns:a="http://schemas.openxmlformats.org/drawingml/2006/main">
          <a:bodyPr/>
          <a:p/>
        </p:txBody>
      </p:sp>
      <p:sp>
        <p:nvSpPr>
          <p:cNvPr id="17" name="guided-step-number-4">
            <a:extLst xmlns:a="http://schemas.openxmlformats.org/drawingml/2006/main">
              <a:ext uri="{FF2B5EF4-FFF2-40B4-BE49-F238E27FC236}">
                <a16:creationId xmlns:a16="http://schemas.microsoft.com/office/drawing/2014/main" id="{E9065C96-9813-49CF-85E3-3E7D6872150E}"/>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EDCF162C-43F7-438B-8758-9B1F1AC918D5}"/>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67340BAD-E0E1-4D28-A1B6-AF2B37D8062F}"/>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FBBB497F-5180-466A-940E-CF5830621DB2}"/>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txBody xmlns:a="http://schemas.openxmlformats.org/drawingml/2006/main">
          <a:bodyPr/>
          <a:p/>
        </p:txBody>
      </p:sp>
      <p:sp>
        <p:nvSpPr>
          <p:cNvPr id="21" name="guided-success-label">
            <a:extLst xmlns:a="http://schemas.openxmlformats.org/drawingml/2006/main">
              <a:ext uri="{FF2B5EF4-FFF2-40B4-BE49-F238E27FC236}">
                <a16:creationId xmlns:a16="http://schemas.microsoft.com/office/drawing/2014/main" id="{66DBADD2-F49B-4704-B88A-A3059F21F2B7}"/>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60527977-36E6-465E-BF96-A043711BAE03}"/>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Matches actions to evidence, risk and urgency.</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Identifies local contacts and procedures for teacher or workplace confirmation rather than inventing them.</a:t>
            </a:r>
          </a:p>
        </p:txBody>
      </p:sp>
      <p:sp>
        <p:nvSpPr>
          <p:cNvPr id="23" name="guided-visual-notice">
            <a:extLst xmlns:a="http://schemas.openxmlformats.org/drawingml/2006/main">
              <a:ext uri="{FF2B5EF4-FFF2-40B4-BE49-F238E27FC236}">
                <a16:creationId xmlns:a16="http://schemas.microsoft.com/office/drawing/2014/main" id="{F73D2796-0301-4EBF-B0E3-CB7D89459956}"/>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F53B598A-2114-4766-955F-ECE080519E9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txBody xmlns:a="http://schemas.openxmlformats.org/drawingml/2006/main">
          <a:bodyPr/>
          <a:p/>
        </p:txBody>
      </p:sp>
      <p:sp>
        <p:nvSpPr>
          <p:cNvPr id="25" name="footer-module-7">
            <a:extLst xmlns:a="http://schemas.openxmlformats.org/drawingml/2006/main">
              <a:ext uri="{FF2B5EF4-FFF2-40B4-BE49-F238E27FC236}">
                <a16:creationId xmlns:a16="http://schemas.microsoft.com/office/drawing/2014/main" id="{78E86F12-59AD-4396-AE95-10F677FA7DB6}"/>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M07  ·  Workplace Issues</a:t>
            </a:r>
          </a:p>
        </p:txBody>
      </p:sp>
      <p:sp>
        <p:nvSpPr>
          <p:cNvPr id="26" name="footer-number-7">
            <a:extLst xmlns:a="http://schemas.openxmlformats.org/drawingml/2006/main">
              <a:ext uri="{FF2B5EF4-FFF2-40B4-BE49-F238E27FC236}">
                <a16:creationId xmlns:a16="http://schemas.microsoft.com/office/drawing/2014/main" id="{4B3F4D6F-9023-4DE0-9788-932D0735C9AF}"/>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1090022357"/>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3E66752A-9F8C-459D-819A-4665FF8492FF}"/>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M07</a:t>
            </a:r>
          </a:p>
        </p:txBody>
      </p:sp>
      <p:sp>
        <p:nvSpPr>
          <p:cNvPr id="2" name="slide-title-8">
            <a:extLst xmlns:a="http://schemas.openxmlformats.org/drawingml/2006/main">
              <a:ext uri="{FF2B5EF4-FFF2-40B4-BE49-F238E27FC236}">
                <a16:creationId xmlns:a16="http://schemas.microsoft.com/office/drawing/2014/main" id="{70E7132A-2043-48BA-9A25-2F6D014B9856}"/>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636003ce6fa49ec"/>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9FE1F670-11C8-4C4F-BD6E-ED2B22CDDE18}"/>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A6BC4FE7-9EBE-46B1-9750-09F70464C214}"/>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BA657BFF-475E-4515-BA6C-E79B9A06CBCA}"/>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DFE7A4DA-A5CB-4D5E-9A8F-DFA4554B054C}"/>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6DC57595-43E8-4452-9299-F3736730F639}"/>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181D8D94-CB67-4F3A-A8DE-78161F1C1562}"/>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4360B85D-9367-4A87-915A-2C5391FF4BFB}"/>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0D9EAB55-3BA4-49CA-8E7A-CE62E11A2B2A}"/>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0BE236C2-705F-42E7-BA8C-9B063BC76E57}"/>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responding through policy, support and action.</a:t>
            </a:r>
          </a:p>
        </p:txBody>
      </p:sp>
      <p:sp>
        <p:nvSpPr>
          <p:cNvPr id="13" name="close-boundary">
            <a:extLst xmlns:a="http://schemas.openxmlformats.org/drawingml/2006/main">
              <a:ext uri="{FF2B5EF4-FFF2-40B4-BE49-F238E27FC236}">
                <a16:creationId xmlns:a16="http://schemas.microsoft.com/office/drawing/2014/main" id="{5EEEDDB9-7F48-473F-931B-AB2B0EAA9231}"/>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txBody xmlns:a="http://schemas.openxmlformats.org/drawingml/2006/main">
          <a:bodyPr/>
          <a:p/>
        </p:txBody>
      </p:sp>
      <p:sp>
        <p:nvSpPr>
          <p:cNvPr id="14" name="close-boundary-text">
            <a:extLst xmlns:a="http://schemas.openxmlformats.org/drawingml/2006/main">
              <a:ext uri="{FF2B5EF4-FFF2-40B4-BE49-F238E27FC236}">
                <a16:creationId xmlns:a16="http://schemas.microsoft.com/office/drawing/2014/main" id="{7F530956-F355-44F2-AD49-D462C8EC4D9E}"/>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72440153-6E63-43BD-93AA-2D1E4AF2291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txBody xmlns:a="http://schemas.openxmlformats.org/drawingml/2006/main">
          <a:bodyPr/>
          <a:p/>
        </p:txBody>
      </p:sp>
      <p:sp>
        <p:nvSpPr>
          <p:cNvPr id="16" name="footer-module-8">
            <a:extLst xmlns:a="http://schemas.openxmlformats.org/drawingml/2006/main">
              <a:ext uri="{FF2B5EF4-FFF2-40B4-BE49-F238E27FC236}">
                <a16:creationId xmlns:a16="http://schemas.microsoft.com/office/drawing/2014/main" id="{07A5DD39-BAE6-4DBC-96C6-A7D4D49BB26E}"/>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M07  ·  Workplace Issues</a:t>
            </a:r>
          </a:p>
        </p:txBody>
      </p:sp>
      <p:sp>
        <p:nvSpPr>
          <p:cNvPr id="17" name="footer-number-8">
            <a:extLst xmlns:a="http://schemas.openxmlformats.org/drawingml/2006/main">
              <a:ext uri="{FF2B5EF4-FFF2-40B4-BE49-F238E27FC236}">
                <a16:creationId xmlns:a16="http://schemas.microsoft.com/office/drawing/2014/main" id="{63577657-9769-42D2-A809-7BD634483A39}"/>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0208869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2026-08-31T09:25:41.9490000Z</dcterms:created>
  <dcterms:modified xsi:type="dcterms:W3CDTF">2026-08-31T09:25:41.9490000Z</dcterms:modified>
</coreProperties>
</file>