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1ba2f032ff4773" /><Relationship Type="http://schemas.openxmlformats.org/officeDocument/2006/relationships/extended-properties" Target="/docProps/app.xml" Id="Rc4e315fd857741e6" /><Relationship Type="http://schemas.openxmlformats.org/officeDocument/2006/relationships/officeDocument" Target="/ppt/presentation.xml" Id="R22c56fd6ce184562" /></Relationships>
</file>

<file path=ppt/presentation.xml><?xml version="1.0" encoding="utf-8"?>
<p:presentation xmlns:p="http://schemas.openxmlformats.org/presentationml/2006/main">
  <p:sldMasterIdLst>
    <p:sldMasterId xmlns:r="http://schemas.openxmlformats.org/officeDocument/2006/relationships" id="2147483648" r:id="R2caa701ba5ff4516"/>
  </p:sldMasterIdLst>
  <p:notesMasterIdLst>
    <p:notesMasterId xmlns:r="http://schemas.openxmlformats.org/officeDocument/2006/relationships" r:id="Re3e4873da5e64c3d"/>
  </p:notesMasterIdLst>
  <p:sldIdLst>
    <p:sldId xmlns:r="http://schemas.openxmlformats.org/officeDocument/2006/relationships" id="256" r:id="Ra4113cd57103470c"/>
    <p:sldId xmlns:r="http://schemas.openxmlformats.org/officeDocument/2006/relationships" id="257" r:id="R621e479b41b7448a"/>
    <p:sldId xmlns:r="http://schemas.openxmlformats.org/officeDocument/2006/relationships" id="258" r:id="Rd8d2612fa9314834"/>
    <p:sldId xmlns:r="http://schemas.openxmlformats.org/officeDocument/2006/relationships" id="259" r:id="R83d2ed7d17c5474f"/>
    <p:sldId xmlns:r="http://schemas.openxmlformats.org/officeDocument/2006/relationships" id="260" r:id="R6c4c26c368304753"/>
    <p:sldId xmlns:r="http://schemas.openxmlformats.org/officeDocument/2006/relationships" id="261" r:id="Ra420792a2e9d4af2"/>
    <p:sldId xmlns:r="http://schemas.openxmlformats.org/officeDocument/2006/relationships" id="262" r:id="R3b95e223d03149cb"/>
    <p:sldId xmlns:r="http://schemas.openxmlformats.org/officeDocument/2006/relationships" id="263" r:id="R828a5cb33a994e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20aa91c9d5427e" /><Relationship Type="http://schemas.openxmlformats.org/officeDocument/2006/relationships/slideMaster" Target="/ppt/slideMasters/slideMaster1.xml" Id="R2caa701ba5ff4516" /><Relationship Type="http://schemas.openxmlformats.org/officeDocument/2006/relationships/notesMaster" Target="/ppt/notesMasters/notesMaster1.xml" Id="Re3e4873da5e64c3d" /><Relationship Type="http://schemas.openxmlformats.org/officeDocument/2006/relationships/presProps" Target="/ppt/presProps.xml" Id="Rd48ba525fd724848" /><Relationship Type="http://schemas.openxmlformats.org/officeDocument/2006/relationships/tableStyles" Target="/ppt/tableStyles.xml" Id="Rc7dba6ee96e5465f" /><Relationship Type="http://schemas.openxmlformats.org/officeDocument/2006/relationships/slide" Target="/ppt/slides/slide1.xml" Id="Ra4113cd57103470c" /><Relationship Type="http://schemas.openxmlformats.org/officeDocument/2006/relationships/slide" Target="/ppt/slides/slide2.xml" Id="R621e479b41b7448a" /><Relationship Type="http://schemas.openxmlformats.org/officeDocument/2006/relationships/slide" Target="/ppt/slides/slide3.xml" Id="Rd8d2612fa9314834" /><Relationship Type="http://schemas.openxmlformats.org/officeDocument/2006/relationships/slide" Target="/ppt/slides/slide4.xml" Id="R83d2ed7d17c5474f" /><Relationship Type="http://schemas.openxmlformats.org/officeDocument/2006/relationships/slide" Target="/ppt/slides/slide5.xml" Id="R6c4c26c368304753" /><Relationship Type="http://schemas.openxmlformats.org/officeDocument/2006/relationships/slide" Target="/ppt/slides/slide6.xml" Id="Ra420792a2e9d4af2" /><Relationship Type="http://schemas.openxmlformats.org/officeDocument/2006/relationships/slide" Target="/ppt/slides/slide7.xml" Id="R3b95e223d03149cb" /><Relationship Type="http://schemas.openxmlformats.org/officeDocument/2006/relationships/slide" Target="/ppt/slides/slide8.xml" Id="R828a5cb33a994e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a73b6efba740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d85e044aa545d2" /><Relationship Type="http://schemas.openxmlformats.org/officeDocument/2006/relationships/notesMaster" Target="/ppt/notesMasters/notesMaster1.xml" Id="Rd0dd10b95f134c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689171a18f4113" /><Relationship Type="http://schemas.openxmlformats.org/officeDocument/2006/relationships/notesMaster" Target="/ppt/notesMasters/notesMaster1.xml" Id="R6e3d59e6a17f4d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5ab5af955c437f" /><Relationship Type="http://schemas.openxmlformats.org/officeDocument/2006/relationships/notesMaster" Target="/ppt/notesMasters/notesMaster1.xml" Id="Rb30d1da62af348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f4a16a86ec4695" /><Relationship Type="http://schemas.openxmlformats.org/officeDocument/2006/relationships/notesMaster" Target="/ppt/notesMasters/notesMaster1.xml" Id="Rc7e914fbb56c4d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5a45e0344044d8" /><Relationship Type="http://schemas.openxmlformats.org/officeDocument/2006/relationships/notesMaster" Target="/ppt/notesMasters/notesMaster1.xml" Id="R4f161b2fad1740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d4a8d4237a429c" /><Relationship Type="http://schemas.openxmlformats.org/officeDocument/2006/relationships/notesMaster" Target="/ppt/notesMasters/notesMaster1.xml" Id="R47134591632f436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16dab9ea6384314" /><Relationship Type="http://schemas.openxmlformats.org/officeDocument/2006/relationships/notesMaster" Target="/ppt/notesMasters/notesMaster1.xml" Id="Rfe725606a76942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2772757b20415f" /><Relationship Type="http://schemas.openxmlformats.org/officeDocument/2006/relationships/notesMaster" Target="/ppt/notesMasters/notesMaster1.xml" Id="R76c2ba2daaed48a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Personal Finance.</a:t>
            </a:r>
          </a:p>
          <a:p xmlns:a="http://schemas.openxmlformats.org/drawingml/2006/main">
            <a:r>
              <a:t/>
            </a:r>
          </a:p>
          <a:p xmlns:a="http://schemas.openxmlformats.org/drawingml/2006/main">
            <a:r>
              <a:t>Talking points</a:t>
            </a:r>
          </a:p>
          <a:p xmlns:a="http://schemas.openxmlformats.org/drawingml/2006/main">
            <a:r>
              <a:t>- Understand pay, manage money and make safer long-term financial decisions.</a:t>
            </a:r>
          </a:p>
          <a:p xmlns:a="http://schemas.openxmlformats.org/drawingml/2006/main">
            <a:r>
              <a:t>- Name the three learning areas without teaching them yet: Pay, tax, superannuation and records; Budgeting, banking, credit and saving; Consumer decisions, risk and future planning.</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6 -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Fair Work Ombudsman pay-slip guidance: https://www.fairwork.gov.au/pay-and-wages/paying-wages/pay-slips</a:t>
            </a:r>
          </a:p>
          <a:p xmlns:a="http://schemas.openxmlformats.org/drawingml/2006/main">
            <a:r>
              <a:t>- Australian Taxation Office super choice guidance: https://www.ato.gov.au/forms-and-instructions/superannuation-standard-choice-form</a:t>
            </a:r>
          </a:p>
          <a:p xmlns:a="http://schemas.openxmlformats.org/drawingml/2006/main">
            <a:r>
              <a:t>- ASIC Moneysmart investing-plan guidance: https://moneysmart.gov.au/how-to-invest/develop-an-investing-plan</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Pay, tax, superannuation and records: Interpret common income records and explain how pay, tax and superannuation connect to responsible financial management.</a:t>
            </a:r>
          </a:p>
          <a:p xmlns:a="http://schemas.openxmlformats.org/drawingml/2006/main">
            <a:r>
              <a:t>- 2. Budgeting, banking, credit and saving: Construct and review a realistic cash-flow plan that distinguishes needs, wants, saving and the true cost of credit.</a:t>
            </a:r>
          </a:p>
          <a:p xmlns:a="http://schemas.openxmlformats.org/drawingml/2006/main">
            <a:r>
              <a:t>- 3. Consumer decisions, risk and future planning: Evaluate financial choices by comparing purpose, evidence, risk, time horizon and consumer protections.</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Pay, tax, superannuation and records.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6 -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Fair Work Ombudsman pay-slip guidance: https://www.fairwork.gov.au/pay-and-wages/paying-wages/pay-slips</a:t>
            </a:r>
          </a:p>
          <a:p xmlns:a="http://schemas.openxmlformats.org/drawingml/2006/main">
            <a:r>
              <a:t>- Australian Taxation Office super choice guidance: https://www.ato.gov.au/forms-and-instructions/superannuation-standard-choice-form</a:t>
            </a:r>
          </a:p>
          <a:p xmlns:a="http://schemas.openxmlformats.org/drawingml/2006/main">
            <a:r>
              <a:t>- ASIC Moneysmart investing-plan guidance: https://moneysmart.gov.au/how-to-invest/develop-an-investing-plan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Interpret common income records and explain how pay, tax and superannuation connect to responsible financial management.</a:t>
            </a:r>
          </a:p>
          <a:p xmlns:a="http://schemas.openxmlformats.org/drawingml/2006/main">
            <a:r>
              <a:t/>
            </a:r>
          </a:p>
          <a:p xmlns:a="http://schemas.openxmlformats.org/drawingml/2006/main">
            <a:r>
              <a:t>Talking points</a:t>
            </a:r>
          </a:p>
          <a:p xmlns:a="http://schemas.openxmlformats.org/drawingml/2006/main">
            <a:r>
              <a:t>- A pay slip is a record of a pay period, not simply a notice that money has arrived. It commonly identifies the employer and employee, the payment date and period, gross and net amounts, and relevant rates, hours, deductions and superannuation information. Gross pay is the amount earned before deductions; net pay is the amount remaining after authorised deductions such as tax withholding. These figures answer different questions, so comparing a bank deposit only with gross pay can create a false impression that money is missing.</a:t>
            </a:r>
          </a:p>
          <a:p xmlns:a="http://schemas.openxmlformats.org/drawingml/2006/main">
            <a:r>
              <a:t>- Careful checking connects several pieces of evidence. A worker can compare the pay period with a roster or personal hours record, check ordinary and additional hours against the listed rates, identify each deduction, and compare the calculated net amount with the deposit. Year-to-date figures help track cumulative earnings and withholding. If something appears inconsistent, the sound response is to preserve the records, check the facts and use the employer's current enquiry process. The exact workplace contact and process are Teacher to confirm; a student should not invent a procedure or assume that every difference is an error.</a:t>
            </a:r>
          </a:p>
          <a:p xmlns:a="http://schemas.openxmlformats.org/drawingml/2006/main">
            <a:r>
              <a:t>- Tax and superannuation rules can change, so figures from an old workbook should not be treated as current advice. The Australian Taxation Office is the authority for current tax and superannuation information, while the Fair Work Ombudsman provides current information about pay slips and workplace records. Keeping pay slips, contracts, time records and relevant official correspondence supports later checking and informed decisions. Students can learn the structure and reasoning without disclosing their own financial information: classroom examples should use fictional or fully de-identified records.</a:t>
            </a:r>
          </a:p>
          <a:p xmlns:a="http://schemas.openxmlformats.org/drawingml/2006/main">
            <a:r>
              <a:t>- Worked example — Checking a fictional pay slip: Noah's fictional pay slip lists 18 ordinary hours at $24 per hour, gross pay of $432, a tax deduction and a lower net deposit. His personal hours record shows 20 hours, including two hours that may belong to the next pay period. Noah does not immediately label the pay slip wrong. He checks the dates covered, matches each recorded shift to that period, separates gross pay from net pay and confirms what each deduction represents. If the two hours fall within the period and remain missing after the check, he keeps copies and follows the employer's confirmed enquiry process. He uses current official information rather than trying to calculate a legal entitlement from an old example.</a:t>
            </a:r>
          </a:p>
          <a:p xmlns:a="http://schemas.openxmlformats.org/drawingml/2006/main">
            <a:r>
              <a:t>- Visual caption: Financial records become useful when related documents can be checked against each other and stored securely.</a:t>
            </a:r>
          </a:p>
          <a:p xmlns:a="http://schemas.openxmlformats.org/drawingml/2006/main">
            <a:r>
              <a:t>- Visual notice: Notice the digital records and organised file. What details would need to match before the record could be trusted?</a:t>
            </a:r>
          </a:p>
          <a:p xmlns:a="http://schemas.openxmlformats.org/drawingml/2006/main">
            <a:r>
              <a:t>- Applied evidence: Annotate a teacher-provided fictional pay slip. Match its dates, hours, rates, gross pay, deductions, net pay and super information to a fictional roster, then identify one confirmed fact, one calculation and one question requiring current official or workplace information. An annotated fictional pay slip and a short evidence-based enquiry note; no personal financial data.</a:t>
            </a:r>
          </a:p>
          <a:p xmlns:a="http://schemas.openxmlformats.org/drawingml/2006/main">
            <a:r>
              <a:t/>
            </a:r>
          </a:p>
          <a:p xmlns:a="http://schemas.openxmlformats.org/drawingml/2006/main">
            <a:r>
              <a:t>Prompt: Write the next question if one figure does not align.</a:t>
            </a:r>
          </a:p>
          <a:p xmlns:a="http://schemas.openxmlformats.org/drawingml/2006/main">
            <a:r>
              <a:t/>
            </a:r>
          </a:p>
          <a:p xmlns:a="http://schemas.openxmlformats.org/drawingml/2006/main">
            <a:r>
              <a:t>Likely misconception or nuance</a:t>
            </a:r>
          </a:p>
          <a:p xmlns:a="http://schemas.openxmlformats.org/drawingml/2006/main">
            <a:r>
              <a:t>- The net bank deposit should always equal the gross pay shown on a pay slip. Correction: Net pay is gross pay after authorised deductions; the useful check is whether the hours, rates, deductions and calculation align with confirmed records.</a:t>
            </a:r>
          </a:p>
          <a:p xmlns:a="http://schemas.openxmlformats.org/drawingml/2006/main">
            <a:r>
              <a:t/>
            </a:r>
          </a:p>
          <a:p xmlns:a="http://schemas.openxmlformats.org/drawingml/2006/main">
            <a:r>
              <a:t>Transition: Move to Budgeting, banking, credit and saving.</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6 -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Fair Work Ombudsman pay-slip guidance: https://www.fairwork.gov.au/pay-and-wages/paying-wages/pay-slips</a:t>
            </a:r>
          </a:p>
          <a:p xmlns:a="http://schemas.openxmlformats.org/drawingml/2006/main">
            <a:r>
              <a:t>- Australian Taxation Office super choice guidance: https://www.ato.gov.au/forms-and-instructions/superannuation-standard-choice-form</a:t>
            </a:r>
          </a:p>
          <a:p xmlns:a="http://schemas.openxmlformats.org/drawingml/2006/main">
            <a:r>
              <a:t>- ASIC Moneysmart investing-plan guidance: https://moneysmart.gov.au/how-to-invest/develop-an-investing-plan</a:t>
            </a:r>
          </a:p>
          <a:p xmlns:a="http://schemas.openxmlformats.org/drawingml/2006/main">
            <a:r>
              <a:t>- Visual: specialists/visuals/web-ready/m06-s01.webp | original AI-generated raster | SHA-256 d1d5dfb236188531694cbb50cfb885803e82e6ab15c3ee7c4b31c1cbb78eead1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Construct and review a realistic cash-flow plan that distinguishes needs, wants, saving and the true cost of credit.</a:t>
            </a:r>
          </a:p>
          <a:p xmlns:a="http://schemas.openxmlformats.org/drawingml/2006/main">
            <a:r>
              <a:t/>
            </a:r>
          </a:p>
          <a:p xmlns:a="http://schemas.openxmlformats.org/drawingml/2006/main">
            <a:r>
              <a:t>Talking points</a:t>
            </a:r>
          </a:p>
          <a:p xmlns:a="http://schemas.openxmlformats.org/drawingml/2006/main">
            <a:r>
              <a:t>- A budget is a forward plan for money over a defined period; cash flow is the actual timing of money coming in and going out. A person can appear to have enough income over a month yet still be unable to meet a bill if the bill falls before the income arrives. Useful planning records the amount, timing and reliability of income, then separates fixed or regular commitments from variable and irregular expenses. Needs and wants are context-dependent: transport may be essential for one person and optional for another, so labels should support reasoning rather than moral judgement.</a:t>
            </a:r>
          </a:p>
          <a:p xmlns:a="http://schemas.openxmlformats.org/drawingml/2006/main">
            <a:r>
              <a:t>- A workable budget gives every important commitment a place, includes a buffer for uncertainty and sets a specific saving purpose. It also records actual spending so that estimates can be tested. A variance is the difference between the planned and actual amount. One variance does not automatically prove failure: it may reveal an unrealistic estimate, an unusual event or a change in priority. Reviewing the cause allows a person to reduce a cost, change timing, adjust a goal or seek reliable information before the next cycle.</a:t>
            </a:r>
          </a:p>
          <a:p xmlns:a="http://schemas.openxmlformats.org/drawingml/2006/main">
            <a:r>
              <a:t>- Bank and credit products should be compared by their conditions and total effect, not by a headline alone. Relevant features may include fees, interest, repayment timing, access, security protections and consequences of missed payments. Borrowing brings future income into a present decision, so affordability must be tested across the whole repayment period and under a plausible setback. Digital security also matters: strong unique authentication, careful checking of messages and prompt use of the provider's verified contact channel reduce risk. Exact product terms must be read from current provider and official information.</a:t>
            </a:r>
          </a:p>
          <a:p xmlns:a="http://schemas.openxmlformats.org/drawingml/2006/main">
            <a:r>
              <a:t>- Worked example — Repairing a lumpy monthly budget: Aisha has reliable fortnightly income, weekly transport costs and a large annual registration expense due in three months. Her first budget shows a monthly surplus but sets aside nothing for registration. Aisha converts the annual expense into a regular sinking-fund amount and schedules it after each pay. She checks the dates of other bills, keeps a modest buffer and compares actual spending with the plan each week. When dining costs are higher than estimated, she examines why before adjusting. She does not use a high-cost credit product merely because the monthly total looked positive.</a:t>
            </a:r>
          </a:p>
          <a:p xmlns:a="http://schemas.openxmlformats.org/drawingml/2006/main">
            <a:r>
              <a:t>- Visual caption: A budget directs available money towards current needs and future goals before extra spending decisions are made.</a:t>
            </a:r>
          </a:p>
          <a:p xmlns:a="http://schemas.openxmlformats.org/drawingml/2006/main">
            <a:r>
              <a:t>- Visual notice: Notice how the tokens are divided and where the bank card sits. Which allocations protect essentials and which build towards a goal?</a:t>
            </a:r>
          </a:p>
          <a:p xmlns:a="http://schemas.openxmlformats.org/drawingml/2006/main">
            <a:r>
              <a:t>- Applied evidence: Use a fictional income and expense pack to build a three-cycle cash-flow plan. Include an irregular expense, a savings goal and a setback, then revise the plan and explain one trade-off. A privacy-safe budget table, variance note and 120-word adjustment rationale.</a:t>
            </a:r>
          </a:p>
          <a:p xmlns:a="http://schemas.openxmlformats.org/drawingml/2006/main">
            <a:r>
              <a:t/>
            </a:r>
          </a:p>
          <a:p xmlns:a="http://schemas.openxmlformats.org/drawingml/2006/main">
            <a:r>
              <a:t>Prompt: Explain which adjustment protects the goal with the least harmful trade-off.</a:t>
            </a:r>
          </a:p>
          <a:p xmlns:a="http://schemas.openxmlformats.org/drawingml/2006/main">
            <a:r>
              <a:t/>
            </a:r>
          </a:p>
          <a:p xmlns:a="http://schemas.openxmlformats.org/drawingml/2006/main">
            <a:r>
              <a:t>Likely misconception or nuance</a:t>
            </a:r>
          </a:p>
          <a:p xmlns:a="http://schemas.openxmlformats.org/drawingml/2006/main">
            <a:r>
              <a:t>- A budget has failed whenever actual spending differs from the plan. Correction: A variance is information. Reviewing its cause helps improve the next plan; failure is more likely when evidence is ignored and the plan is never adjusted.</a:t>
            </a:r>
          </a:p>
          <a:p xmlns:a="http://schemas.openxmlformats.org/drawingml/2006/main">
            <a:r>
              <a:t/>
            </a:r>
          </a:p>
          <a:p xmlns:a="http://schemas.openxmlformats.org/drawingml/2006/main">
            <a:r>
              <a:t>Transition: Move to Consumer decisions, risk and future planning.</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6 -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Fair Work Ombudsman pay-slip guidance: https://www.fairwork.gov.au/pay-and-wages/paying-wages/pay-slips</a:t>
            </a:r>
          </a:p>
          <a:p xmlns:a="http://schemas.openxmlformats.org/drawingml/2006/main">
            <a:r>
              <a:t>- Australian Taxation Office super choice guidance: https://www.ato.gov.au/forms-and-instructions/superannuation-standard-choice-form</a:t>
            </a:r>
          </a:p>
          <a:p xmlns:a="http://schemas.openxmlformats.org/drawingml/2006/main">
            <a:r>
              <a:t>- ASIC Moneysmart investing-plan guidance: https://moneysmart.gov.au/how-to-invest/develop-an-investing-plan</a:t>
            </a:r>
          </a:p>
          <a:p xmlns:a="http://schemas.openxmlformats.org/drawingml/2006/main">
            <a:r>
              <a:t>- Visual: specialists/visuals/web-ready/m06-s02.webp | original AI-generated raster | SHA-256 29f400d6a1f20a96625d0dd7053102c50c2487c6f9a9ce13d8ad0041fa418fc9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Evaluate financial choices by comparing purpose, evidence, risk, time horizon and consumer protections.</a:t>
            </a:r>
          </a:p>
          <a:p xmlns:a="http://schemas.openxmlformats.org/drawingml/2006/main">
            <a:r>
              <a:t/>
            </a:r>
          </a:p>
          <a:p xmlns:a="http://schemas.openxmlformats.org/drawingml/2006/main">
            <a:r>
              <a:t>Talking points</a:t>
            </a:r>
          </a:p>
          <a:p xmlns:a="http://schemas.openxmlformats.org/drawingml/2006/main">
            <a:r>
              <a:t>- A sound consumer decision begins with purpose: what needs to be achieved, by when, and with what resources and constraints? Only then should products be compared. Purchase price is one part of total cost; ongoing fees, maintenance, interest, replacement risk, cancellation conditions and opportunity cost may alter the judgement. Advertising is designed to persuade, so a claim should be separated into evidence that can be checked, conditions that limit it and emotional cues that do not establish value.</a:t>
            </a:r>
          </a:p>
          <a:p xmlns:a="http://schemas.openxmlformats.org/drawingml/2006/main">
            <a:r>
              <a:t>- Saving, investing and insurance manage different kinds of uncertainty. Saving usually prioritises access and lower short-term risk for near goals. Investing accepts uncertainty in pursuit of longer-term growth, with possible loss as well as gain. Time horizon, diversification, fees, liquidity and risk tolerance affect whether an option fits a goal. Insurance transfers specified risks under a contract but does not remove every loss. No classroom example can determine a student's personal choice; current product documents, official information and appropriately qualified advice may be required.</a:t>
            </a:r>
          </a:p>
          <a:p xmlns:a="http://schemas.openxmlformats.org/drawingml/2006/main">
            <a:r>
              <a:t>- Future planning also considers inflation, changing income, major life events and the value of flexibility. A robust plan tests more than the best-case outcome. It asks what happens if income falls, a cost rises, money is needed earlier or a product performs poorly. Scams and misleading offers often exploit urgency, secrecy or promised certainty. Pausing, checking the provider and claim independently, protecting personal information and using current official consumer guidance are practical forms of financial self-management.</a:t>
            </a:r>
          </a:p>
          <a:p xmlns:a="http://schemas.openxmlformats.org/drawingml/2006/main">
            <a:r>
              <a:t>- Worked example — Comparing transport choices: Luca needs reliable transport for a six-month training placement. He is comparing a used bicycle, public transport and a financed used car promoted with a low weekly repayment. Luca defines reliability, route, six-month timeframe and available cash before comparing. He includes fares or purchase price, maintenance, insurance where relevant, fees, total repayments, flexibility and the risk of losing income. The low weekly figure does not prove the car is cheapest or affordable. He tests a reduced-hours scenario and checks current terms and consumer information before making any personal commitment.</a:t>
            </a:r>
          </a:p>
          <a:p xmlns:a="http://schemas.openxmlformats.org/drawingml/2006/main">
            <a:r>
              <a:t>- Visual caption: A sound consumer decision weighs what may happen after purchase as well as what is offered today.</a:t>
            </a:r>
          </a:p>
          <a:p xmlns:a="http://schemas.openxmlformats.org/drawingml/2006/main">
            <a:r>
              <a:t>- Visual notice: Notice the repair part, protection folder and energy cue. Which factor could matter most over the product's useful life?</a:t>
            </a:r>
          </a:p>
          <a:p xmlns:a="http://schemas.openxmlformats.org/drawingml/2006/main">
            <a:r>
              <a:t>- Applied evidence: Compare three fictional options for one stated goal. Record total cost, conditions, time horizon, access, risks and one advertising claim that needs independent verification. Stress-test the preferred option against a setback. A comparison board, source-check note and 180-word conditional recommendation; no personal financial recommendation.</a:t>
            </a:r>
          </a:p>
          <a:p xmlns:a="http://schemas.openxmlformats.org/drawingml/2006/main">
            <a:r>
              <a:t/>
            </a:r>
          </a:p>
          <a:p xmlns:a="http://schemas.openxmlformats.org/drawingml/2006/main">
            <a:r>
              <a:t>Prompt: Stress-test the preferred option and name any advice boundary.</a:t>
            </a:r>
          </a:p>
          <a:p xmlns:a="http://schemas.openxmlformats.org/drawingml/2006/main">
            <a:r>
              <a:t/>
            </a:r>
          </a:p>
          <a:p xmlns:a="http://schemas.openxmlformats.org/drawingml/2006/main">
            <a:r>
              <a:t>Likely misconception or nuance</a:t>
            </a:r>
          </a:p>
          <a:p xmlns:a="http://schemas.openxmlformats.org/drawingml/2006/main">
            <a:r>
              <a:t>- A higher possible return means an option is automatically better. Correction: Possible return must be considered with risk, fees, liquidity, time horizon and the person's goal; higher return is not guaranteed and may involve greater potential loss.</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6 -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Fair Work Ombudsman pay-slip guidance: https://www.fairwork.gov.au/pay-and-wages/paying-wages/pay-slips</a:t>
            </a:r>
          </a:p>
          <a:p xmlns:a="http://schemas.openxmlformats.org/drawingml/2006/main">
            <a:r>
              <a:t>- Australian Taxation Office super choice guidance: https://www.ato.gov.au/forms-and-instructions/superannuation-standard-choice-form</a:t>
            </a:r>
          </a:p>
          <a:p xmlns:a="http://schemas.openxmlformats.org/drawingml/2006/main">
            <a:r>
              <a:t>- ASIC Moneysmart investing-plan guidance: https://moneysmart.gov.au/how-to-invest/develop-an-investing-plan</a:t>
            </a:r>
          </a:p>
          <a:p xmlns:a="http://schemas.openxmlformats.org/drawingml/2006/main">
            <a:r>
              <a:t>- Visual: specialists/visuals/web-ready/m06-s03.webp | original AI-generated raster | SHA-256 9588b100ff0f4b8278b0c0af0330769474d427dba47ea9d33ef2ceaa3dff1343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Some worked hours may belong to a different reporting period. Rationale: Dates establish which shifts should appear in the calculation.</a:t>
            </a:r>
          </a:p>
          <a:p xmlns:a="http://schemas.openxmlformats.org/drawingml/2006/main">
            <a:r>
              <a:t>- Check 2: The bill may be due before the income needed to cover it arrives. Rationale: Cash-flow timing matters as well as total income and expenses.</a:t>
            </a:r>
          </a:p>
          <a:p xmlns:a="http://schemas.openxmlformats.org/drawingml/2006/main">
            <a:r>
              <a:t>- Check 3: Define the goal, timeframe, resources and constraints. Rationale: A product can only be judged against the purpose it is meant to serve.</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6 -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Fair Work Ombudsman pay-slip guidance: https://www.fairwork.gov.au/pay-and-wages/paying-wages/pay-slips</a:t>
            </a:r>
          </a:p>
          <a:p xmlns:a="http://schemas.openxmlformats.org/drawingml/2006/main">
            <a:r>
              <a:t>- Australian Taxation Office super choice guidance: https://www.ato.gov.au/forms-and-instructions/superannuation-standard-choice-form</a:t>
            </a:r>
          </a:p>
          <a:p xmlns:a="http://schemas.openxmlformats.org/drawingml/2006/main">
            <a:r>
              <a:t>- ASIC Moneysmart investing-plan guidance: https://moneysmart.gov.au/how-to-invest/develop-an-investing-plan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Consumer decisions, risk and future planning.</a:t>
            </a:r>
          </a:p>
          <a:p xmlns:a="http://schemas.openxmlformats.org/drawingml/2006/main">
            <a:r>
              <a:t/>
            </a:r>
          </a:p>
          <a:p xmlns:a="http://schemas.openxmlformats.org/drawingml/2006/main">
            <a:r>
              <a:t>Talking points</a:t>
            </a:r>
          </a:p>
          <a:p xmlns:a="http://schemas.openxmlformats.org/drawingml/2006/main">
            <a:r>
              <a:t>- Prompt: Evaluate three fictional financial options for a defined life-planning goal and make a conditional, evidence-based recommendation.</a:t>
            </a:r>
          </a:p>
          <a:p xmlns:a="http://schemas.openxmlformats.org/drawingml/2006/main">
            <a:r>
              <a:t>- Define the goal, timeframe, available resources and constraints.</a:t>
            </a:r>
          </a:p>
          <a:p xmlns:a="http://schemas.openxmlformats.org/drawingml/2006/main">
            <a:r>
              <a:t>- Compare total cost, liquidity, risk, fees and conditions for each option.</a:t>
            </a:r>
          </a:p>
          <a:p xmlns:a="http://schemas.openxmlformats.org/drawingml/2006/main">
            <a:r>
              <a:t>- Test each option against one realistic setback and identify claims requiring verification.</a:t>
            </a:r>
          </a:p>
          <a:p xmlns:a="http://schemas.openxmlformats.org/drawingml/2006/main">
            <a:r>
              <a:t>- Recommend an option conditionally and state where current official information or qualified advice is required.</a:t>
            </a:r>
          </a:p>
          <a:p xmlns:a="http://schemas.openxmlformats.org/drawingml/2006/main">
            <a:r>
              <a:t>- Success criteria: Uses multiple decision criteria rather than one headline figure.; Explains uncertainty and risk without promising an outcome.; Keeps the response educational and avoids personal financial advice.</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6 -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Fair Work Ombudsman pay-slip guidance: https://www.fairwork.gov.au/pay-and-wages/paying-wages/pay-slips</a:t>
            </a:r>
          </a:p>
          <a:p xmlns:a="http://schemas.openxmlformats.org/drawingml/2006/main">
            <a:r>
              <a:t>- Australian Taxation Office super choice guidance: https://www.ato.gov.au/forms-and-instructions/superannuation-standard-choice-form</a:t>
            </a:r>
          </a:p>
          <a:p xmlns:a="http://schemas.openxmlformats.org/drawingml/2006/main">
            <a:r>
              <a:t>- ASIC Moneysmart investing-plan guidance: https://moneysmart.gov.au/how-to-invest/develop-an-investing-plan</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 The current Year 12 assessment schedule is Teacher to confirm.</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6 -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Fair Work Ombudsman pay-slip guidance: https://www.fairwork.gov.au/pay-and-wages/paying-wages/pay-slips</a:t>
            </a:r>
          </a:p>
          <a:p xmlns:a="http://schemas.openxmlformats.org/drawingml/2006/main">
            <a:r>
              <a:t>- Australian Taxation Office super choice guidance: https://www.ato.gov.au/forms-and-instructions/superannuation-standard-choice-form</a:t>
            </a:r>
          </a:p>
          <a:p xmlns:a="http://schemas.openxmlformats.org/drawingml/2006/main">
            <a:r>
              <a:t>- ASIC Moneysmart investing-plan guidance: https://moneysmart.gov.au/how-to-invest/develop-an-investing-plan</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2449c230d624f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dfc78edede4d71" /><Relationship Type="http://schemas.openxmlformats.org/officeDocument/2006/relationships/slideLayout" Target="/ppt/slideLayouts/slideLayout1.xml" Id="R8c6158ed2f9b45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6158ed2f9b45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a2bdcbfadd44e05" /><Relationship Type="http://schemas.openxmlformats.org/officeDocument/2006/relationships/image" Target="/ppt/media/image.bin" Id="R4782088ae8ea4a8a" /><Relationship Type="http://schemas.openxmlformats.org/officeDocument/2006/relationships/notesSlide" Target="/ppt/notesSlides/notesSlide1.xml" Id="Rcc28d4ec819a4af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07e0a641664a31" /><Relationship Type="http://schemas.openxmlformats.org/officeDocument/2006/relationships/notesSlide" Target="/ppt/notesSlides/notesSlide2.xml" Id="R9152ca52ff4048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cf94194f2124409" /><Relationship Type="http://schemas.openxmlformats.org/officeDocument/2006/relationships/image" Target="/ppt/media/image2.bin" Id="Rae92668e71ce4fd9" /><Relationship Type="http://schemas.openxmlformats.org/officeDocument/2006/relationships/notesSlide" Target="/ppt/notesSlides/notesSlide3.xml" Id="R1e2ba77b2a354e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99aafd8d6e4621" /><Relationship Type="http://schemas.openxmlformats.org/officeDocument/2006/relationships/image" Target="/ppt/media/image3.bin" Id="Re72ccd670dc847a6" /><Relationship Type="http://schemas.openxmlformats.org/officeDocument/2006/relationships/notesSlide" Target="/ppt/notesSlides/notesSlide4.xml" Id="Rae0e39bbe6cb41a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6216c44d4a4fa8" /><Relationship Type="http://schemas.openxmlformats.org/officeDocument/2006/relationships/image" Target="/ppt/media/image4.bin" Id="R977c1bfc26524936" /><Relationship Type="http://schemas.openxmlformats.org/officeDocument/2006/relationships/notesSlide" Target="/ppt/notesSlides/notesSlide5.xml" Id="R69eead17d84e4b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16cee2147464e7c" /><Relationship Type="http://schemas.openxmlformats.org/officeDocument/2006/relationships/notesSlide" Target="/ppt/notesSlides/notesSlide6.xml" Id="R3edeeb999c8b4e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11491ef645e43e9" /><Relationship Type="http://schemas.openxmlformats.org/officeDocument/2006/relationships/image" Target="/ppt/media/image5.bin" Id="R79f7d680e5904ddb" /><Relationship Type="http://schemas.openxmlformats.org/officeDocument/2006/relationships/notesSlide" Target="/ppt/notesSlides/notesSlide7.xml" Id="R261a50df82b044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50ae275401748a9" /><Relationship Type="http://schemas.openxmlformats.org/officeDocument/2006/relationships/image" Target="/ppt/media/image6.bin" Id="R5a4993c097ed4fd9" /><Relationship Type="http://schemas.openxmlformats.org/officeDocument/2006/relationships/notesSlide" Target="/ppt/notesSlides/notesSlide8.xml" Id="R949e5136332444d4"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782088ae8ea4a8a"/>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E6066FFA-E536-43EB-8094-506079A0931C}"/>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22994724-E454-4C00-93BB-510F73DA42FF}"/>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12  ·  M06</a:t>
            </a:r>
          </a:p>
        </p:txBody>
      </p:sp>
      <p:sp>
        <p:nvSpPr>
          <p:cNvPr id="4" name="purpose-title">
            <a:extLst xmlns:a="http://schemas.openxmlformats.org/drawingml/2006/main">
              <a:ext uri="{FF2B5EF4-FFF2-40B4-BE49-F238E27FC236}">
                <a16:creationId xmlns:a16="http://schemas.microsoft.com/office/drawing/2014/main" id="{8D44CE40-475E-4D7B-BCA1-7A7796097F66}"/>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Personal Finance</a:t>
            </a:r>
          </a:p>
        </p:txBody>
      </p:sp>
      <p:sp>
        <p:nvSpPr>
          <p:cNvPr id="5" name="purpose-summary">
            <a:extLst xmlns:a="http://schemas.openxmlformats.org/drawingml/2006/main">
              <a:ext uri="{FF2B5EF4-FFF2-40B4-BE49-F238E27FC236}">
                <a16:creationId xmlns:a16="http://schemas.microsoft.com/office/drawing/2014/main" id="{567E2DAE-4AED-4477-B122-C72E1FBD0763}"/>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Understand pay, manage money and make safer long-term financial decisions.</a:t>
            </a:r>
          </a:p>
        </p:txBody>
      </p:sp>
      <p:sp>
        <p:nvSpPr>
          <p:cNvPr id="6" name="purpose-before-label">
            <a:extLst xmlns:a="http://schemas.openxmlformats.org/drawingml/2006/main">
              <a:ext uri="{FF2B5EF4-FFF2-40B4-BE49-F238E27FC236}">
                <a16:creationId xmlns:a16="http://schemas.microsoft.com/office/drawing/2014/main" id="{F3256038-B661-4D76-BEDC-A898DF92FC11}"/>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F59C865A-5CC3-4A1A-A842-36F9BD94734B}"/>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74569927-7568-485E-B731-D96213B6B70A}"/>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B321B823-7661-4702-BFA0-FE35A39EA51F}"/>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M06  ·  Personal Finance</a:t>
            </a:r>
          </a:p>
        </p:txBody>
      </p:sp>
      <p:sp>
        <p:nvSpPr>
          <p:cNvPr id="10" name="purpose-footer-number">
            <a:extLst xmlns:a="http://schemas.openxmlformats.org/drawingml/2006/main">
              <a:ext uri="{FF2B5EF4-FFF2-40B4-BE49-F238E27FC236}">
                <a16:creationId xmlns:a16="http://schemas.microsoft.com/office/drawing/2014/main" id="{51A62242-2C0C-442B-88F1-FB2E24CC26FD}"/>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1387058863"/>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5372A0D2-BB67-4EB2-B683-5B1C72A691C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M06</a:t>
            </a:r>
          </a:p>
        </p:txBody>
      </p:sp>
      <p:sp>
        <p:nvSpPr>
          <p:cNvPr id="2" name="slide-title-2">
            <a:extLst xmlns:a="http://schemas.openxmlformats.org/drawingml/2006/main">
              <a:ext uri="{FF2B5EF4-FFF2-40B4-BE49-F238E27FC236}">
                <a16:creationId xmlns:a16="http://schemas.microsoft.com/office/drawing/2014/main" id="{4388AFCE-5199-4995-828F-7B38760A0DAC}"/>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E3CB3C62-7A58-4505-BFAF-97BD27D8E465}"/>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4995E26E-997C-40F1-8C49-A2630F5F2FDD}"/>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Pay, tax, superannuation and records</a:t>
            </a:r>
          </a:p>
        </p:txBody>
      </p:sp>
      <p:sp>
        <p:nvSpPr>
          <p:cNvPr id="5" name="map-intention-1">
            <a:extLst xmlns:a="http://schemas.openxmlformats.org/drawingml/2006/main">
              <a:ext uri="{FF2B5EF4-FFF2-40B4-BE49-F238E27FC236}">
                <a16:creationId xmlns:a16="http://schemas.microsoft.com/office/drawing/2014/main" id="{7B2D7C8B-890F-4161-ADDC-19BAC3FDA30A}"/>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Interpret common income records and explain how pay, tax and superannuation connect to responsible financial management.</a:t>
            </a:r>
          </a:p>
        </p:txBody>
      </p:sp>
      <p:sp>
        <p:nvSpPr>
          <p:cNvPr id="6" name="map-divider-1">
            <a:extLst xmlns:a="http://schemas.openxmlformats.org/drawingml/2006/main">
              <a:ext uri="{FF2B5EF4-FFF2-40B4-BE49-F238E27FC236}">
                <a16:creationId xmlns:a16="http://schemas.microsoft.com/office/drawing/2014/main" id="{4788A8D2-850F-4138-B358-047C7543EBB6}"/>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DBF0E3FD-DD92-4CAF-BC3D-A2E35CC9E5CB}"/>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B8D1E342-6233-400D-981D-24A7471793EF}"/>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Budgeting, banking, credit and saving</a:t>
            </a:r>
          </a:p>
        </p:txBody>
      </p:sp>
      <p:sp>
        <p:nvSpPr>
          <p:cNvPr id="9" name="map-intention-2">
            <a:extLst xmlns:a="http://schemas.openxmlformats.org/drawingml/2006/main">
              <a:ext uri="{FF2B5EF4-FFF2-40B4-BE49-F238E27FC236}">
                <a16:creationId xmlns:a16="http://schemas.microsoft.com/office/drawing/2014/main" id="{7461DF10-75F0-4ECA-812C-CCA40A36689E}"/>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Construct and review a realistic cash-flow plan that distinguishes needs, wants, saving and the true cost of credit.</a:t>
            </a:r>
          </a:p>
        </p:txBody>
      </p:sp>
      <p:sp>
        <p:nvSpPr>
          <p:cNvPr id="10" name="map-divider-2">
            <a:extLst xmlns:a="http://schemas.openxmlformats.org/drawingml/2006/main">
              <a:ext uri="{FF2B5EF4-FFF2-40B4-BE49-F238E27FC236}">
                <a16:creationId xmlns:a16="http://schemas.microsoft.com/office/drawing/2014/main" id="{C10A844B-B8C4-489A-94B8-C3933EEBDAB3}"/>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F2F23E40-5DAE-404C-AA46-312129016274}"/>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5B7B78F8-73DD-4706-B0ED-91B6DBE61B97}"/>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Consumer decisions, risk and future planning</a:t>
            </a:r>
          </a:p>
        </p:txBody>
      </p:sp>
      <p:sp>
        <p:nvSpPr>
          <p:cNvPr id="13" name="map-intention-3">
            <a:extLst xmlns:a="http://schemas.openxmlformats.org/drawingml/2006/main">
              <a:ext uri="{FF2B5EF4-FFF2-40B4-BE49-F238E27FC236}">
                <a16:creationId xmlns:a16="http://schemas.microsoft.com/office/drawing/2014/main" id="{2141AB7E-F29D-4083-851D-C551BCE43C94}"/>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Evaluate financial choices by comparing purpose, evidence, risk, time horizon and consumer protections.</a:t>
            </a:r>
          </a:p>
        </p:txBody>
      </p:sp>
      <p:sp>
        <p:nvSpPr>
          <p:cNvPr id="14" name="map-prompt-band">
            <a:extLst xmlns:a="http://schemas.openxmlformats.org/drawingml/2006/main">
              <a:ext uri="{FF2B5EF4-FFF2-40B4-BE49-F238E27FC236}">
                <a16:creationId xmlns:a16="http://schemas.microsoft.com/office/drawing/2014/main" id="{1FFE69B9-CE72-4616-88C1-C2878023D909}"/>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E6FF9EDC-8541-4E57-AF1B-716BA824CCB2}"/>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C1F399A9-EF02-4187-962F-527D5E48D415}"/>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2F3E87D7-046E-4547-9917-53930A7F218A}"/>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M06  ·  Personal Finance</a:t>
            </a:r>
          </a:p>
        </p:txBody>
      </p:sp>
      <p:sp>
        <p:nvSpPr>
          <p:cNvPr id="18" name="footer-number-2">
            <a:extLst xmlns:a="http://schemas.openxmlformats.org/drawingml/2006/main">
              <a:ext uri="{FF2B5EF4-FFF2-40B4-BE49-F238E27FC236}">
                <a16:creationId xmlns:a16="http://schemas.microsoft.com/office/drawing/2014/main" id="{E5C74D91-168B-4223-A574-9200BF932456}"/>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52713111"/>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F0252FE5-BCC7-41E5-92ED-B987156B538D}"/>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M06</a:t>
            </a:r>
          </a:p>
        </p:txBody>
      </p:sp>
      <p:sp>
        <p:nvSpPr>
          <p:cNvPr id="2" name="slide-title-3">
            <a:extLst xmlns:a="http://schemas.openxmlformats.org/drawingml/2006/main">
              <a:ext uri="{FF2B5EF4-FFF2-40B4-BE49-F238E27FC236}">
                <a16:creationId xmlns:a16="http://schemas.microsoft.com/office/drawing/2014/main" id="{F81A479F-B2EA-4E69-BC1E-514EA4A96E9E}"/>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Pay, tax, superannuation and records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e92668e71ce4fd9"/>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5041BBAF-D2E4-427D-9761-F2DE07A36475}"/>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 pay slip is a record of a pay period, not simply a notice that money has arrived. Careful checking connects several pieces of evidence. Tax and superannuation rules can change, so figures from an old workbook should not be treated as current advice.</a:t>
            </a:r>
          </a:p>
        </p:txBody>
      </p:sp>
      <p:sp>
        <p:nvSpPr>
          <p:cNvPr id="5" name="theory-evidence-surface-1">
            <a:extLst xmlns:a="http://schemas.openxmlformats.org/drawingml/2006/main">
              <a:ext uri="{FF2B5EF4-FFF2-40B4-BE49-F238E27FC236}">
                <a16:creationId xmlns:a16="http://schemas.microsoft.com/office/drawing/2014/main" id="{B7B0AEDE-0FD5-496D-A984-BB6623A1BB5C}"/>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BA87450E-2D55-42EC-BB3D-DE5BA991A5F5}"/>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801A20EE-CCEA-4E53-88EF-637B7FCC8119}"/>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Fictional pay-record audit. Annotate a teacher-provided fictional pay slip. Evidence: An annotated fictional pay slip and a short evidence-based enquiry note; no personal financial data.</a:t>
            </a:r>
          </a:p>
        </p:txBody>
      </p:sp>
      <p:sp>
        <p:nvSpPr>
          <p:cNvPr id="8" name="theory-notice-1">
            <a:extLst xmlns:a="http://schemas.openxmlformats.org/drawingml/2006/main">
              <a:ext uri="{FF2B5EF4-FFF2-40B4-BE49-F238E27FC236}">
                <a16:creationId xmlns:a16="http://schemas.microsoft.com/office/drawing/2014/main" id="{EB610A3A-9A04-49F4-8ADE-5CC0A0858DCA}"/>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digital records and organised file. What details would need to match before the record could be trusted?</a:t>
            </a:r>
          </a:p>
        </p:txBody>
      </p:sp>
      <p:sp>
        <p:nvSpPr>
          <p:cNvPr id="9" name="theory-success-1">
            <a:extLst xmlns:a="http://schemas.openxmlformats.org/drawingml/2006/main">
              <a:ext uri="{FF2B5EF4-FFF2-40B4-BE49-F238E27FC236}">
                <a16:creationId xmlns:a16="http://schemas.microsoft.com/office/drawing/2014/main" id="{706DE098-528D-428D-BAB5-32009A854188}"/>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gross pay, deductions, net pay and employer superannuation information.</a:t>
            </a:r>
          </a:p>
        </p:txBody>
      </p:sp>
      <p:sp>
        <p:nvSpPr>
          <p:cNvPr id="10" name="footer-rule-3">
            <a:extLst xmlns:a="http://schemas.openxmlformats.org/drawingml/2006/main">
              <a:ext uri="{FF2B5EF4-FFF2-40B4-BE49-F238E27FC236}">
                <a16:creationId xmlns:a16="http://schemas.microsoft.com/office/drawing/2014/main" id="{2F167C33-2631-4098-B303-029DED2231F4}"/>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473CBB50-72C9-46FB-8A0E-41A5B357C452}"/>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M06  ·  Personal Finance</a:t>
            </a:r>
          </a:p>
        </p:txBody>
      </p:sp>
      <p:sp>
        <p:nvSpPr>
          <p:cNvPr id="12" name="footer-number-3">
            <a:extLst xmlns:a="http://schemas.openxmlformats.org/drawingml/2006/main">
              <a:ext uri="{FF2B5EF4-FFF2-40B4-BE49-F238E27FC236}">
                <a16:creationId xmlns:a16="http://schemas.microsoft.com/office/drawing/2014/main" id="{C942150F-BA8B-426F-9302-7000CF781648}"/>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1043132382"/>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5A7D6FED-C3B9-49A4-86E5-0091F8518190}"/>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M06</a:t>
            </a:r>
          </a:p>
        </p:txBody>
      </p:sp>
      <p:sp>
        <p:nvSpPr>
          <p:cNvPr id="2" name="slide-title-4">
            <a:extLst xmlns:a="http://schemas.openxmlformats.org/drawingml/2006/main">
              <a:ext uri="{FF2B5EF4-FFF2-40B4-BE49-F238E27FC236}">
                <a16:creationId xmlns:a16="http://schemas.microsoft.com/office/drawing/2014/main" id="{C87634AA-9128-4C9A-8EA3-F561F18E6FFA}"/>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Budgeting, banking, credit and saving</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72ccd670dc847a6"/>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2F0D0101-E2D9-431F-AD1C-2542A8BCA13C}"/>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 budget is a forward plan for money over a defined period; cash flow is the actual timing of money coming in and going out. A workable budget gives every important commitment a place, includes a buffer for uncertainty and sets a specific saving purpose. Bank and credit products should be compared by their conditions and total effect, not by a headline alone.</a:t>
            </a:r>
          </a:p>
        </p:txBody>
      </p:sp>
      <p:sp>
        <p:nvSpPr>
          <p:cNvPr id="5" name="theory-evidence-surface-2">
            <a:extLst xmlns:a="http://schemas.openxmlformats.org/drawingml/2006/main">
              <a:ext uri="{FF2B5EF4-FFF2-40B4-BE49-F238E27FC236}">
                <a16:creationId xmlns:a16="http://schemas.microsoft.com/office/drawing/2014/main" id="{DD177467-689E-4E04-B4FE-0BA41BB77B51}"/>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A0F9CCCB-239A-4E2D-ADEB-9860F6770032}"/>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7232D477-6544-475F-997C-CF468CA81455}"/>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Three-cycle cash-flow lab. Use a fictional income and expense pack to build a three-cycle cash-flow plan. Evidence: A privacy-safe budget table, variance note and 120-word adjustment rationale.</a:t>
            </a:r>
          </a:p>
        </p:txBody>
      </p:sp>
      <p:sp>
        <p:nvSpPr>
          <p:cNvPr id="8" name="theory-notice-2">
            <a:extLst xmlns:a="http://schemas.openxmlformats.org/drawingml/2006/main">
              <a:ext uri="{FF2B5EF4-FFF2-40B4-BE49-F238E27FC236}">
                <a16:creationId xmlns:a16="http://schemas.microsoft.com/office/drawing/2014/main" id="{BAEE99E9-E4A4-40D4-AD80-9311621F1584}"/>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how the tokens are divided and where the bank card sits. Which allocations protect essentials and which build towards a goal?</a:t>
            </a:r>
          </a:p>
        </p:txBody>
      </p:sp>
      <p:sp>
        <p:nvSpPr>
          <p:cNvPr id="9" name="theory-success-2">
            <a:extLst xmlns:a="http://schemas.openxmlformats.org/drawingml/2006/main">
              <a:ext uri="{FF2B5EF4-FFF2-40B4-BE49-F238E27FC236}">
                <a16:creationId xmlns:a16="http://schemas.microsoft.com/office/drawing/2014/main" id="{271C61FB-F7A2-444B-8DDA-40858DAF6B38}"/>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classify regular and irregular income and expenses without hiding uncertainty.</a:t>
            </a:r>
          </a:p>
        </p:txBody>
      </p:sp>
      <p:sp>
        <p:nvSpPr>
          <p:cNvPr id="10" name="footer-rule-4">
            <a:extLst xmlns:a="http://schemas.openxmlformats.org/drawingml/2006/main">
              <a:ext uri="{FF2B5EF4-FFF2-40B4-BE49-F238E27FC236}">
                <a16:creationId xmlns:a16="http://schemas.microsoft.com/office/drawing/2014/main" id="{B683EF72-9BB1-449A-BEAB-4B02CD82788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3D858C8F-07C3-41BD-B413-28014D645C6F}"/>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M06  ·  Personal Finance</a:t>
            </a:r>
          </a:p>
        </p:txBody>
      </p:sp>
      <p:sp>
        <p:nvSpPr>
          <p:cNvPr id="12" name="footer-number-4">
            <a:extLst xmlns:a="http://schemas.openxmlformats.org/drawingml/2006/main">
              <a:ext uri="{FF2B5EF4-FFF2-40B4-BE49-F238E27FC236}">
                <a16:creationId xmlns:a16="http://schemas.microsoft.com/office/drawing/2014/main" id="{E45B47F2-1CFA-46AE-B204-AE73675A5DE1}"/>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760873248"/>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96683CBB-1E85-4844-9082-C60D3689637D}"/>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M06</a:t>
            </a:r>
          </a:p>
        </p:txBody>
      </p:sp>
      <p:sp>
        <p:nvSpPr>
          <p:cNvPr id="2" name="slide-title-5">
            <a:extLst xmlns:a="http://schemas.openxmlformats.org/drawingml/2006/main">
              <a:ext uri="{FF2B5EF4-FFF2-40B4-BE49-F238E27FC236}">
                <a16:creationId xmlns:a16="http://schemas.microsoft.com/office/drawing/2014/main" id="{EDEBED57-63D1-40C3-A202-0494A68DFED4}"/>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Consumer decisions, risk and future planning</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77c1bfc26524936"/>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A052BBF8-BECC-4265-BBC2-6649FC2E7786}"/>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 sound consumer decision begins with purpose: what needs to be achieved, by when, and with what resources and constraints? Saving, investing and insurance manage different kinds of uncertainty. Future planning also considers inflation, changing income, major life events and the value of flexibility.</a:t>
            </a:r>
          </a:p>
        </p:txBody>
      </p:sp>
      <p:sp>
        <p:nvSpPr>
          <p:cNvPr id="5" name="theory-evidence-surface-3">
            <a:extLst xmlns:a="http://schemas.openxmlformats.org/drawingml/2006/main">
              <a:ext uri="{FF2B5EF4-FFF2-40B4-BE49-F238E27FC236}">
                <a16:creationId xmlns:a16="http://schemas.microsoft.com/office/drawing/2014/main" id="{946F3E16-1863-42CB-8F8F-6D5162E00729}"/>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7B3AD5FC-7308-4ABB-89C6-547D06139368}"/>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E41D6D10-078E-4EBF-BD6D-B2F06D2D4F7B}"/>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Consumer claim evidence board. Compare three fictional options for one stated goal. Evidence: A comparison board, source-check note and 180-word conditional recommendation; no personal financial recommendation.</a:t>
            </a:r>
          </a:p>
        </p:txBody>
      </p:sp>
      <p:sp>
        <p:nvSpPr>
          <p:cNvPr id="8" name="theory-notice-3">
            <a:extLst xmlns:a="http://schemas.openxmlformats.org/drawingml/2006/main">
              <a:ext uri="{FF2B5EF4-FFF2-40B4-BE49-F238E27FC236}">
                <a16:creationId xmlns:a16="http://schemas.microsoft.com/office/drawing/2014/main" id="{FADF9742-AB4D-41F3-9CF8-BC94670DDB48}"/>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repair part, protection folder and energy cue. Which factor could matter most over the product's useful life?</a:t>
            </a:r>
          </a:p>
        </p:txBody>
      </p:sp>
      <p:sp>
        <p:nvSpPr>
          <p:cNvPr id="9" name="theory-success-3">
            <a:extLst xmlns:a="http://schemas.openxmlformats.org/drawingml/2006/main">
              <a:ext uri="{FF2B5EF4-FFF2-40B4-BE49-F238E27FC236}">
                <a16:creationId xmlns:a16="http://schemas.microsoft.com/office/drawing/2014/main" id="{0C3D790F-78EF-4BC2-89CF-904E6D033425}"/>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distinguish a financial goal from a product promoted as a solution.</a:t>
            </a:r>
          </a:p>
        </p:txBody>
      </p:sp>
      <p:sp>
        <p:nvSpPr>
          <p:cNvPr id="10" name="footer-rule-5">
            <a:extLst xmlns:a="http://schemas.openxmlformats.org/drawingml/2006/main">
              <a:ext uri="{FF2B5EF4-FFF2-40B4-BE49-F238E27FC236}">
                <a16:creationId xmlns:a16="http://schemas.microsoft.com/office/drawing/2014/main" id="{135F642A-9B90-4058-99F0-625945B2511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A13AA58E-D71D-4725-87D1-4C13B7977A53}"/>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M06  ·  Personal Finance</a:t>
            </a:r>
          </a:p>
        </p:txBody>
      </p:sp>
      <p:sp>
        <p:nvSpPr>
          <p:cNvPr id="12" name="footer-number-5">
            <a:extLst xmlns:a="http://schemas.openxmlformats.org/drawingml/2006/main">
              <a:ext uri="{FF2B5EF4-FFF2-40B4-BE49-F238E27FC236}">
                <a16:creationId xmlns:a16="http://schemas.microsoft.com/office/drawing/2014/main" id="{3E22F3FF-DE16-47E3-A8B4-0A2B48B64E6F}"/>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1067103577"/>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0E16012A-B7D2-4000-8418-B9F5AA0AB45C}"/>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M06</a:t>
            </a:r>
          </a:p>
        </p:txBody>
      </p:sp>
      <p:sp>
        <p:nvSpPr>
          <p:cNvPr id="2" name="slide-title-6">
            <a:extLst xmlns:a="http://schemas.openxmlformats.org/drawingml/2006/main">
              <a:ext uri="{FF2B5EF4-FFF2-40B4-BE49-F238E27FC236}">
                <a16:creationId xmlns:a16="http://schemas.microsoft.com/office/drawing/2014/main" id="{DC3F41B4-DA3F-42B4-A133-2D3BA8B529E2}"/>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C06114A6-5652-432C-AB31-379D721B9D79}"/>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62C87E5B-399E-43E7-8453-41A39B6AF9AE}"/>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2CDD767D-12CF-4278-930E-F0DF50493F74}"/>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Why should a worker check the pay period before comparing hours?</a:t>
            </a:r>
          </a:p>
        </p:txBody>
      </p:sp>
      <p:sp>
        <p:nvSpPr>
          <p:cNvPr id="6" name="retrieval-separator-1">
            <a:extLst xmlns:a="http://schemas.openxmlformats.org/drawingml/2006/main">
              <a:ext uri="{FF2B5EF4-FFF2-40B4-BE49-F238E27FC236}">
                <a16:creationId xmlns:a16="http://schemas.microsoft.com/office/drawing/2014/main" id="{AE991544-DD9E-4631-9985-165D76CA9A6D}"/>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6A51FF67-140D-4737-BC36-697DAA82BAF1}"/>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F5BC0CDF-90F8-4955-A6C9-A65B5076ACF0}"/>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Why can a monthly surplus still coincide with a missed bill?</a:t>
            </a:r>
          </a:p>
        </p:txBody>
      </p:sp>
      <p:sp>
        <p:nvSpPr>
          <p:cNvPr id="9" name="retrieval-separator-2">
            <a:extLst xmlns:a="http://schemas.openxmlformats.org/drawingml/2006/main">
              <a:ext uri="{FF2B5EF4-FFF2-40B4-BE49-F238E27FC236}">
                <a16:creationId xmlns:a16="http://schemas.microsoft.com/office/drawing/2014/main" id="{7CF95604-3563-4154-811C-7D3BA5BBAEF9}"/>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E80D6577-BD7C-4107-9902-9E9D5C47050E}"/>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965E68B1-9ACF-4DE0-AA22-107F4F537325}"/>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should come before comparing financial products?</a:t>
            </a:r>
          </a:p>
        </p:txBody>
      </p:sp>
      <p:sp>
        <p:nvSpPr>
          <p:cNvPr id="12" name="retrieval-cycle">
            <a:extLst xmlns:a="http://schemas.openxmlformats.org/drawingml/2006/main">
              <a:ext uri="{FF2B5EF4-FFF2-40B4-BE49-F238E27FC236}">
                <a16:creationId xmlns:a16="http://schemas.microsoft.com/office/drawing/2014/main" id="{82F87AC8-C9E9-4AEF-B662-BB03E97F921A}"/>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785340E2-9582-4E20-9ECA-577C782C5D78}"/>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0254090D-1639-424B-80E6-54CE7DFDE063}"/>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4B8CE7F0-523E-40F8-BC61-43BF10DA989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14836312-A866-436B-8302-F3E125B51BD2}"/>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M06  ·  Personal Finance</a:t>
            </a:r>
          </a:p>
        </p:txBody>
      </p:sp>
      <p:sp>
        <p:nvSpPr>
          <p:cNvPr id="17" name="footer-number-6">
            <a:extLst xmlns:a="http://schemas.openxmlformats.org/drawingml/2006/main">
              <a:ext uri="{FF2B5EF4-FFF2-40B4-BE49-F238E27FC236}">
                <a16:creationId xmlns:a16="http://schemas.microsoft.com/office/drawing/2014/main" id="{9BB7EF6E-E94A-4493-B63D-EFBFDDCBE44A}"/>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1849965304"/>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891B01DC-AEA3-47D9-9EA5-7F93B1BB6257}"/>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12  ·  M06</a:t>
            </a:r>
          </a:p>
        </p:txBody>
      </p:sp>
      <p:sp>
        <p:nvSpPr>
          <p:cNvPr id="2" name="slide-title-7">
            <a:extLst xmlns:a="http://schemas.openxmlformats.org/drawingml/2006/main">
              <a:ext uri="{FF2B5EF4-FFF2-40B4-BE49-F238E27FC236}">
                <a16:creationId xmlns:a16="http://schemas.microsoft.com/office/drawing/2014/main" id="{35F641F5-B4A7-4510-9D80-C60FDB5B18DB}"/>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9f7d680e5904ddb"/>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DA76C477-8105-4A71-B3D4-C8E0DF1BCF25}"/>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three fictional financial options for a defined life-planning goal and make a conditional, evidence-based recommendation.</a:t>
            </a:r>
          </a:p>
        </p:txBody>
      </p:sp>
      <p:sp>
        <p:nvSpPr>
          <p:cNvPr id="5" name="guided-step-number-1">
            <a:extLst xmlns:a="http://schemas.openxmlformats.org/drawingml/2006/main">
              <a:ext uri="{FF2B5EF4-FFF2-40B4-BE49-F238E27FC236}">
                <a16:creationId xmlns:a16="http://schemas.microsoft.com/office/drawing/2014/main" id="{4F265DFD-3B37-4AA9-A17A-F703F3D3DCCA}"/>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21D54810-B269-4B20-895E-6C4A0A619B2C}"/>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F382EBD8-D13C-4334-9402-EA1EA1F227A4}"/>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943450A5-F468-440A-90BE-A99920E89C71}"/>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5A2AF16B-D2CD-4F7E-BD13-EB4BF0A654C7}"/>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076A9FF1-7441-4AF2-A629-99A9529BFC22}"/>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6953A628-F876-4AFD-ABD9-92CC403BC285}"/>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ABA34F1F-9506-42E2-947F-838460ED29A6}"/>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C9B7AD77-62E0-4244-8B7F-2D397E320CCA}"/>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831B135D-374B-48DE-8599-DA8E5135F07E}"/>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9CDF5AD2-3E4F-4058-98D5-92C66295C014}"/>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813E0312-EB8A-4C45-955D-061AF31008E8}"/>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4C811E00-D4B3-4D4A-A689-83BC5E70F2F0}"/>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F4C03EC6-5D6B-4772-8228-3886A86DE95B}"/>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F7D73FC7-69C0-483C-B5E8-C1827A58E083}"/>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04C15654-C4FE-4B7F-9917-744BEF7D3094}"/>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669F7C4A-810C-4BF1-94F2-27EA7CA003CB}"/>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4348A6C6-1A79-42F0-B46C-46C2D87C2236}"/>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Uses multiple decision criteria rather than one headline figure.</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Explains uncertainty and risk without promising an outcome.</a:t>
            </a:r>
          </a:p>
        </p:txBody>
      </p:sp>
      <p:sp>
        <p:nvSpPr>
          <p:cNvPr id="23" name="guided-visual-notice">
            <a:extLst xmlns:a="http://schemas.openxmlformats.org/drawingml/2006/main">
              <a:ext uri="{FF2B5EF4-FFF2-40B4-BE49-F238E27FC236}">
                <a16:creationId xmlns:a16="http://schemas.microsoft.com/office/drawing/2014/main" id="{207D9A80-532A-4604-8E70-A663E103FC77}"/>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0642C55F-0B09-490D-AB07-4CBBACEC77D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3C119B93-2456-4FD8-8801-BF6827CA99C5}"/>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M06  ·  Personal Finance</a:t>
            </a:r>
          </a:p>
        </p:txBody>
      </p:sp>
      <p:sp>
        <p:nvSpPr>
          <p:cNvPr id="26" name="footer-number-7">
            <a:extLst xmlns:a="http://schemas.openxmlformats.org/drawingml/2006/main">
              <a:ext uri="{FF2B5EF4-FFF2-40B4-BE49-F238E27FC236}">
                <a16:creationId xmlns:a16="http://schemas.microsoft.com/office/drawing/2014/main" id="{9607FDAC-4D18-40C2-BB7C-CE62D68F8809}"/>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717750517"/>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A55F5769-9A2C-489A-B399-3F66A3E1C524}"/>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12  ·  M06</a:t>
            </a:r>
          </a:p>
        </p:txBody>
      </p:sp>
      <p:sp>
        <p:nvSpPr>
          <p:cNvPr id="2" name="slide-title-8">
            <a:extLst xmlns:a="http://schemas.openxmlformats.org/drawingml/2006/main">
              <a:ext uri="{FF2B5EF4-FFF2-40B4-BE49-F238E27FC236}">
                <a16:creationId xmlns:a16="http://schemas.microsoft.com/office/drawing/2014/main" id="{3F2EE118-E85E-4861-AE13-B855FF57B01A}"/>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a4993c097ed4fd9"/>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3E63DEEC-C023-43B9-8424-DEB1DBDCE9BB}"/>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32E17D25-82B2-4BDA-BC5B-0D259346B344}"/>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0B50C7D8-BDEA-4852-B817-D3F121C8B2DC}"/>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F5B96138-CB17-4001-83B1-DDB75A4D20AD}"/>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0975AB33-6403-440B-9DE1-B071BFC141BF}"/>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A79D42F1-A0D5-4F29-A0F8-17F77BF9D81D}"/>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2E5E9AE7-4866-4384-B4DA-8F24A07263BD}"/>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2650CECF-EE3F-4AF4-BFD6-0AE2A979F36F}"/>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5CCA0CC5-BF06-4C05-89A0-00896808706C}"/>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consumer decisions, risk and future planning.</a:t>
            </a:r>
          </a:p>
        </p:txBody>
      </p:sp>
      <p:sp>
        <p:nvSpPr>
          <p:cNvPr id="13" name="close-boundary">
            <a:extLst xmlns:a="http://schemas.openxmlformats.org/drawingml/2006/main">
              <a:ext uri="{FF2B5EF4-FFF2-40B4-BE49-F238E27FC236}">
                <a16:creationId xmlns:a16="http://schemas.microsoft.com/office/drawing/2014/main" id="{58141E96-57A4-4F71-A84E-B23BAAC724E8}"/>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29ABE93A-BC90-4642-AD17-B9291F5889AB}"/>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225191EA-2718-4C1C-AC3F-D710A8D3501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DF08E612-3DF0-4A07-BC9D-0B4E087D2FF4}"/>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M06  ·  Personal Finance</a:t>
            </a:r>
          </a:p>
        </p:txBody>
      </p:sp>
      <p:sp>
        <p:nvSpPr>
          <p:cNvPr id="17" name="footer-number-8">
            <a:extLst xmlns:a="http://schemas.openxmlformats.org/drawingml/2006/main">
              <a:ext uri="{FF2B5EF4-FFF2-40B4-BE49-F238E27FC236}">
                <a16:creationId xmlns:a16="http://schemas.microsoft.com/office/drawing/2014/main" id="{0D20B962-0591-4B28-9BFE-11AFA4E19E6D}"/>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10668300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2026-08-31T09:25:39.5600000Z</dcterms:created>
  <dcterms:modified xsi:type="dcterms:W3CDTF">2026-08-31T09:25:39.5600000Z</dcterms:modified>
</coreProperties>
</file>