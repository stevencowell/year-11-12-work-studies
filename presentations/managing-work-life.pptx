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ead9c113db4e46" /><Relationship Type="http://schemas.openxmlformats.org/officeDocument/2006/relationships/extended-properties" Target="/docProps/app.xml" Id="Rb9b8f8943d684ff4" /><Relationship Type="http://schemas.openxmlformats.org/officeDocument/2006/relationships/officeDocument" Target="/ppt/presentation.xml" Id="R856c2adf8444439d" /></Relationships>
</file>

<file path=ppt/presentation.xml><?xml version="1.0" encoding="utf-8"?>
<p:presentation xmlns:p="http://schemas.openxmlformats.org/presentationml/2006/main">
  <p:sldMasterIdLst>
    <p:sldMasterId xmlns:r="http://schemas.openxmlformats.org/officeDocument/2006/relationships" id="2147483648" r:id="Re6c482b2a4d743d9"/>
  </p:sldMasterIdLst>
  <p:notesMasterIdLst>
    <p:notesMasterId xmlns:r="http://schemas.openxmlformats.org/officeDocument/2006/relationships" r:id="R2bf97ff5aa464766"/>
  </p:notesMasterIdLst>
  <p:sldIdLst>
    <p:sldId xmlns:r="http://schemas.openxmlformats.org/officeDocument/2006/relationships" id="256" r:id="R83d050ec3c194f15"/>
    <p:sldId xmlns:r="http://schemas.openxmlformats.org/officeDocument/2006/relationships" id="257" r:id="R304bbe5a51644ad9"/>
    <p:sldId xmlns:r="http://schemas.openxmlformats.org/officeDocument/2006/relationships" id="258" r:id="Rb7921b2544f04bac"/>
    <p:sldId xmlns:r="http://schemas.openxmlformats.org/officeDocument/2006/relationships" id="259" r:id="Red70616d2db444b8"/>
    <p:sldId xmlns:r="http://schemas.openxmlformats.org/officeDocument/2006/relationships" id="260" r:id="Rf5e8e5b5f5c44e3d"/>
    <p:sldId xmlns:r="http://schemas.openxmlformats.org/officeDocument/2006/relationships" id="261" r:id="R44431322e32d44e0"/>
    <p:sldId xmlns:r="http://schemas.openxmlformats.org/officeDocument/2006/relationships" id="262" r:id="R4031c0a2fcc94edb"/>
    <p:sldId xmlns:r="http://schemas.openxmlformats.org/officeDocument/2006/relationships" id="263" r:id="Rb95b42f1afa241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961a25534a4fd0" /><Relationship Type="http://schemas.openxmlformats.org/officeDocument/2006/relationships/slideMaster" Target="/ppt/slideMasters/slideMaster1.xml" Id="Re6c482b2a4d743d9" /><Relationship Type="http://schemas.openxmlformats.org/officeDocument/2006/relationships/notesMaster" Target="/ppt/notesMasters/notesMaster1.xml" Id="R2bf97ff5aa464766" /><Relationship Type="http://schemas.openxmlformats.org/officeDocument/2006/relationships/presProps" Target="/ppt/presProps.xml" Id="Raab1f7ec2a7341b1" /><Relationship Type="http://schemas.openxmlformats.org/officeDocument/2006/relationships/tableStyles" Target="/ppt/tableStyles.xml" Id="R9ced403a380e419e" /><Relationship Type="http://schemas.openxmlformats.org/officeDocument/2006/relationships/slide" Target="/ppt/slides/slide1.xml" Id="R83d050ec3c194f15" /><Relationship Type="http://schemas.openxmlformats.org/officeDocument/2006/relationships/slide" Target="/ppt/slides/slide2.xml" Id="R304bbe5a51644ad9" /><Relationship Type="http://schemas.openxmlformats.org/officeDocument/2006/relationships/slide" Target="/ppt/slides/slide3.xml" Id="Rb7921b2544f04bac" /><Relationship Type="http://schemas.openxmlformats.org/officeDocument/2006/relationships/slide" Target="/ppt/slides/slide4.xml" Id="Red70616d2db444b8" /><Relationship Type="http://schemas.openxmlformats.org/officeDocument/2006/relationships/slide" Target="/ppt/slides/slide5.xml" Id="Rf5e8e5b5f5c44e3d" /><Relationship Type="http://schemas.openxmlformats.org/officeDocument/2006/relationships/slide" Target="/ppt/slides/slide6.xml" Id="R44431322e32d44e0" /><Relationship Type="http://schemas.openxmlformats.org/officeDocument/2006/relationships/slide" Target="/ppt/slides/slide7.xml" Id="R4031c0a2fcc94edb" /><Relationship Type="http://schemas.openxmlformats.org/officeDocument/2006/relationships/slide" Target="/ppt/slides/slide8.xml" Id="Rb95b42f1afa241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9aa497ccff43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7a7f15814e4fa8" /><Relationship Type="http://schemas.openxmlformats.org/officeDocument/2006/relationships/notesMaster" Target="/ppt/notesMasters/notesMaster1.xml" Id="R076b44c54b7b4b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023e7ac4a782446c" /><Relationship Type="http://schemas.openxmlformats.org/officeDocument/2006/relationships/notesMaster" Target="/ppt/notesMasters/notesMaster1.xml" Id="Re986cc49134b48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2eb8efaff54f17" /><Relationship Type="http://schemas.openxmlformats.org/officeDocument/2006/relationships/notesMaster" Target="/ppt/notesMasters/notesMaster1.xml" Id="Rada315c88cfd46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0c763f685e486b" /><Relationship Type="http://schemas.openxmlformats.org/officeDocument/2006/relationships/notesMaster" Target="/ppt/notesMasters/notesMaster1.xml" Id="R38383891b03348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a1f2d6d1a64177" /><Relationship Type="http://schemas.openxmlformats.org/officeDocument/2006/relationships/notesMaster" Target="/ppt/notesMasters/notesMaster1.xml" Id="R2be76b43fb394a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3aeb511fb84345" /><Relationship Type="http://schemas.openxmlformats.org/officeDocument/2006/relationships/notesMaster" Target="/ppt/notesMasters/notesMaster1.xml" Id="R8023defdd28c4e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579362115e4604" /><Relationship Type="http://schemas.openxmlformats.org/officeDocument/2006/relationships/notesMaster" Target="/ppt/notesMasters/notesMaster1.xml" Id="R8603e6de020141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35f8535efb415f" /><Relationship Type="http://schemas.openxmlformats.org/officeDocument/2006/relationships/notesMaster" Target="/ppt/notesMasters/notesMaster1.xml" Id="Rbdadec4b4e014f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Establish the purpose of Managing Work and Life Commitments.</a:t>
            </a:r>
          </a:p>
          <a:p xmlns:a="http://schemas.openxmlformats.org/drawingml/2006/main">
            <a:r>
              <a:t/>
            </a:r>
          </a:p>
          <a:p xmlns:a="http://schemas.openxmlformats.org/drawingml/2006/main">
            <a:r>
              <a:t>Talking points</a:t>
            </a:r>
          </a:p>
          <a:p xmlns:a="http://schemas.openxmlformats.org/drawingml/2006/main">
            <a:r>
              <a:t>- Set realistic priorities, protect wellbeing and adapt plans when life changes.</a:t>
            </a:r>
          </a:p>
          <a:p xmlns:a="http://schemas.openxmlformats.org/drawingml/2006/main">
            <a:r>
              <a:t>- Name the three learning areas without teaching them yet: Time, priorities and realistic boundaries; Wellbeing, stress and support; Adapting plans across changing life stages.</a:t>
            </a:r>
          </a:p>
          <a:p xmlns:a="http://schemas.openxmlformats.org/drawingml/2006/main">
            <a:r>
              <a:t>- This deck supports learning and formative evidence. It does not replace current teacher directions or assessment notices.</a:t>
            </a:r>
          </a:p>
          <a:p xmlns:a="http://schemas.openxmlformats.org/drawingml/2006/main">
            <a:r>
              <a:t>- Visual notice: Notice how each path leads to a different work context. What would you need to learn about yourself and the setting before choosing?</a:t>
            </a:r>
          </a:p>
          <a:p xmlns:a="http://schemas.openxmlformats.org/drawingml/2006/main">
            <a:r>
              <a:t/>
            </a:r>
          </a:p>
          <a:p xmlns:a="http://schemas.openxmlformats.org/drawingml/2006/main">
            <a:r>
              <a:t>Prompt: Ask students where the module could affect a real decision, then collect two or three examples.</a:t>
            </a:r>
          </a:p>
          <a:p xmlns:a="http://schemas.openxmlformats.org/drawingml/2006/main">
            <a:r>
              <a:t/>
            </a:r>
          </a:p>
          <a:p xmlns:a="http://schemas.openxmlformats.org/drawingml/2006/main">
            <a:r>
              <a:t>Transition: Move from the purpose to the three-part learning map.</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5 -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specialists/visuals/web-ready/course-orientation.webp | original AI-generated raster | SHA-256 60539a909cbb5bb58ab0a9b03d8b22631666fa97c9f417ed06dcdd419d8c5605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Preview the three named sections as a connected learning sequence.</a:t>
            </a:r>
          </a:p>
          <a:p xmlns:a="http://schemas.openxmlformats.org/drawingml/2006/main">
            <a:r>
              <a:t/>
            </a:r>
          </a:p>
          <a:p xmlns:a="http://schemas.openxmlformats.org/drawingml/2006/main">
            <a:r>
              <a:t>Talking points</a:t>
            </a:r>
          </a:p>
          <a:p xmlns:a="http://schemas.openxmlformats.org/drawingml/2006/main">
            <a:r>
              <a:t>- 1. Time, priorities and realistic boundaries: Plan competing work and life commitments using priorities, capacity, communication and boundaries.</a:t>
            </a:r>
          </a:p>
          <a:p xmlns:a="http://schemas.openxmlformats.org/drawingml/2006/main">
            <a:r>
              <a:t>- 2. Wellbeing, stress and support: Recognise work-related pressures and choose proportionate self-management and support strategies.</a:t>
            </a:r>
          </a:p>
          <a:p xmlns:a="http://schemas.openxmlformats.org/drawingml/2006/main">
            <a:r>
              <a:t>- 3. Adapting plans across changing life stages: Adapt work and life plans as responsibilities, resources and opportunities change across life stages.</a:t>
            </a:r>
          </a:p>
          <a:p xmlns:a="http://schemas.openxmlformats.org/drawingml/2006/main">
            <a:r>
              <a:t/>
            </a:r>
          </a:p>
          <a:p xmlns:a="http://schemas.openxmlformats.org/drawingml/2006/main">
            <a:r>
              <a:t>Prompt: Ask students to predict which section will be most useful in the next year and explain why.</a:t>
            </a:r>
          </a:p>
          <a:p xmlns:a="http://schemas.openxmlformats.org/drawingml/2006/main">
            <a:r>
              <a:t/>
            </a:r>
          </a:p>
          <a:p xmlns:a="http://schemas.openxmlformats.org/drawingml/2006/main">
            <a:r>
              <a:t>Transition: Begin with Time, priorities and realistic boundaries.</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5 -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Plan competing work and life commitments using priorities, capacity, communication and boundaries.</a:t>
            </a:r>
          </a:p>
          <a:p xmlns:a="http://schemas.openxmlformats.org/drawingml/2006/main">
            <a:r>
              <a:t/>
            </a:r>
          </a:p>
          <a:p xmlns:a="http://schemas.openxmlformats.org/drawingml/2006/main">
            <a:r>
              <a:t>Talking points</a:t>
            </a:r>
          </a:p>
          <a:p xmlns:a="http://schemas.openxmlformats.org/drawingml/2006/main">
            <a:r>
              <a:t>- Work and life commitments draw on limited time, energy, attention and money. A schedule becomes realistic only when it includes the full demand: preparation, travel, transitions, caring, study, sleep and recovery, not just the visible appointment. Prioritising means deciding which commitments are essential, time-sensitive, valuable or negotiable. It does not mean treating every request as equally urgent.</a:t>
            </a:r>
          </a:p>
          <a:p xmlns:a="http://schemas.openxmlformats.org/drawingml/2006/main">
            <a:r>
              <a:t>- Planning works at several levels. A calendar locates fixed events; a task list defines actions; time estimates and buffers recognise uncertainty; and review points expose overload early. Large tasks become more manageable when divided into a clear next action and milestone. Digital tools can help, but an overcrowded electronic calendar is still overcrowded. The purpose of a system is to support decisions, not display busyness.</a:t>
            </a:r>
          </a:p>
          <a:p xmlns:a="http://schemas.openxmlformats.org/drawingml/2006/main">
            <a:r>
              <a:t>- Boundaries explain what a person can reasonably do and when. They are strongest when communicated early, respectfully and with a workable alternative where possible. Some workplace obligations or life events cannot simply be moved, so people may need to clarify expectations, seek leave or support through the confirmed process, adjust discretionary commitments or renegotiate a deadline. The exact local leave and roster arrangements are Teacher to confirm and must be checked in current workplace information.</a:t>
            </a:r>
          </a:p>
          <a:p xmlns:a="http://schemas.openxmlformats.org/drawingml/2006/main">
            <a:r>
              <a:t>- Worked example — The hidden hours in a crowded week: Tariq accepts three evening shifts, a major school task and weekend family responsibilities. His calendar shows each event but not travel, preparation or rest. Tariq adds the hidden hours and discovers that Thursday is impossible. He identifies the fixed assessment preparation and family commitment, checks the actual shift arrangement and communicates early through the confirmed channel rather than missing work. He also removes a discretionary event and sets a Sunday review. The improved plan uses capacity evidence instead of guilt or optimism.</a:t>
            </a:r>
          </a:p>
          <a:p xmlns:a="http://schemas.openxmlformats.org/drawingml/2006/main">
            <a:r>
              <a:t>- Visual caption: A workable plan includes boundaries and recovery, not only tasks and shifts.</a:t>
            </a:r>
          </a:p>
          <a:p xmlns:a="http://schemas.openxmlformats.org/drawingml/2006/main">
            <a:r>
              <a:t>- Visual notice: Notice the unfilled spaces and the cues for home and activity. Why might leaving capacity improve the plan?</a:t>
            </a:r>
          </a:p>
          <a:p xmlns:a="http://schemas.openxmlformats.org/drawingml/2006/main">
            <a:r>
              <a:t>- Applied evidence: Rebuild a fictional overloaded week by adding hidden time, ranking commitments, protecting recovery, adding buffers and scripting one early boundary conversation. A before-and-after weekly plan plus a 100-word justification.</a:t>
            </a:r>
          </a:p>
          <a:p xmlns:a="http://schemas.openxmlformats.org/drawingml/2006/main">
            <a:r>
              <a:t/>
            </a:r>
          </a:p>
          <a:p xmlns:a="http://schemas.openxmlformats.org/drawingml/2006/main">
            <a:r>
              <a:t>Prompt: Explain one boundary that prevents likely failure.</a:t>
            </a:r>
          </a:p>
          <a:p xmlns:a="http://schemas.openxmlformats.org/drawingml/2006/main">
            <a:r>
              <a:t/>
            </a:r>
          </a:p>
          <a:p xmlns:a="http://schemas.openxmlformats.org/drawingml/2006/main">
            <a:r>
              <a:t>Likely misconception or nuance</a:t>
            </a:r>
          </a:p>
          <a:p xmlns:a="http://schemas.openxmlformats.org/drawingml/2006/main">
            <a:r>
              <a:t>- Good time management means fitting every request into the week. Correction: Good management includes declining, renegotiating or sequencing demands when total capacity is insufficient.</a:t>
            </a:r>
          </a:p>
          <a:p xmlns:a="http://schemas.openxmlformats.org/drawingml/2006/main">
            <a:r>
              <a:t/>
            </a:r>
          </a:p>
          <a:p xmlns:a="http://schemas.openxmlformats.org/drawingml/2006/main">
            <a:r>
              <a:t>Transition: Move to Wellbeing, stress and support.</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5 -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specialists/visuals/web-ready/m05-s01.webp | original AI-generated raster | SHA-256 8ce9764fc2fcbf85199ae610acce0980c8dba105b22add009cd87efff1037ba9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Recognise work-related pressures and choose proportionate self-management and support strategies.</a:t>
            </a:r>
          </a:p>
          <a:p xmlns:a="http://schemas.openxmlformats.org/drawingml/2006/main">
            <a:r>
              <a:t/>
            </a:r>
          </a:p>
          <a:p xmlns:a="http://schemas.openxmlformats.org/drawingml/2006/main">
            <a:r>
              <a:t>Talking points</a:t>
            </a:r>
          </a:p>
          <a:p xmlns:a="http://schemas.openxmlformats.org/drawingml/2006/main">
            <a:r>
              <a:t>- Work can provide income, learning, purpose, social connection and satisfaction, while also creating pressure through workload, uncertainty, conflict, changing rosters, travel or competing responsibilities. Stress is a response to demands and resources; it is not proof that a person is weak. Short pressure may be manageable, but repeated or intense strain can affect concentration, sleep, relationships, health and safe performance. Students should describe observed signs and context rather than diagnosing themselves or others from a checklist.</a:t>
            </a:r>
          </a:p>
          <a:p xmlns:a="http://schemas.openxmlformats.org/drawingml/2006/main">
            <a:r>
              <a:t>- Self-management strategies include clarifying priorities, taking lawful breaks, planning work, using recovery time, reducing avoidable commitments and seeking feedback or training. These strategies can help but should not be used to excuse unsafe systems, bullying, discrimination or unreasonable demands. A useful analysis considers both personal actions and organisational or social influences. Responsibility for wellbeing is not located solely in the individual.</a:t>
            </a:r>
          </a:p>
          <a:p xmlns:a="http://schemas.openxmlformats.org/drawingml/2006/main">
            <a:r>
              <a:t>- Support can come from trusted people, supervisors, school staff, workplace representatives, health professionals or appropriate services. The right response depends on urgency, safety, privacy and the person’s needs. Immediate danger or serious health concern requires appropriate emergency or professional support, not a classroom activity. Local workplace and school pathways are Teacher to confirm. Early help-seeking, factual records and a clear explanation of impact can make support more effective.</a:t>
            </a:r>
          </a:p>
          <a:p xmlns:a="http://schemas.openxmlformats.org/drawingml/2006/main">
            <a:r>
              <a:t>- Worked example — From silent overload to supported action: Amelia is making frequent errors after several roster changes and caring demands. She tells herself that asking for help would prove she is unreliable. Amelia records the pattern without self-diagnosis, checks immediate safety, identifies the roster/caring clash and speaks to an appropriate trusted person through the confirmed process. She asks for priorities to be clarified and seeks support for the broader strain. A short planning strategy may help, but the response also examines the work conditions rather than treating Amelia as the sole cause.</a:t>
            </a:r>
          </a:p>
          <a:p xmlns:a="http://schemas.openxmlformats.org/drawingml/2006/main">
            <a:r>
              <a:t>- Visual caption: Support often begins with a private, respectful conversation before pressure becomes harder to manage.</a:t>
            </a:r>
          </a:p>
          <a:p xmlns:a="http://schemas.openxmlformats.org/drawingml/2006/main">
            <a:r>
              <a:t>- Visual notice: Notice the setting and listening posture. What makes this conversation more supportive than a rushed exchange on the job?</a:t>
            </a:r>
          </a:p>
          <a:p xmlns:a="http://schemas.openxmlformats.org/drawingml/2006/main">
            <a:r>
              <a:t>- Applied evidence: Analyse a fictional case by mapping pressures, observable effects, protective factors, individual strategies, workplace factors and support options. Include an escalation boundary. A cause-and-support map and a 150-word proportionate response.</a:t>
            </a:r>
          </a:p>
          <a:p xmlns:a="http://schemas.openxmlformats.org/drawingml/2006/main">
            <a:r>
              <a:t/>
            </a:r>
          </a:p>
          <a:p xmlns:a="http://schemas.openxmlformats.org/drawingml/2006/main">
            <a:r>
              <a:t>Prompt: Match each proposed support to seriousness and purpose.</a:t>
            </a:r>
          </a:p>
          <a:p xmlns:a="http://schemas.openxmlformats.org/drawingml/2006/main">
            <a:r>
              <a:t/>
            </a:r>
          </a:p>
          <a:p xmlns:a="http://schemas.openxmlformats.org/drawingml/2006/main">
            <a:r>
              <a:t>Likely misconception or nuance</a:t>
            </a:r>
          </a:p>
          <a:p xmlns:a="http://schemas.openxmlformats.org/drawingml/2006/main">
            <a:r>
              <a:t>- Workplace stress is always an individual attitude problem. Correction: Stress can arise from interacting personal, work and social factors; effective responses may require both personal support and workplace change.</a:t>
            </a:r>
          </a:p>
          <a:p xmlns:a="http://schemas.openxmlformats.org/drawingml/2006/main">
            <a:r>
              <a:t/>
            </a:r>
          </a:p>
          <a:p xmlns:a="http://schemas.openxmlformats.org/drawingml/2006/main">
            <a:r>
              <a:t>Transition: Move to Adapting plans across changing life stages.</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5 -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specialists/visuals/web-ready/m05-s02.webp | original AI-generated raster | SHA-256 164907e635a293a15813d63a400de2e234f69b09435ac818d71d671895e7e0e4</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Adapt work and life plans as responsibilities, resources and opportunities change across life stages.</a:t>
            </a:r>
          </a:p>
          <a:p xmlns:a="http://schemas.openxmlformats.org/drawingml/2006/main">
            <a:r>
              <a:t/>
            </a:r>
          </a:p>
          <a:p xmlns:a="http://schemas.openxmlformats.org/drawingml/2006/main">
            <a:r>
              <a:t>Talking points</a:t>
            </a:r>
          </a:p>
          <a:p xmlns:a="http://schemas.openxmlformats.org/drawingml/2006/main">
            <a:r>
              <a:t>- People’s work choices can change as study, housing, relationships, caring, health, finances and community responsibilities change. Life stage is useful for considering possible transitions, but it does not create one timetable that everyone follows. People of the same age may have very different resources, goals and obligations. Good planning starts with the actual person and context rather than assumptions about what they should be doing.</a:t>
            </a:r>
          </a:p>
          <a:p xmlns:a="http://schemas.openxmlformats.org/drawingml/2006/main">
            <a:r>
              <a:t>- Change can be anticipated, gradual or sudden. A useful adaptation identifies what has changed, immediate obligations, available resources and decisions that can wait. Short-term strategies may stabilise income, time or care; longer-term strategies may involve training, changing hours, relocating, rebuilding networks or revising financial plans. Each option has trade-offs and should be tested for feasibility and impact on others.</a:t>
            </a:r>
          </a:p>
          <a:p xmlns:a="http://schemas.openxmlformats.org/drawingml/2006/main">
            <a:r>
              <a:t>- Review prevents a temporary solution from becoming an unsuitable default. A review point checks whether the plan meets work, financial, relationship and wellbeing goals and whether new evidence has emerged. Support networks and community or workplace services may expand options, but their current availability and eligibility must be verified. Adaptive planning means retaining purpose while changing the route when circumstances require it.</a:t>
            </a:r>
          </a:p>
          <a:p xmlns:a="http://schemas.openxmlformats.org/drawingml/2006/main">
            <a:r>
              <a:t>- Worked example — Adapting after a transport change: Ben’s evening transport option ends, making his current shift difficult while he is completing training. Ben first checks the confirmed roster and transport facts. He maps short-term options—one lift, a shift discussion, temporary travel cost—and longer-term options such as a different timetable or placement of training hours. He compares cost, reliability, impact on others and pathway goals, then sets a two-week review. He does not assume one inconvenience requires abandoning work or training.</a:t>
            </a:r>
          </a:p>
          <a:p xmlns:a="http://schemas.openxmlformats.org/drawingml/2006/main">
            <a:r>
              <a:t>- Visual caption: Life stages change the mix of responsibilities, so a useful working-life plan must be revised rather than simply followed.</a:t>
            </a:r>
          </a:p>
          <a:p xmlns:a="http://schemas.openxmlformats.org/drawingml/2006/main">
            <a:r>
              <a:t>- Visual notice: Notice the pathway tiles being rearranged. Which change might require a new sequence rather than abandoning the goal?</a:t>
            </a:r>
          </a:p>
          <a:p xmlns:a="http://schemas.openxmlformats.org/drawingml/2006/main">
            <a:r>
              <a:t>- Applied evidence: Choose a fictional change such as caring, relocation, study or altered hours. Create immediate, three-month and one-year options, trade-offs, contingencies and review evidence. A staged adaptation board and 150-word recommendation.</a:t>
            </a:r>
          </a:p>
          <a:p xmlns:a="http://schemas.openxmlformats.org/drawingml/2006/main">
            <a:r>
              <a:t/>
            </a:r>
          </a:p>
          <a:p xmlns:a="http://schemas.openxmlformats.org/drawingml/2006/main">
            <a:r>
              <a:t>Prompt: Choose a review point and the evidence needed then.</a:t>
            </a:r>
          </a:p>
          <a:p xmlns:a="http://schemas.openxmlformats.org/drawingml/2006/main">
            <a:r>
              <a:t/>
            </a:r>
          </a:p>
          <a:p xmlns:a="http://schemas.openxmlformats.org/drawingml/2006/main">
            <a:r>
              <a:t>Likely misconception or nuance</a:t>
            </a:r>
          </a:p>
          <a:p xmlns:a="http://schemas.openxmlformats.org/drawingml/2006/main">
            <a:r>
              <a:t>- Everyone should reach the same work milestones at the same age. Correction: Working lives reflect different goals, opportunities, responsibilities and constraints; plans should be judged against the person’s context and evidence.</a:t>
            </a:r>
          </a:p>
          <a:p xmlns:a="http://schemas.openxmlformats.org/drawingml/2006/main">
            <a:r>
              <a:t/>
            </a:r>
          </a:p>
          <a:p xmlns:a="http://schemas.openxmlformats.org/drawingml/2006/main">
            <a:r>
              <a:t>Transition: Move from the three teaching sections into retrieval.</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5 -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specialists/visuals/web-ready/m05-s03.webp | original AI-generated raster | SHA-256 25c2d4733942eee4de82986bff79e3a7b6ec087b051a613992ef66f899d942e9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Retrieve and repair reasoning across all three sections.</a:t>
            </a:r>
          </a:p>
          <a:p xmlns:a="http://schemas.openxmlformats.org/drawingml/2006/main">
            <a:r>
              <a:t/>
            </a:r>
          </a:p>
          <a:p xmlns:a="http://schemas.openxmlformats.org/drawingml/2006/main">
            <a:r>
              <a:t>Talking points</a:t>
            </a:r>
          </a:p>
          <a:p xmlns:a="http://schemas.openxmlformats.org/drawingml/2006/main">
            <a:r>
              <a:t>- Give quiet recall time before opening the discussion.</a:t>
            </a:r>
          </a:p>
          <a:p xmlns:a="http://schemas.openxmlformats.org/drawingml/2006/main">
            <a:r>
              <a:t>- Check 1: They use real capacity and can make an apparently free period unavailable. Rationale: A realistic plan accounts for the full demand.</a:t>
            </a:r>
          </a:p>
          <a:p xmlns:a="http://schemas.openxmlformats.org/drawingml/2006/main">
            <a:r>
              <a:t>- Check 2: They have missed two deadlines and said they are sleeping poorly; an appropriate check-in may help. Rationale: The statement uses observable evidence and a proportionate response.</a:t>
            </a:r>
          </a:p>
          <a:p xmlns:a="http://schemas.openxmlformats.org/drawingml/2006/main">
            <a:r>
              <a:t>- Check 3: People of the same age can have different goals, responsibilities, resources and opportunities. Rationale: Life-stage planning needs actual context rather than stereotypes.</a:t>
            </a:r>
          </a:p>
          <a:p xmlns:a="http://schemas.openxmlformats.org/drawingml/2006/main">
            <a:r>
              <a:t/>
            </a:r>
          </a:p>
          <a:p xmlns:a="http://schemas.openxmlformats.org/drawingml/2006/main">
            <a:r>
              <a:t>Prompt: Ask students to justify an answer before checking the matching theory section.</a:t>
            </a:r>
          </a:p>
          <a:p xmlns:a="http://schemas.openxmlformats.org/drawingml/2006/main">
            <a:r>
              <a:t/>
            </a:r>
          </a:p>
          <a:p xmlns:a="http://schemas.openxmlformats.org/drawingml/2006/main">
            <a:r>
              <a:t>Transition: Use the retrieved ideas to construct one sustained evidence response.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5 -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Guide one higher-order response anchored in Adapting plans across changing life stages.</a:t>
            </a:r>
          </a:p>
          <a:p xmlns:a="http://schemas.openxmlformats.org/drawingml/2006/main">
            <a:r>
              <a:t/>
            </a:r>
          </a:p>
          <a:p xmlns:a="http://schemas.openxmlformats.org/drawingml/2006/main">
            <a:r>
              <a:t>Talking points</a:t>
            </a:r>
          </a:p>
          <a:p xmlns:a="http://schemas.openxmlformats.org/drawingml/2006/main">
            <a:r>
              <a:t>- Prompt: Evaluate three responses to a major life-stage change and recommend a reviewable work–life plan.</a:t>
            </a:r>
          </a:p>
          <a:p xmlns:a="http://schemas.openxmlformats.org/drawingml/2006/main">
            <a:r>
              <a:t>- Describe the person’s goals, responsibilities and resources.</a:t>
            </a:r>
          </a:p>
          <a:p xmlns:a="http://schemas.openxmlformats.org/drawingml/2006/main">
            <a:r>
              <a:t>- Compare immediate and longer-term options.</a:t>
            </a:r>
          </a:p>
          <a:p xmlns:a="http://schemas.openxmlformats.org/drawingml/2006/main">
            <a:r>
              <a:t>- Analyse trade-offs, dependencies and contingencies.</a:t>
            </a:r>
          </a:p>
          <a:p xmlns:a="http://schemas.openxmlformats.org/drawingml/2006/main">
            <a:r>
              <a:t>- Recommend a plan, support and review evidence.</a:t>
            </a:r>
          </a:p>
          <a:p xmlns:a="http://schemas.openxmlformats.org/drawingml/2006/main">
            <a:r>
              <a:t>- Success criteria: Avoids age or life-stage stereotypes.; Balances short-term stability with longer-term purpose.; Provides a feasible contingency and evidence-based review point.</a:t>
            </a:r>
          </a:p>
          <a:p xmlns:a="http://schemas.openxmlformats.org/drawingml/2006/main">
            <a:r>
              <a:t>- Folio visual: A useful folio brings work samples, observations, records and reflection together so progress can be explained.</a:t>
            </a:r>
          </a:p>
          <a:p xmlns:a="http://schemas.openxmlformats.org/drawingml/2006/main">
            <a:r>
              <a:t/>
            </a:r>
          </a:p>
          <a:p xmlns:a="http://schemas.openxmlformats.org/drawingml/2006/main">
            <a:r>
              <a:t>Prompt: Ask students to state their judgement before selecting evidence, then test whether every claim is supported.</a:t>
            </a:r>
          </a:p>
          <a:p xmlns:a="http://schemas.openxmlformats.org/drawingml/2006/main">
            <a:r>
              <a:t/>
            </a:r>
          </a:p>
          <a:p xmlns:a="http://schemas.openxmlformats.org/drawingml/2006/main">
            <a:r>
              <a:t>Transition: Close with a three-part exit record and a clear evidence boundary.</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5 -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specialists/visuals/web-ready/folio-evidence.webp | original AI-generated raster | SHA-256 0d3e88f590077ba563b8f3dd06a0c2c9a2975bdd4b4a3b8294cdc877d6dd366d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Create a concrete learning record while keeping the assessment boundary explicit.</a:t>
            </a:r>
          </a:p>
          <a:p xmlns:a="http://schemas.openxmlformats.org/drawingml/2006/main">
            <a:r>
              <a:t/>
            </a:r>
          </a:p>
          <a:p xmlns:a="http://schemas.openxmlformats.org/drawingml/2006/main">
            <a:r>
              <a:t>Talking points</a:t>
            </a:r>
          </a:p>
          <a:p xmlns:a="http://schemas.openxmlformats.org/drawingml/2006/main">
            <a:r>
              <a:t>- Students complete all three exit prompts before discussion.</a:t>
            </a:r>
          </a:p>
          <a:p xmlns:a="http://schemas.openxmlformats.org/drawingml/2006/main">
            <a:r>
              <a:t>- The saved response is formative learning evidence, not a formal submission. The current Year 12 assessment schedule is Teacher to confirm.</a:t>
            </a:r>
          </a:p>
          <a:p xmlns:a="http://schemas.openxmlformats.org/drawingml/2006/main">
            <a:r>
              <a:t>- Assessment-orientation visual: The task brief sets the requirements; work evidence and reflection show how those requirements were addressed.</a:t>
            </a:r>
          </a:p>
          <a:p xmlns:a="http://schemas.openxmlformats.org/drawingml/2006/main">
            <a:r>
              <a:t/>
            </a:r>
          </a:p>
          <a:p xmlns:a="http://schemas.openxmlformats.org/drawingml/2006/main">
            <a:r>
              <a:t>Prompt: Notice the three sources being compared. What could each contribute to a fair explanation of achievement?</a:t>
            </a:r>
          </a:p>
          <a:p xmlns:a="http://schemas.openxmlformats.org/drawingml/2006/main">
            <a:r>
              <a:t/>
            </a:r>
          </a:p>
          <a:p xmlns:a="http://schemas.openxmlformats.org/drawingml/2006/main">
            <a:r>
              <a:t>Likely misconception or nuance</a:t>
            </a:r>
          </a:p>
          <a:p xmlns:a="http://schemas.openxmlformats.org/drawingml/2006/main">
            <a:r>
              <a:t>- Saving learning evidence does not automatically submit it for assessment or prove achievement.</a:t>
            </a:r>
          </a:p>
          <a:p xmlns:a="http://schemas.openxmlformats.org/drawingml/2006/main">
            <a:r>
              <a:t/>
            </a:r>
          </a:p>
          <a:p xmlns:a="http://schemas.openxmlformats.org/drawingml/2006/main">
            <a:r>
              <a:t>Transition: End with each student's stated next question or action.</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5 -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specialists/visuals/web-ready/assessment-orientation.webp | original AI-generated raster | SHA-256 78b88ec22b90ac0135ac756df19012e62644e6174e0988f1df2848e74d2b2ce1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d7fb36388643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3d3bbadd4141d7" /><Relationship Type="http://schemas.openxmlformats.org/officeDocument/2006/relationships/slideLayout" Target="/ppt/slideLayouts/slideLayout1.xml" Id="Rfd55a647f23d48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55a647f23d48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21a5a13cad46d9" /><Relationship Type="http://schemas.openxmlformats.org/officeDocument/2006/relationships/image" Target="/ppt/media/image.bin" Id="Ra686748d70a7472e" /><Relationship Type="http://schemas.openxmlformats.org/officeDocument/2006/relationships/notesSlide" Target="/ppt/notesSlides/notesSlide1.xml" Id="R7d90308b35b94a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8813b272674b5e" /><Relationship Type="http://schemas.openxmlformats.org/officeDocument/2006/relationships/notesSlide" Target="/ppt/notesSlides/notesSlide2.xml" Id="Rb829ce869abf46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1b4c0c8eda46c5" /><Relationship Type="http://schemas.openxmlformats.org/officeDocument/2006/relationships/image" Target="/ppt/media/image2.bin" Id="R1b45e149442c4375" /><Relationship Type="http://schemas.openxmlformats.org/officeDocument/2006/relationships/notesSlide" Target="/ppt/notesSlides/notesSlide3.xml" Id="R518decda4d5f4b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5d950c79954e17" /><Relationship Type="http://schemas.openxmlformats.org/officeDocument/2006/relationships/image" Target="/ppt/media/image3.bin" Id="Reebbb24e41bf4ba5" /><Relationship Type="http://schemas.openxmlformats.org/officeDocument/2006/relationships/notesSlide" Target="/ppt/notesSlides/notesSlide4.xml" Id="R2bd37682b8974f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be95e5e45e476a" /><Relationship Type="http://schemas.openxmlformats.org/officeDocument/2006/relationships/image" Target="/ppt/media/image4.bin" Id="R7a54f5d9c4ea493d" /><Relationship Type="http://schemas.openxmlformats.org/officeDocument/2006/relationships/notesSlide" Target="/ppt/notesSlides/notesSlide5.xml" Id="R70f2311801cf40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1cc0e79a97481b" /><Relationship Type="http://schemas.openxmlformats.org/officeDocument/2006/relationships/notesSlide" Target="/ppt/notesSlides/notesSlide6.xml" Id="R96a0a3cdf1af47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a3e413f26594ef1" /><Relationship Type="http://schemas.openxmlformats.org/officeDocument/2006/relationships/image" Target="/ppt/media/image5.bin" Id="Rf75fd352f88a4856" /><Relationship Type="http://schemas.openxmlformats.org/officeDocument/2006/relationships/notesSlide" Target="/ppt/notesSlides/notesSlide7.xml" Id="R9a65a2b8c91747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b8867e939aa46cf" /><Relationship Type="http://schemas.openxmlformats.org/officeDocument/2006/relationships/image" Target="/ppt/media/image6.bin" Id="Rbb56e3f49d034402" /><Relationship Type="http://schemas.openxmlformats.org/officeDocument/2006/relationships/notesSlide" Target="/ppt/notesSlides/notesSlide8.xml" Id="R9e60cc78d0e1490b" /></Relationships>
</file>

<file path=ppt/slides/slide1.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686748d70a7472e"/>
          <a:srcRect xmlns:a="http://schemas.openxmlformats.org/drawingml/2006/main" l="12639" t="0" r="12639" b="0"/>
          <a:stretch xmlns:a="http://schemas.openxmlformats.org/drawingml/2006/main">
            <a:fillRect l="0" t="0" r="0" b="0"/>
          </a:stretch>
        </p:blipFill>
        <p:spPr>
          <a:xfrm xmlns:a="http://schemas.openxmlformats.org/drawingml/2006/main">
            <a:off x="7067550" y="0"/>
            <a:ext cx="5124450" cy="6858000"/>
          </a:xfrm>
          <a:prstGeom xmlns:a="http://schemas.openxmlformats.org/drawingml/2006/main" prst="rect">
            <a:avLst/>
          </a:prstGeom>
        </p:spPr>
      </p:pic>
      <p:sp>
        <p:nvSpPr>
          <p:cNvPr id="2" name="purpose-accent">
            <a:extLst xmlns:a="http://schemas.openxmlformats.org/drawingml/2006/main">
              <a:ext uri="{FF2B5EF4-FFF2-40B4-BE49-F238E27FC236}">
                <a16:creationId xmlns:a16="http://schemas.microsoft.com/office/drawing/2014/main" id="{2A76A75D-334E-4ADC-B72C-E6330DC3FD67}"/>
              </a:ext>
            </a:extLst>
          </p:cNvPr>
          <p:cNvSpPr>
            <a:spLocks xmlns:a="http://schemas.openxmlformats.org/drawingml/2006/main" noGrp="1"/>
          </p:cNvSpPr>
          <p:nvPr/>
        </p:nvSpPr>
        <p:spPr>
          <a:xfrm xmlns:a="http://schemas.openxmlformats.org/drawingml/2006/main">
            <a:off x="6705600" y="628650"/>
            <a:ext cx="76200" cy="5486400"/>
          </a:xfrm>
          <a:prstGeom xmlns:a="http://schemas.openxmlformats.org/drawingml/2006/main" prst="rect">
            <a:avLst/>
          </a:prstGeom>
          <a:solidFill xmlns:a="http://schemas.openxmlformats.org/drawingml/2006/main">
            <a:srgbClr val="E6B64D"/>
          </a:solidFill>
          <a:ln xmlns:a="http://schemas.openxmlformats.org/drawingml/2006/main" w="0">
            <a:noFill/>
            <a:prstDash val="solid"/>
          </a:ln>
        </p:spPr>
      </p:sp>
      <p:sp>
        <p:nvSpPr>
          <p:cNvPr id="3" name="purpose-course-label">
            <a:extLst xmlns:a="http://schemas.openxmlformats.org/drawingml/2006/main">
              <a:ext uri="{FF2B5EF4-FFF2-40B4-BE49-F238E27FC236}">
                <a16:creationId xmlns:a16="http://schemas.microsoft.com/office/drawing/2014/main" id="{43C56BC0-F638-43E5-9690-0DB7C6BC8E91}"/>
              </a:ext>
            </a:extLst>
          </p:cNvPr>
          <p:cNvSpPr>
            <a:spLocks xmlns:a="http://schemas.openxmlformats.org/drawingml/2006/main" noGrp="1"/>
          </p:cNvSpPr>
          <p:nvPr/>
        </p:nvSpPr>
        <p:spPr>
          <a:xfrm xmlns:a="http://schemas.openxmlformats.org/drawingml/2006/main">
            <a:off x="685800" y="7048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C6572F"/>
                </a:solidFill>
                <a:latin typeface="Aptos"/>
                <a:ea typeface="Aptos"/>
                <a:cs typeface="Aptos"/>
              </a:defRPr>
            </a:pPr>
            <a:r>
              <a:rPr sz="1125" b="1">
                <a:solidFill>
                  <a:srgbClr val="C6572F"/>
                </a:solidFill>
                <a:latin typeface="Aptos"/>
                <a:ea typeface="Aptos"/>
                <a:cs typeface="Aptos"/>
              </a:rPr>
              <a:t>YEARS 11–12 WORK STUDIES  ·  YEAR 12  ·  M05</a:t>
            </a:r>
          </a:p>
        </p:txBody>
      </p:sp>
      <p:sp>
        <p:nvSpPr>
          <p:cNvPr id="4" name="purpose-title">
            <a:extLst xmlns:a="http://schemas.openxmlformats.org/drawingml/2006/main">
              <a:ext uri="{FF2B5EF4-FFF2-40B4-BE49-F238E27FC236}">
                <a16:creationId xmlns:a16="http://schemas.microsoft.com/office/drawing/2014/main" id="{4C05ED4F-EAF9-47F8-B361-9EA93FAB365C}"/>
              </a:ext>
            </a:extLst>
          </p:cNvPr>
          <p:cNvSpPr>
            <a:spLocks xmlns:a="http://schemas.openxmlformats.org/drawingml/2006/main" noGrp="1"/>
          </p:cNvSpPr>
          <p:nvPr/>
        </p:nvSpPr>
        <p:spPr>
          <a:xfrm xmlns:a="http://schemas.openxmlformats.org/drawingml/2006/main">
            <a:off x="685800" y="1257300"/>
            <a:ext cx="561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3000"/>
              </a:lnSpc>
              <a:buNone/>
              <a:defRPr sz="4650" b="1">
                <a:solidFill>
                  <a:srgbClr val="0B2637"/>
                </a:solidFill>
                <a:latin typeface="Aptos Display"/>
                <a:ea typeface="Aptos Display"/>
                <a:cs typeface="Aptos Display"/>
              </a:defRPr>
            </a:pPr>
            <a:r>
              <a:rPr sz="4650" b="1">
                <a:solidFill>
                  <a:srgbClr val="0B2637"/>
                </a:solidFill>
                <a:latin typeface="Aptos Display"/>
                <a:ea typeface="Aptos Display"/>
                <a:cs typeface="Aptos Display"/>
              </a:rPr>
              <a:t>Managing Work and Life Commitments</a:t>
            </a:r>
          </a:p>
        </p:txBody>
      </p:sp>
      <p:sp>
        <p:nvSpPr>
          <p:cNvPr id="5" name="purpose-summary">
            <a:extLst xmlns:a="http://schemas.openxmlformats.org/drawingml/2006/main">
              <a:ext uri="{FF2B5EF4-FFF2-40B4-BE49-F238E27FC236}">
                <a16:creationId xmlns:a16="http://schemas.microsoft.com/office/drawing/2014/main" id="{E396202D-8287-4897-98F0-1D99D70B2F83}"/>
              </a:ext>
            </a:extLst>
          </p:cNvPr>
          <p:cNvSpPr>
            <a:spLocks xmlns:a="http://schemas.openxmlformats.org/drawingml/2006/main" noGrp="1"/>
          </p:cNvSpPr>
          <p:nvPr/>
        </p:nvSpPr>
        <p:spPr>
          <a:xfrm xmlns:a="http://schemas.openxmlformats.org/drawingml/2006/main">
            <a:off x="685800" y="3124200"/>
            <a:ext cx="5581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875" b="0">
                <a:solidFill>
                  <a:srgbClr val="14232D"/>
                </a:solidFill>
                <a:latin typeface="Aptos"/>
                <a:ea typeface="Aptos"/>
                <a:cs typeface="Aptos"/>
              </a:defRPr>
            </a:pPr>
            <a:r>
              <a:rPr sz="1875" b="0">
                <a:solidFill>
                  <a:srgbClr val="14232D"/>
                </a:solidFill>
                <a:latin typeface="Aptos"/>
                <a:ea typeface="Aptos"/>
                <a:cs typeface="Aptos"/>
              </a:rPr>
              <a:t>Set realistic priorities, protect wellbeing and adapt plans when life changes.</a:t>
            </a:r>
          </a:p>
        </p:txBody>
      </p:sp>
      <p:sp>
        <p:nvSpPr>
          <p:cNvPr id="6" name="purpose-before-label">
            <a:extLst xmlns:a="http://schemas.openxmlformats.org/drawingml/2006/main">
              <a:ext uri="{FF2B5EF4-FFF2-40B4-BE49-F238E27FC236}">
                <a16:creationId xmlns:a16="http://schemas.microsoft.com/office/drawing/2014/main" id="{C7A0D849-F6A5-449C-84E0-C2EE9201D3D4}"/>
              </a:ext>
            </a:extLst>
          </p:cNvPr>
          <p:cNvSpPr>
            <a:spLocks xmlns:a="http://schemas.openxmlformats.org/drawingml/2006/main" noGrp="1"/>
          </p:cNvSpPr>
          <p:nvPr/>
        </p:nvSpPr>
        <p:spPr>
          <a:xfrm xmlns:a="http://schemas.openxmlformats.org/drawingml/2006/main">
            <a:off x="685800" y="46101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1F5141"/>
                </a:solidFill>
                <a:latin typeface="Aptos"/>
                <a:ea typeface="Aptos"/>
                <a:cs typeface="Aptos"/>
              </a:defRPr>
            </a:pPr>
            <a:r>
              <a:rPr sz="1125" b="1">
                <a:solidFill>
                  <a:srgbClr val="1F5141"/>
                </a:solidFill>
                <a:latin typeface="Aptos"/>
                <a:ea typeface="Aptos"/>
                <a:cs typeface="Aptos"/>
              </a:rPr>
              <a:t>BEFORE WE BEGIN</a:t>
            </a:r>
          </a:p>
        </p:txBody>
      </p:sp>
      <p:sp>
        <p:nvSpPr>
          <p:cNvPr id="7" name="purpose-question">
            <a:extLst xmlns:a="http://schemas.openxmlformats.org/drawingml/2006/main">
              <a:ext uri="{FF2B5EF4-FFF2-40B4-BE49-F238E27FC236}">
                <a16:creationId xmlns:a16="http://schemas.microsoft.com/office/drawing/2014/main" id="{7EA72467-E16E-4938-8309-B6DB083988C5}"/>
              </a:ext>
            </a:extLst>
          </p:cNvPr>
          <p:cNvSpPr>
            <a:spLocks xmlns:a="http://schemas.openxmlformats.org/drawingml/2006/main" noGrp="1"/>
          </p:cNvSpPr>
          <p:nvPr/>
        </p:nvSpPr>
        <p:spPr>
          <a:xfrm xmlns:a="http://schemas.openxmlformats.org/drawingml/2006/main">
            <a:off x="685800" y="4953000"/>
            <a:ext cx="5543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800" b="1">
                <a:solidFill>
                  <a:srgbClr val="0B2637"/>
                </a:solidFill>
                <a:latin typeface="Aptos"/>
                <a:ea typeface="Aptos"/>
                <a:cs typeface="Aptos"/>
              </a:defRPr>
            </a:pPr>
            <a:r>
              <a:rPr sz="1800" b="1">
                <a:solidFill>
                  <a:srgbClr val="0B2637"/>
                </a:solidFill>
                <a:latin typeface="Aptos"/>
                <a:ea typeface="Aptos"/>
                <a:cs typeface="Aptos"/>
              </a:rPr>
              <a:t>Where might these ideas affect a real workplace, pathway or life decision?</a:t>
            </a:r>
          </a:p>
        </p:txBody>
      </p:sp>
      <p:sp>
        <p:nvSpPr>
          <p:cNvPr id="8" name="purpose-footer-rule">
            <a:extLst xmlns:a="http://schemas.openxmlformats.org/drawingml/2006/main">
              <a:ext uri="{FF2B5EF4-FFF2-40B4-BE49-F238E27FC236}">
                <a16:creationId xmlns:a16="http://schemas.microsoft.com/office/drawing/2014/main" id="{EF819813-B201-4163-9A3C-14FAE1D73595}"/>
              </a:ext>
            </a:extLst>
          </p:cNvPr>
          <p:cNvSpPr>
            <a:spLocks xmlns:a="http://schemas.openxmlformats.org/drawingml/2006/main" noGrp="1"/>
          </p:cNvSpPr>
          <p:nvPr/>
        </p:nvSpPr>
        <p:spPr>
          <a:xfrm xmlns:a="http://schemas.openxmlformats.org/drawingml/2006/main">
            <a:off x="685800" y="6381750"/>
            <a:ext cx="561975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9" name="purpose-footer-module">
            <a:extLst xmlns:a="http://schemas.openxmlformats.org/drawingml/2006/main">
              <a:ext uri="{FF2B5EF4-FFF2-40B4-BE49-F238E27FC236}">
                <a16:creationId xmlns:a16="http://schemas.microsoft.com/office/drawing/2014/main" id="{CF84A85A-655C-43CE-8C6E-B6C15DA32EC7}"/>
              </a:ext>
            </a:extLst>
          </p:cNvPr>
          <p:cNvSpPr>
            <a:spLocks xmlns:a="http://schemas.openxmlformats.org/drawingml/2006/main" noGrp="1"/>
          </p:cNvSpPr>
          <p:nvPr/>
        </p:nvSpPr>
        <p:spPr>
          <a:xfrm xmlns:a="http://schemas.openxmlformats.org/drawingml/2006/main">
            <a:off x="685800" y="6496050"/>
            <a:ext cx="462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M05  ·  Managing Work and Life Commitments</a:t>
            </a:r>
          </a:p>
        </p:txBody>
      </p:sp>
      <p:sp>
        <p:nvSpPr>
          <p:cNvPr id="10" name="purpose-footer-number">
            <a:extLst xmlns:a="http://schemas.openxmlformats.org/drawingml/2006/main">
              <a:ext uri="{FF2B5EF4-FFF2-40B4-BE49-F238E27FC236}">
                <a16:creationId xmlns:a16="http://schemas.microsoft.com/office/drawing/2014/main" id="{8662A027-C994-4D52-BB0B-CC6F32167F4B}"/>
              </a:ext>
            </a:extLst>
          </p:cNvPr>
          <p:cNvSpPr>
            <a:spLocks xmlns:a="http://schemas.openxmlformats.org/drawingml/2006/main" noGrp="1"/>
          </p:cNvSpPr>
          <p:nvPr/>
        </p:nvSpPr>
        <p:spPr>
          <a:xfrm xmlns:a="http://schemas.openxmlformats.org/drawingml/2006/main">
            <a:off x="57340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01</a:t>
            </a:r>
          </a:p>
        </p:txBody>
      </p:sp>
    </p:spTree>
    <p:extLst>
      <p:ext uri="{BB962C8B-B14F-4D97-AF65-F5344CB8AC3E}">
        <p14:creationId xmlns:p14="http://schemas.microsoft.com/office/powerpoint/2010/main" val="821028212"/>
      </p:ext>
    </p:extLst>
  </p:cSld>
</p:sld>
</file>

<file path=ppt/slides/slide2.xml><?xml version="1.0" encoding="utf-8"?>
<p:sld xmlns:p="http://schemas.openxmlformats.org/presentationml/2006/main">
  <p:cSld>
    <p:bg>
      <p:bgPr>
        <a:solidFill xmlns:a="http://schemas.openxmlformats.org/drawingml/2006/main">
          <a:srgbClr val="0B2637"/>
        </a:solidFill>
      </p:bgPr>
    </p:bg>
    <p:spTree>
      <p:nvGrpSpPr>
        <p:cNvPr id="1" name=""/>
        <p:cNvGrpSpPr/>
        <p:nvPr/>
      </p:nvGrpSpPr>
      <p:grpSpPr>
        <a:xfrm xmlns:a="http://schemas.openxmlformats.org/drawingml/2006/main"/>
      </p:grpSpPr>
      <p:sp>
        <p:nvSpPr>
          <p:cNvPr id="19" name="module-label-2">
            <a:extLst xmlns:a="http://schemas.openxmlformats.org/drawingml/2006/main">
              <a:ext uri="{FF2B5EF4-FFF2-40B4-BE49-F238E27FC236}">
                <a16:creationId xmlns:a16="http://schemas.microsoft.com/office/drawing/2014/main" id="{AEFF9740-76EE-4C9C-AA79-95401A3B7F37}"/>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12  ·  M05</a:t>
            </a:r>
          </a:p>
        </p:txBody>
      </p:sp>
      <p:sp>
        <p:nvSpPr>
          <p:cNvPr id="2" name="slide-title-2">
            <a:extLst xmlns:a="http://schemas.openxmlformats.org/drawingml/2006/main">
              <a:ext uri="{FF2B5EF4-FFF2-40B4-BE49-F238E27FC236}">
                <a16:creationId xmlns:a16="http://schemas.microsoft.com/office/drawing/2014/main" id="{07A6DF70-C57A-4FF3-A941-EFA0695D171F}"/>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Three ideas build one practical understanding</a:t>
            </a:r>
          </a:p>
        </p:txBody>
      </p:sp>
      <p:sp>
        <p:nvSpPr>
          <p:cNvPr id="3" name="map-number-1">
            <a:extLst xmlns:a="http://schemas.openxmlformats.org/drawingml/2006/main">
              <a:ext uri="{FF2B5EF4-FFF2-40B4-BE49-F238E27FC236}">
                <a16:creationId xmlns:a16="http://schemas.microsoft.com/office/drawing/2014/main" id="{377BB13A-2A00-4C0F-A142-AFB7C8064CD1}"/>
              </a:ext>
            </a:extLst>
          </p:cNvPr>
          <p:cNvSpPr>
            <a:spLocks xmlns:a="http://schemas.openxmlformats.org/drawingml/2006/main" noGrp="1"/>
          </p:cNvSpPr>
          <p:nvPr/>
        </p:nvSpPr>
        <p:spPr>
          <a:xfrm xmlns:a="http://schemas.openxmlformats.org/drawingml/2006/main">
            <a:off x="6858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01</a:t>
            </a:r>
          </a:p>
        </p:txBody>
      </p:sp>
      <p:sp>
        <p:nvSpPr>
          <p:cNvPr id="4" name="map-title-1">
            <a:extLst xmlns:a="http://schemas.openxmlformats.org/drawingml/2006/main">
              <a:ext uri="{FF2B5EF4-FFF2-40B4-BE49-F238E27FC236}">
                <a16:creationId xmlns:a16="http://schemas.microsoft.com/office/drawing/2014/main" id="{2ED8A392-DD96-43E8-A088-59672EE55038}"/>
              </a:ext>
            </a:extLst>
          </p:cNvPr>
          <p:cNvSpPr>
            <a:spLocks xmlns:a="http://schemas.openxmlformats.org/drawingml/2006/main" noGrp="1"/>
          </p:cNvSpPr>
          <p:nvPr/>
        </p:nvSpPr>
        <p:spPr>
          <a:xfrm xmlns:a="http://schemas.openxmlformats.org/drawingml/2006/main">
            <a:off x="6858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Time, priorities and realistic boundaries</a:t>
            </a:r>
          </a:p>
        </p:txBody>
      </p:sp>
      <p:sp>
        <p:nvSpPr>
          <p:cNvPr id="5" name="map-intention-1">
            <a:extLst xmlns:a="http://schemas.openxmlformats.org/drawingml/2006/main">
              <a:ext uri="{FF2B5EF4-FFF2-40B4-BE49-F238E27FC236}">
                <a16:creationId xmlns:a16="http://schemas.microsoft.com/office/drawing/2014/main" id="{9D694284-9CA6-420A-8473-6134DCD25B36}"/>
              </a:ext>
            </a:extLst>
          </p:cNvPr>
          <p:cNvSpPr>
            <a:spLocks xmlns:a="http://schemas.openxmlformats.org/drawingml/2006/main" noGrp="1"/>
          </p:cNvSpPr>
          <p:nvPr/>
        </p:nvSpPr>
        <p:spPr>
          <a:xfrm xmlns:a="http://schemas.openxmlformats.org/drawingml/2006/main">
            <a:off x="6858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Plan competing work and life commitments using priorities, capacity, communication and boundaries.</a:t>
            </a:r>
          </a:p>
        </p:txBody>
      </p:sp>
      <p:sp>
        <p:nvSpPr>
          <p:cNvPr id="6" name="map-divider-1">
            <a:extLst xmlns:a="http://schemas.openxmlformats.org/drawingml/2006/main">
              <a:ext uri="{FF2B5EF4-FFF2-40B4-BE49-F238E27FC236}">
                <a16:creationId xmlns:a16="http://schemas.microsoft.com/office/drawing/2014/main" id="{35BE8E32-D724-4D32-9628-1D3D36D56D71}"/>
              </a:ext>
            </a:extLst>
          </p:cNvPr>
          <p:cNvSpPr>
            <a:spLocks xmlns:a="http://schemas.openxmlformats.org/drawingml/2006/main" noGrp="1"/>
          </p:cNvSpPr>
          <p:nvPr/>
        </p:nvSpPr>
        <p:spPr>
          <a:xfrm xmlns:a="http://schemas.openxmlformats.org/drawingml/2006/main">
            <a:off x="403860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7" name="map-number-2">
            <a:extLst xmlns:a="http://schemas.openxmlformats.org/drawingml/2006/main">
              <a:ext uri="{FF2B5EF4-FFF2-40B4-BE49-F238E27FC236}">
                <a16:creationId xmlns:a16="http://schemas.microsoft.com/office/drawing/2014/main" id="{5C87C90C-AC2F-4645-9B52-EFB95D74B8EB}"/>
              </a:ext>
            </a:extLst>
          </p:cNvPr>
          <p:cNvSpPr>
            <a:spLocks xmlns:a="http://schemas.openxmlformats.org/drawingml/2006/main" noGrp="1"/>
          </p:cNvSpPr>
          <p:nvPr/>
        </p:nvSpPr>
        <p:spPr>
          <a:xfrm xmlns:a="http://schemas.openxmlformats.org/drawingml/2006/main">
            <a:off x="428625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C6572F"/>
                </a:solidFill>
                <a:latin typeface="Aptos Display"/>
                <a:ea typeface="Aptos Display"/>
                <a:cs typeface="Aptos Display"/>
              </a:defRPr>
            </a:pPr>
            <a:r>
              <a:rPr sz="2850" b="1">
                <a:solidFill>
                  <a:srgbClr val="C6572F"/>
                </a:solidFill>
                <a:latin typeface="Aptos Display"/>
                <a:ea typeface="Aptos Display"/>
                <a:cs typeface="Aptos Display"/>
              </a:rPr>
              <a:t>02</a:t>
            </a:r>
          </a:p>
        </p:txBody>
      </p:sp>
      <p:sp>
        <p:nvSpPr>
          <p:cNvPr id="8" name="map-title-2">
            <a:extLst xmlns:a="http://schemas.openxmlformats.org/drawingml/2006/main">
              <a:ext uri="{FF2B5EF4-FFF2-40B4-BE49-F238E27FC236}">
                <a16:creationId xmlns:a16="http://schemas.microsoft.com/office/drawing/2014/main" id="{7E9E8FF5-EBFA-48C5-AF45-BA26E294F409}"/>
              </a:ext>
            </a:extLst>
          </p:cNvPr>
          <p:cNvSpPr>
            <a:spLocks xmlns:a="http://schemas.openxmlformats.org/drawingml/2006/main" noGrp="1"/>
          </p:cNvSpPr>
          <p:nvPr/>
        </p:nvSpPr>
        <p:spPr>
          <a:xfrm xmlns:a="http://schemas.openxmlformats.org/drawingml/2006/main">
            <a:off x="428625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Wellbeing, stress and support</a:t>
            </a:r>
          </a:p>
        </p:txBody>
      </p:sp>
      <p:sp>
        <p:nvSpPr>
          <p:cNvPr id="9" name="map-intention-2">
            <a:extLst xmlns:a="http://schemas.openxmlformats.org/drawingml/2006/main">
              <a:ext uri="{FF2B5EF4-FFF2-40B4-BE49-F238E27FC236}">
                <a16:creationId xmlns:a16="http://schemas.microsoft.com/office/drawing/2014/main" id="{584F49E1-C4E5-4C58-9F25-672F1B6D5461}"/>
              </a:ext>
            </a:extLst>
          </p:cNvPr>
          <p:cNvSpPr>
            <a:spLocks xmlns:a="http://schemas.openxmlformats.org/drawingml/2006/main" noGrp="1"/>
          </p:cNvSpPr>
          <p:nvPr/>
        </p:nvSpPr>
        <p:spPr>
          <a:xfrm xmlns:a="http://schemas.openxmlformats.org/drawingml/2006/main">
            <a:off x="428625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Recognise work-related pressures and choose proportionate self-management and support strategies.</a:t>
            </a:r>
          </a:p>
        </p:txBody>
      </p:sp>
      <p:sp>
        <p:nvSpPr>
          <p:cNvPr id="10" name="map-divider-2">
            <a:extLst xmlns:a="http://schemas.openxmlformats.org/drawingml/2006/main">
              <a:ext uri="{FF2B5EF4-FFF2-40B4-BE49-F238E27FC236}">
                <a16:creationId xmlns:a16="http://schemas.microsoft.com/office/drawing/2014/main" id="{EC379B7A-8216-40F0-AE61-CF7411003EE1}"/>
              </a:ext>
            </a:extLst>
          </p:cNvPr>
          <p:cNvSpPr>
            <a:spLocks xmlns:a="http://schemas.openxmlformats.org/drawingml/2006/main" noGrp="1"/>
          </p:cNvSpPr>
          <p:nvPr/>
        </p:nvSpPr>
        <p:spPr>
          <a:xfrm xmlns:a="http://schemas.openxmlformats.org/drawingml/2006/main">
            <a:off x="763905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11" name="map-number-3">
            <a:extLst xmlns:a="http://schemas.openxmlformats.org/drawingml/2006/main">
              <a:ext uri="{FF2B5EF4-FFF2-40B4-BE49-F238E27FC236}">
                <a16:creationId xmlns:a16="http://schemas.microsoft.com/office/drawing/2014/main" id="{B2A0A88B-00DD-43CF-B012-59A4AA87E67C}"/>
              </a:ext>
            </a:extLst>
          </p:cNvPr>
          <p:cNvSpPr>
            <a:spLocks xmlns:a="http://schemas.openxmlformats.org/drawingml/2006/main" noGrp="1"/>
          </p:cNvSpPr>
          <p:nvPr/>
        </p:nvSpPr>
        <p:spPr>
          <a:xfrm xmlns:a="http://schemas.openxmlformats.org/drawingml/2006/main">
            <a:off x="78867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03</a:t>
            </a:r>
          </a:p>
        </p:txBody>
      </p:sp>
      <p:sp>
        <p:nvSpPr>
          <p:cNvPr id="12" name="map-title-3">
            <a:extLst xmlns:a="http://schemas.openxmlformats.org/drawingml/2006/main">
              <a:ext uri="{FF2B5EF4-FFF2-40B4-BE49-F238E27FC236}">
                <a16:creationId xmlns:a16="http://schemas.microsoft.com/office/drawing/2014/main" id="{3EFBB580-CB78-4E8B-8EE4-6A7067E83D27}"/>
              </a:ext>
            </a:extLst>
          </p:cNvPr>
          <p:cNvSpPr>
            <a:spLocks xmlns:a="http://schemas.openxmlformats.org/drawingml/2006/main" noGrp="1"/>
          </p:cNvSpPr>
          <p:nvPr/>
        </p:nvSpPr>
        <p:spPr>
          <a:xfrm xmlns:a="http://schemas.openxmlformats.org/drawingml/2006/main">
            <a:off x="78867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Adapting plans across changing life stages</a:t>
            </a:r>
          </a:p>
        </p:txBody>
      </p:sp>
      <p:sp>
        <p:nvSpPr>
          <p:cNvPr id="13" name="map-intention-3">
            <a:extLst xmlns:a="http://schemas.openxmlformats.org/drawingml/2006/main">
              <a:ext uri="{FF2B5EF4-FFF2-40B4-BE49-F238E27FC236}">
                <a16:creationId xmlns:a16="http://schemas.microsoft.com/office/drawing/2014/main" id="{9BC8A187-C8FE-4448-9778-7F842DDF664B}"/>
              </a:ext>
            </a:extLst>
          </p:cNvPr>
          <p:cNvSpPr>
            <a:spLocks xmlns:a="http://schemas.openxmlformats.org/drawingml/2006/main" noGrp="1"/>
          </p:cNvSpPr>
          <p:nvPr/>
        </p:nvSpPr>
        <p:spPr>
          <a:xfrm xmlns:a="http://schemas.openxmlformats.org/drawingml/2006/main">
            <a:off x="78867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Adapt work and life plans as responsibilities, resources and opportunities change across life stages.</a:t>
            </a:r>
          </a:p>
        </p:txBody>
      </p:sp>
      <p:sp>
        <p:nvSpPr>
          <p:cNvPr id="14" name="map-prompt-band">
            <a:extLst xmlns:a="http://schemas.openxmlformats.org/drawingml/2006/main">
              <a:ext uri="{FF2B5EF4-FFF2-40B4-BE49-F238E27FC236}">
                <a16:creationId xmlns:a16="http://schemas.microsoft.com/office/drawing/2014/main" id="{003CA061-4C1E-40F0-BD7D-0E948A43883D}"/>
              </a:ext>
            </a:extLst>
          </p:cNvPr>
          <p:cNvSpPr>
            <a:spLocks xmlns:a="http://schemas.openxmlformats.org/drawingml/2006/main" noGrp="1"/>
          </p:cNvSpPr>
          <p:nvPr/>
        </p:nvSpPr>
        <p:spPr>
          <a:xfrm xmlns:a="http://schemas.openxmlformats.org/drawingml/2006/main">
            <a:off x="685800" y="5200650"/>
            <a:ext cx="10820400" cy="895350"/>
          </a:xfrm>
          <a:prstGeom xmlns:a="http://schemas.openxmlformats.org/drawingml/2006/main" prst="roundRect">
            <a:avLst>
              <a:gd name="adj" fmla="val 14894"/>
            </a:avLst>
          </a:prstGeom>
          <a:solidFill xmlns:a="http://schemas.openxmlformats.org/drawingml/2006/main">
            <a:srgbClr val="173D50"/>
          </a:solidFill>
          <a:ln xmlns:a="http://schemas.openxmlformats.org/drawingml/2006/main" w="0">
            <a:noFill/>
            <a:prstDash val="solid"/>
          </a:ln>
        </p:spPr>
      </p:sp>
      <p:sp>
        <p:nvSpPr>
          <p:cNvPr id="15" name="map-retrieval-prompt">
            <a:extLst xmlns:a="http://schemas.openxmlformats.org/drawingml/2006/main">
              <a:ext uri="{FF2B5EF4-FFF2-40B4-BE49-F238E27FC236}">
                <a16:creationId xmlns:a16="http://schemas.microsoft.com/office/drawing/2014/main" id="{606F0EA4-5FC5-44EF-8A01-469D6B3D0184}"/>
              </a:ext>
            </a:extLst>
          </p:cNvPr>
          <p:cNvSpPr>
            <a:spLocks xmlns:a="http://schemas.openxmlformats.org/drawingml/2006/main" noGrp="1"/>
          </p:cNvSpPr>
          <p:nvPr/>
        </p:nvSpPr>
        <p:spPr>
          <a:xfrm xmlns:a="http://schemas.openxmlformats.org/drawingml/2006/main">
            <a:off x="971550" y="5372100"/>
            <a:ext cx="1024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Retrieval lens  ·  After each idea, explain what decision it improves and what evidence makes the explanation credible.</a:t>
            </a:r>
          </a:p>
        </p:txBody>
      </p:sp>
      <p:sp>
        <p:nvSpPr>
          <p:cNvPr id="16" name="footer-rule-2">
            <a:extLst xmlns:a="http://schemas.openxmlformats.org/drawingml/2006/main">
              <a:ext uri="{FF2B5EF4-FFF2-40B4-BE49-F238E27FC236}">
                <a16:creationId xmlns:a16="http://schemas.microsoft.com/office/drawing/2014/main" id="{FAE98648-3C7B-4E12-80A7-D53434EC6AE8}"/>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7" name="footer-module-2">
            <a:extLst xmlns:a="http://schemas.openxmlformats.org/drawingml/2006/main">
              <a:ext uri="{FF2B5EF4-FFF2-40B4-BE49-F238E27FC236}">
                <a16:creationId xmlns:a16="http://schemas.microsoft.com/office/drawing/2014/main" id="{E836EA06-C314-46FF-B774-049515B0A8D5}"/>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M05  ·  Managing Work and Life Commitments</a:t>
            </a:r>
          </a:p>
        </p:txBody>
      </p:sp>
      <p:sp>
        <p:nvSpPr>
          <p:cNvPr id="18" name="footer-number-2">
            <a:extLst xmlns:a="http://schemas.openxmlformats.org/drawingml/2006/main">
              <a:ext uri="{FF2B5EF4-FFF2-40B4-BE49-F238E27FC236}">
                <a16:creationId xmlns:a16="http://schemas.microsoft.com/office/drawing/2014/main" id="{1184C257-DEA1-4974-971E-93D6D6A4B332}"/>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02</a:t>
            </a:r>
          </a:p>
        </p:txBody>
      </p:sp>
    </p:spTree>
    <p:extLst>
      <p:ext uri="{BB962C8B-B14F-4D97-AF65-F5344CB8AC3E}">
        <p14:creationId xmlns:p14="http://schemas.microsoft.com/office/powerpoint/2010/main" val="757660976"/>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3">
            <a:extLst xmlns:a="http://schemas.openxmlformats.org/drawingml/2006/main">
              <a:ext uri="{FF2B5EF4-FFF2-40B4-BE49-F238E27FC236}">
                <a16:creationId xmlns:a16="http://schemas.microsoft.com/office/drawing/2014/main" id="{497A0A3C-1488-4D0D-B8E8-4CC3755BD22E}"/>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M05</a:t>
            </a:r>
          </a:p>
        </p:txBody>
      </p:sp>
      <p:sp>
        <p:nvSpPr>
          <p:cNvPr id="2" name="slide-title-3">
            <a:extLst xmlns:a="http://schemas.openxmlformats.org/drawingml/2006/main">
              <a:ext uri="{FF2B5EF4-FFF2-40B4-BE49-F238E27FC236}">
                <a16:creationId xmlns:a16="http://schemas.microsoft.com/office/drawing/2014/main" id="{6947ABF0-63A5-46BA-9436-1F3FB05EF8BE}"/>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Time, priorities and realistic boundaries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b45e149442c4375"/>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1">
            <a:extLst xmlns:a="http://schemas.openxmlformats.org/drawingml/2006/main">
              <a:ext uri="{FF2B5EF4-FFF2-40B4-BE49-F238E27FC236}">
                <a16:creationId xmlns:a16="http://schemas.microsoft.com/office/drawing/2014/main" id="{32AF3F4F-80EF-4933-BDEB-93FC24058AA2}"/>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Work and life commitments draw on limited time, energy, attention and money. Planning works at several levels. Boundaries explain what a person can reasonably do and when.</a:t>
            </a:r>
          </a:p>
        </p:txBody>
      </p:sp>
      <p:sp>
        <p:nvSpPr>
          <p:cNvPr id="5" name="theory-evidence-surface-1">
            <a:extLst xmlns:a="http://schemas.openxmlformats.org/drawingml/2006/main">
              <a:ext uri="{FF2B5EF4-FFF2-40B4-BE49-F238E27FC236}">
                <a16:creationId xmlns:a16="http://schemas.microsoft.com/office/drawing/2014/main" id="{BF940FAF-8E3F-4D8E-AF9D-C5C7DDAF8516}"/>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1">
            <a:extLst xmlns:a="http://schemas.openxmlformats.org/drawingml/2006/main">
              <a:ext uri="{FF2B5EF4-FFF2-40B4-BE49-F238E27FC236}">
                <a16:creationId xmlns:a16="http://schemas.microsoft.com/office/drawing/2014/main" id="{49BF28E1-0945-4BEC-B8B8-6A13E9356398}"/>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1">
            <a:extLst xmlns:a="http://schemas.openxmlformats.org/drawingml/2006/main">
              <a:ext uri="{FF2B5EF4-FFF2-40B4-BE49-F238E27FC236}">
                <a16:creationId xmlns:a16="http://schemas.microsoft.com/office/drawing/2014/main" id="{879F5684-30F7-46A1-9568-6B77377B1C75}"/>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Capacity-first weekly plan. Rebuild a fictional overloaded week by adding hidden time, ranking commitments, protecting recovery, adding buffers and scripting one early boundary conversation. Evidence: A before-and-after weekly plan plus a 100-word justification.</a:t>
            </a:r>
          </a:p>
        </p:txBody>
      </p:sp>
      <p:sp>
        <p:nvSpPr>
          <p:cNvPr id="8" name="theory-notice-1">
            <a:extLst xmlns:a="http://schemas.openxmlformats.org/drawingml/2006/main">
              <a:ext uri="{FF2B5EF4-FFF2-40B4-BE49-F238E27FC236}">
                <a16:creationId xmlns:a16="http://schemas.microsoft.com/office/drawing/2014/main" id="{F24290AB-86D7-41F1-B364-5B4EBDC89D60}"/>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unfilled spaces and the cues for home and activity. Why might leaving capacity improve the plan?</a:t>
            </a:r>
          </a:p>
        </p:txBody>
      </p:sp>
      <p:sp>
        <p:nvSpPr>
          <p:cNvPr id="9" name="theory-success-1">
            <a:extLst xmlns:a="http://schemas.openxmlformats.org/drawingml/2006/main">
              <a:ext uri="{FF2B5EF4-FFF2-40B4-BE49-F238E27FC236}">
                <a16:creationId xmlns:a16="http://schemas.microsoft.com/office/drawing/2014/main" id="{C529A5BD-3F17-466F-B571-D142EB8983A5}"/>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distinguish urgent, important and negotiable commitments.</a:t>
            </a:r>
          </a:p>
        </p:txBody>
      </p:sp>
      <p:sp>
        <p:nvSpPr>
          <p:cNvPr id="10" name="footer-rule-3">
            <a:extLst xmlns:a="http://schemas.openxmlformats.org/drawingml/2006/main">
              <a:ext uri="{FF2B5EF4-FFF2-40B4-BE49-F238E27FC236}">
                <a16:creationId xmlns:a16="http://schemas.microsoft.com/office/drawing/2014/main" id="{5C383B4E-21FD-47A1-AC53-B73626CC2AFA}"/>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3">
            <a:extLst xmlns:a="http://schemas.openxmlformats.org/drawingml/2006/main">
              <a:ext uri="{FF2B5EF4-FFF2-40B4-BE49-F238E27FC236}">
                <a16:creationId xmlns:a16="http://schemas.microsoft.com/office/drawing/2014/main" id="{02C25559-051B-4AEB-8A99-90571E46B6AC}"/>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M05  ·  Managing Work and Life Commitments</a:t>
            </a:r>
          </a:p>
        </p:txBody>
      </p:sp>
      <p:sp>
        <p:nvSpPr>
          <p:cNvPr id="12" name="footer-number-3">
            <a:extLst xmlns:a="http://schemas.openxmlformats.org/drawingml/2006/main">
              <a:ext uri="{FF2B5EF4-FFF2-40B4-BE49-F238E27FC236}">
                <a16:creationId xmlns:a16="http://schemas.microsoft.com/office/drawing/2014/main" id="{171DCCCF-3098-4113-9BE1-1B873243C9BC}"/>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03</a:t>
            </a:r>
          </a:p>
        </p:txBody>
      </p:sp>
    </p:spTree>
    <p:extLst>
      <p:ext uri="{BB962C8B-B14F-4D97-AF65-F5344CB8AC3E}">
        <p14:creationId xmlns:p14="http://schemas.microsoft.com/office/powerpoint/2010/main" val="504468999"/>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4">
            <a:extLst xmlns:a="http://schemas.openxmlformats.org/drawingml/2006/main">
              <a:ext uri="{FF2B5EF4-FFF2-40B4-BE49-F238E27FC236}">
                <a16:creationId xmlns:a16="http://schemas.microsoft.com/office/drawing/2014/main" id="{D75FA691-4D11-4B05-BA52-6036675CD4A3}"/>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M05</a:t>
            </a:r>
          </a:p>
        </p:txBody>
      </p:sp>
      <p:sp>
        <p:nvSpPr>
          <p:cNvPr id="2" name="slide-title-4">
            <a:extLst xmlns:a="http://schemas.openxmlformats.org/drawingml/2006/main">
              <a:ext uri="{FF2B5EF4-FFF2-40B4-BE49-F238E27FC236}">
                <a16:creationId xmlns:a16="http://schemas.microsoft.com/office/drawing/2014/main" id="{2F8FD745-AEA4-4559-B782-BDEB938EF70C}"/>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Wellbeing, stress and support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ebbb24e41bf4ba5"/>
          <a:srcRect xmlns:a="http://schemas.openxmlformats.org/drawingml/2006/main" l="0" t="15121" r="0" b="15121"/>
          <a:stretch xmlns:a="http://schemas.openxmlformats.org/drawingml/2006/main">
            <a:fillRect l="0" t="0" r="0" b="0"/>
          </a:stretch>
        </p:blipFill>
        <p:spPr>
          <a:xfrm xmlns:a="http://schemas.openxmlformats.org/drawingml/2006/main">
            <a:off x="685800" y="1390650"/>
            <a:ext cx="4724400" cy="3295650"/>
          </a:xfrm>
          <a:prstGeom xmlns:a="http://schemas.openxmlformats.org/drawingml/2006/main" prst="roundRect">
            <a:avLst>
              <a:gd name="adj" fmla="val 6358"/>
            </a:avLst>
          </a:prstGeom>
        </p:spPr>
      </p:pic>
      <p:sp>
        <p:nvSpPr>
          <p:cNvPr id="4" name="theory-summary-2">
            <a:extLst xmlns:a="http://schemas.openxmlformats.org/drawingml/2006/main">
              <a:ext uri="{FF2B5EF4-FFF2-40B4-BE49-F238E27FC236}">
                <a16:creationId xmlns:a16="http://schemas.microsoft.com/office/drawing/2014/main" id="{0651DB78-4D07-4E20-9B93-5F35BCF63DB0}"/>
              </a:ext>
            </a:extLst>
          </p:cNvPr>
          <p:cNvSpPr>
            <a:spLocks xmlns:a="http://schemas.openxmlformats.org/drawingml/2006/main" noGrp="1"/>
          </p:cNvSpPr>
          <p:nvPr/>
        </p:nvSpPr>
        <p:spPr>
          <a:xfrm xmlns:a="http://schemas.openxmlformats.org/drawingml/2006/main">
            <a:off x="58293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Work can provide income, learning, purpose, social connection and satisfaction, while also creating pressure through workload, uncertainty, conflict, changing rosters, travel or competing responsibilities. Self-management strategies include clarifying priorities, taking lawful breaks, planning work, using recovery time, reducing avoidable commitments and seeking feedback or training. Support can come from trusted people, supervisors, school staff, workplace representatives, health professionals or appropriate services.</a:t>
            </a:r>
          </a:p>
        </p:txBody>
      </p:sp>
      <p:sp>
        <p:nvSpPr>
          <p:cNvPr id="5" name="theory-evidence-surface-2">
            <a:extLst xmlns:a="http://schemas.openxmlformats.org/drawingml/2006/main">
              <a:ext uri="{FF2B5EF4-FFF2-40B4-BE49-F238E27FC236}">
                <a16:creationId xmlns:a16="http://schemas.microsoft.com/office/drawing/2014/main" id="{3D740584-A9D9-4770-8D57-CC5524A210A1}"/>
              </a:ext>
            </a:extLst>
          </p:cNvPr>
          <p:cNvSpPr>
            <a:spLocks xmlns:a="http://schemas.openxmlformats.org/drawingml/2006/main" noGrp="1"/>
          </p:cNvSpPr>
          <p:nvPr/>
        </p:nvSpPr>
        <p:spPr>
          <a:xfrm xmlns:a="http://schemas.openxmlformats.org/drawingml/2006/main">
            <a:off x="5829300" y="3752850"/>
            <a:ext cx="5676900" cy="1581150"/>
          </a:xfrm>
          <a:prstGeom xmlns:a="http://schemas.openxmlformats.org/drawingml/2006/main" prst="roundRect">
            <a:avLst>
              <a:gd name="adj" fmla="val 8434"/>
            </a:avLst>
          </a:prstGeom>
          <a:solidFill xmlns:a="http://schemas.openxmlformats.org/drawingml/2006/main">
            <a:srgbClr val="F7E9C3"/>
          </a:solidFill>
          <a:ln xmlns:a="http://schemas.openxmlformats.org/drawingml/2006/main" w="0">
            <a:noFill/>
            <a:prstDash val="solid"/>
          </a:ln>
        </p:spPr>
      </p:sp>
      <p:sp>
        <p:nvSpPr>
          <p:cNvPr id="6" name="theory-evidence-label-2">
            <a:extLst xmlns:a="http://schemas.openxmlformats.org/drawingml/2006/main">
              <a:ext uri="{FF2B5EF4-FFF2-40B4-BE49-F238E27FC236}">
                <a16:creationId xmlns:a16="http://schemas.microsoft.com/office/drawing/2014/main" id="{140C8043-31B2-470E-9A46-9B7D7AB7F19F}"/>
              </a:ext>
            </a:extLst>
          </p:cNvPr>
          <p:cNvSpPr>
            <a:spLocks xmlns:a="http://schemas.openxmlformats.org/drawingml/2006/main" noGrp="1"/>
          </p:cNvSpPr>
          <p:nvPr/>
        </p:nvSpPr>
        <p:spPr>
          <a:xfrm xmlns:a="http://schemas.openxmlformats.org/drawingml/2006/main">
            <a:off x="60388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2">
            <a:extLst xmlns:a="http://schemas.openxmlformats.org/drawingml/2006/main">
              <a:ext uri="{FF2B5EF4-FFF2-40B4-BE49-F238E27FC236}">
                <a16:creationId xmlns:a16="http://schemas.microsoft.com/office/drawing/2014/main" id="{09EBBCF7-5E90-4C6A-81F9-4C476BD4C7D0}"/>
              </a:ext>
            </a:extLst>
          </p:cNvPr>
          <p:cNvSpPr>
            <a:spLocks xmlns:a="http://schemas.openxmlformats.org/drawingml/2006/main" noGrp="1"/>
          </p:cNvSpPr>
          <p:nvPr/>
        </p:nvSpPr>
        <p:spPr>
          <a:xfrm xmlns:a="http://schemas.openxmlformats.org/drawingml/2006/main">
            <a:off x="60388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Pressure and support map. Analyse a fictional case by mapping pressures, observable effects, protective factors, individual strategies, workplace factors and support options. Evidence: A cause-and-support map and a 150-word proportionate response.</a:t>
            </a:r>
          </a:p>
        </p:txBody>
      </p:sp>
      <p:sp>
        <p:nvSpPr>
          <p:cNvPr id="8" name="theory-notice-2">
            <a:extLst xmlns:a="http://schemas.openxmlformats.org/drawingml/2006/main">
              <a:ext uri="{FF2B5EF4-FFF2-40B4-BE49-F238E27FC236}">
                <a16:creationId xmlns:a16="http://schemas.microsoft.com/office/drawing/2014/main" id="{BDEA4134-BA40-4D9C-ADF3-28223AF55F64}"/>
              </a:ext>
            </a:extLst>
          </p:cNvPr>
          <p:cNvSpPr>
            <a:spLocks xmlns:a="http://schemas.openxmlformats.org/drawingml/2006/main" noGrp="1"/>
          </p:cNvSpPr>
          <p:nvPr/>
        </p:nvSpPr>
        <p:spPr>
          <a:xfrm xmlns:a="http://schemas.openxmlformats.org/drawingml/2006/main">
            <a:off x="685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setting and listening posture. What makes this conversation more supportive than a rushed exchange on the job?</a:t>
            </a:r>
          </a:p>
        </p:txBody>
      </p:sp>
      <p:sp>
        <p:nvSpPr>
          <p:cNvPr id="9" name="theory-success-2">
            <a:extLst xmlns:a="http://schemas.openxmlformats.org/drawingml/2006/main">
              <a:ext uri="{FF2B5EF4-FFF2-40B4-BE49-F238E27FC236}">
                <a16:creationId xmlns:a16="http://schemas.microsoft.com/office/drawing/2014/main" id="{84356AE8-D8A1-4EEB-9060-7C099C438B8F}"/>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distinguish pressure, stress response and a workplace hazard or issue.</a:t>
            </a:r>
          </a:p>
        </p:txBody>
      </p:sp>
      <p:sp>
        <p:nvSpPr>
          <p:cNvPr id="10" name="footer-rule-4">
            <a:extLst xmlns:a="http://schemas.openxmlformats.org/drawingml/2006/main">
              <a:ext uri="{FF2B5EF4-FFF2-40B4-BE49-F238E27FC236}">
                <a16:creationId xmlns:a16="http://schemas.microsoft.com/office/drawing/2014/main" id="{91E81D8C-F368-4B5E-A0B9-054C86E25B75}"/>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4">
            <a:extLst xmlns:a="http://schemas.openxmlformats.org/drawingml/2006/main">
              <a:ext uri="{FF2B5EF4-FFF2-40B4-BE49-F238E27FC236}">
                <a16:creationId xmlns:a16="http://schemas.microsoft.com/office/drawing/2014/main" id="{28ED6F57-D8CF-4F9B-8CD9-3B4017E72E8A}"/>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M05  ·  Managing Work and Life Commitments</a:t>
            </a:r>
          </a:p>
        </p:txBody>
      </p:sp>
      <p:sp>
        <p:nvSpPr>
          <p:cNvPr id="12" name="footer-number-4">
            <a:extLst xmlns:a="http://schemas.openxmlformats.org/drawingml/2006/main">
              <a:ext uri="{FF2B5EF4-FFF2-40B4-BE49-F238E27FC236}">
                <a16:creationId xmlns:a16="http://schemas.microsoft.com/office/drawing/2014/main" id="{6983C559-520D-4423-9BFF-EA77C0E7E263}"/>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04</a:t>
            </a:r>
          </a:p>
        </p:txBody>
      </p:sp>
    </p:spTree>
    <p:extLst>
      <p:ext uri="{BB962C8B-B14F-4D97-AF65-F5344CB8AC3E}">
        <p14:creationId xmlns:p14="http://schemas.microsoft.com/office/powerpoint/2010/main" val="1970284171"/>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5">
            <a:extLst xmlns:a="http://schemas.openxmlformats.org/drawingml/2006/main">
              <a:ext uri="{FF2B5EF4-FFF2-40B4-BE49-F238E27FC236}">
                <a16:creationId xmlns:a16="http://schemas.microsoft.com/office/drawing/2014/main" id="{0836D82D-2D04-443F-A318-35CD9A871BB6}"/>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M05</a:t>
            </a:r>
          </a:p>
        </p:txBody>
      </p:sp>
      <p:sp>
        <p:nvSpPr>
          <p:cNvPr id="2" name="slide-title-5">
            <a:extLst xmlns:a="http://schemas.openxmlformats.org/drawingml/2006/main">
              <a:ext uri="{FF2B5EF4-FFF2-40B4-BE49-F238E27FC236}">
                <a16:creationId xmlns:a16="http://schemas.microsoft.com/office/drawing/2014/main" id="{D10F07C2-4A29-4CE0-9ED1-1E666FC6B43E}"/>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Adapting plans across changing life stages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a54f5d9c4ea493d"/>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3">
            <a:extLst xmlns:a="http://schemas.openxmlformats.org/drawingml/2006/main">
              <a:ext uri="{FF2B5EF4-FFF2-40B4-BE49-F238E27FC236}">
                <a16:creationId xmlns:a16="http://schemas.microsoft.com/office/drawing/2014/main" id="{E21E74A3-8B80-4FA3-A61B-24ED0681E167}"/>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People’s work choices can change as study, housing, relationships, caring, health, finances and community responsibilities change. Change can be anticipated, gradual or sudden. Review prevents a temporary solution from becoming an unsuitable default.</a:t>
            </a:r>
          </a:p>
        </p:txBody>
      </p:sp>
      <p:sp>
        <p:nvSpPr>
          <p:cNvPr id="5" name="theory-evidence-surface-3">
            <a:extLst xmlns:a="http://schemas.openxmlformats.org/drawingml/2006/main">
              <a:ext uri="{FF2B5EF4-FFF2-40B4-BE49-F238E27FC236}">
                <a16:creationId xmlns:a16="http://schemas.microsoft.com/office/drawing/2014/main" id="{91576A2F-6782-4590-8F97-8DCB178EA5BD}"/>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3">
            <a:extLst xmlns:a="http://schemas.openxmlformats.org/drawingml/2006/main">
              <a:ext uri="{FF2B5EF4-FFF2-40B4-BE49-F238E27FC236}">
                <a16:creationId xmlns:a16="http://schemas.microsoft.com/office/drawing/2014/main" id="{18D48D32-9A0A-4877-BC9E-42EFD3718BE0}"/>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3">
            <a:extLst xmlns:a="http://schemas.openxmlformats.org/drawingml/2006/main">
              <a:ext uri="{FF2B5EF4-FFF2-40B4-BE49-F238E27FC236}">
                <a16:creationId xmlns:a16="http://schemas.microsoft.com/office/drawing/2014/main" id="{732A31BD-24A6-4B69-B2F6-C0979FE03798}"/>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Life-change planning board. Choose a fictional change such as caring, relocation, study or altered hours. Evidence: A staged adaptation board and 150-word recommendation.</a:t>
            </a:r>
          </a:p>
        </p:txBody>
      </p:sp>
      <p:sp>
        <p:nvSpPr>
          <p:cNvPr id="8" name="theory-notice-3">
            <a:extLst xmlns:a="http://schemas.openxmlformats.org/drawingml/2006/main">
              <a:ext uri="{FF2B5EF4-FFF2-40B4-BE49-F238E27FC236}">
                <a16:creationId xmlns:a16="http://schemas.microsoft.com/office/drawing/2014/main" id="{220890D0-3A3E-49BE-AC3A-E0C87D6C0B74}"/>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pathway tiles being rearranged. Which change might require a new sequence rather than abandoning the goal?</a:t>
            </a:r>
          </a:p>
        </p:txBody>
      </p:sp>
      <p:sp>
        <p:nvSpPr>
          <p:cNvPr id="9" name="theory-success-3">
            <a:extLst xmlns:a="http://schemas.openxmlformats.org/drawingml/2006/main">
              <a:ext uri="{FF2B5EF4-FFF2-40B4-BE49-F238E27FC236}">
                <a16:creationId xmlns:a16="http://schemas.microsoft.com/office/drawing/2014/main" id="{41BA0A6A-5CB6-4064-92AA-E9CE51B56DED}"/>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identify how life stages influence work choices without stereotyping.</a:t>
            </a:r>
          </a:p>
        </p:txBody>
      </p:sp>
      <p:sp>
        <p:nvSpPr>
          <p:cNvPr id="10" name="footer-rule-5">
            <a:extLst xmlns:a="http://schemas.openxmlformats.org/drawingml/2006/main">
              <a:ext uri="{FF2B5EF4-FFF2-40B4-BE49-F238E27FC236}">
                <a16:creationId xmlns:a16="http://schemas.microsoft.com/office/drawing/2014/main" id="{5AFADC69-752B-4986-A131-041A28520319}"/>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5">
            <a:extLst xmlns:a="http://schemas.openxmlformats.org/drawingml/2006/main">
              <a:ext uri="{FF2B5EF4-FFF2-40B4-BE49-F238E27FC236}">
                <a16:creationId xmlns:a16="http://schemas.microsoft.com/office/drawing/2014/main" id="{784148C0-55C5-4215-B0F4-756C323AEC8A}"/>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M05  ·  Managing Work and Life Commitments</a:t>
            </a:r>
          </a:p>
        </p:txBody>
      </p:sp>
      <p:sp>
        <p:nvSpPr>
          <p:cNvPr id="12" name="footer-number-5">
            <a:extLst xmlns:a="http://schemas.openxmlformats.org/drawingml/2006/main">
              <a:ext uri="{FF2B5EF4-FFF2-40B4-BE49-F238E27FC236}">
                <a16:creationId xmlns:a16="http://schemas.microsoft.com/office/drawing/2014/main" id="{5DD3AD56-E887-4FD0-AA3C-2C3B2238DAE9}"/>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05</a:t>
            </a:r>
          </a:p>
        </p:txBody>
      </p:sp>
    </p:spTree>
    <p:extLst>
      <p:ext uri="{BB962C8B-B14F-4D97-AF65-F5344CB8AC3E}">
        <p14:creationId xmlns:p14="http://schemas.microsoft.com/office/powerpoint/2010/main" val="19627220"/>
      </p:ext>
    </p:extLst>
  </p:cSld>
</p:sld>
</file>

<file path=ppt/slides/slide6.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sp>
        <p:nvSpPr>
          <p:cNvPr id="18" name="module-label-6">
            <a:extLst xmlns:a="http://schemas.openxmlformats.org/drawingml/2006/main">
              <a:ext uri="{FF2B5EF4-FFF2-40B4-BE49-F238E27FC236}">
                <a16:creationId xmlns:a16="http://schemas.microsoft.com/office/drawing/2014/main" id="{2D3D12BC-838A-4F44-9735-6C863BCB34C4}"/>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M05</a:t>
            </a:r>
          </a:p>
        </p:txBody>
      </p:sp>
      <p:sp>
        <p:nvSpPr>
          <p:cNvPr id="2" name="slide-title-6">
            <a:extLst xmlns:a="http://schemas.openxmlformats.org/drawingml/2006/main">
              <a:ext uri="{FF2B5EF4-FFF2-40B4-BE49-F238E27FC236}">
                <a16:creationId xmlns:a16="http://schemas.microsoft.com/office/drawing/2014/main" id="{2E7B9319-6BAE-4711-AEA0-8047F531C4DE}"/>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0B2637"/>
                </a:solidFill>
                <a:latin typeface="Aptos Display"/>
                <a:ea typeface="Aptos Display"/>
                <a:cs typeface="Aptos Display"/>
              </a:defRPr>
            </a:pPr>
            <a:r>
              <a:rPr sz="3150" b="1">
                <a:solidFill>
                  <a:srgbClr val="0B2637"/>
                </a:solidFill>
                <a:latin typeface="Aptos Display"/>
                <a:ea typeface="Aptos Display"/>
                <a:cs typeface="Aptos Display"/>
              </a:rPr>
              <a:t>Retrieve the idea, then explain the reason</a:t>
            </a:r>
          </a:p>
        </p:txBody>
      </p:sp>
      <p:sp>
        <p:nvSpPr>
          <p:cNvPr id="3" name="retrieval-instruction">
            <a:extLst xmlns:a="http://schemas.openxmlformats.org/drawingml/2006/main">
              <a:ext uri="{FF2B5EF4-FFF2-40B4-BE49-F238E27FC236}">
                <a16:creationId xmlns:a16="http://schemas.microsoft.com/office/drawing/2014/main" id="{41793956-D8CE-43C4-ACDB-7665357287DD}"/>
              </a:ext>
            </a:extLst>
          </p:cNvPr>
          <p:cNvSpPr>
            <a:spLocks xmlns:a="http://schemas.openxmlformats.org/drawingml/2006/main" noGrp="1"/>
          </p:cNvSpPr>
          <p:nvPr/>
        </p:nvSpPr>
        <p:spPr>
          <a:xfrm xmlns:a="http://schemas.openxmlformats.org/drawingml/2006/main">
            <a:off x="685800" y="120015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1F5141"/>
                </a:solidFill>
                <a:latin typeface="Aptos"/>
                <a:ea typeface="Aptos"/>
                <a:cs typeface="Aptos"/>
              </a:defRPr>
            </a:pPr>
            <a:r>
              <a:rPr sz="1575" b="1">
                <a:solidFill>
                  <a:srgbClr val="1F5141"/>
                </a:solidFill>
                <a:latin typeface="Aptos"/>
                <a:ea typeface="Aptos"/>
                <a:cs typeface="Aptos"/>
              </a:rPr>
              <a:t>Answer without notes first. Use one precise evidence-based sentence for each check.</a:t>
            </a:r>
          </a:p>
        </p:txBody>
      </p:sp>
      <p:sp>
        <p:nvSpPr>
          <p:cNvPr id="4" name="retrieval-number-1">
            <a:extLst xmlns:a="http://schemas.openxmlformats.org/drawingml/2006/main">
              <a:ext uri="{FF2B5EF4-FFF2-40B4-BE49-F238E27FC236}">
                <a16:creationId xmlns:a16="http://schemas.microsoft.com/office/drawing/2014/main" id="{8939BEEF-3B11-4FDA-A227-67662E1E2D47}"/>
              </a:ext>
            </a:extLst>
          </p:cNvPr>
          <p:cNvSpPr>
            <a:spLocks xmlns:a="http://schemas.openxmlformats.org/drawingml/2006/main" noGrp="1"/>
          </p:cNvSpPr>
          <p:nvPr/>
        </p:nvSpPr>
        <p:spPr>
          <a:xfrm xmlns:a="http://schemas.openxmlformats.org/drawingml/2006/main">
            <a:off x="685800" y="18859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01</a:t>
            </a:r>
          </a:p>
        </p:txBody>
      </p:sp>
      <p:sp>
        <p:nvSpPr>
          <p:cNvPr id="5" name="retrieval-question-1">
            <a:extLst xmlns:a="http://schemas.openxmlformats.org/drawingml/2006/main">
              <a:ext uri="{FF2B5EF4-FFF2-40B4-BE49-F238E27FC236}">
                <a16:creationId xmlns:a16="http://schemas.microsoft.com/office/drawing/2014/main" id="{7563F698-33F7-4C79-A22C-6CD4ACEEC763}"/>
              </a:ext>
            </a:extLst>
          </p:cNvPr>
          <p:cNvSpPr>
            <a:spLocks xmlns:a="http://schemas.openxmlformats.org/drawingml/2006/main" noGrp="1"/>
          </p:cNvSpPr>
          <p:nvPr/>
        </p:nvSpPr>
        <p:spPr>
          <a:xfrm xmlns:a="http://schemas.openxmlformats.org/drawingml/2006/main">
            <a:off x="1466850" y="18859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Why include travel and preparation in a schedule?</a:t>
            </a:r>
          </a:p>
        </p:txBody>
      </p:sp>
      <p:sp>
        <p:nvSpPr>
          <p:cNvPr id="6" name="retrieval-separator-1">
            <a:extLst xmlns:a="http://schemas.openxmlformats.org/drawingml/2006/main">
              <a:ext uri="{FF2B5EF4-FFF2-40B4-BE49-F238E27FC236}">
                <a16:creationId xmlns:a16="http://schemas.microsoft.com/office/drawing/2014/main" id="{357E918D-2AEC-4774-83C0-5069DF478C6B}"/>
              </a:ext>
            </a:extLst>
          </p:cNvPr>
          <p:cNvSpPr>
            <a:spLocks xmlns:a="http://schemas.openxmlformats.org/drawingml/2006/main" noGrp="1"/>
          </p:cNvSpPr>
          <p:nvPr/>
        </p:nvSpPr>
        <p:spPr>
          <a:xfrm xmlns:a="http://schemas.openxmlformats.org/drawingml/2006/main">
            <a:off x="685800" y="289560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7" name="retrieval-number-2">
            <a:extLst xmlns:a="http://schemas.openxmlformats.org/drawingml/2006/main">
              <a:ext uri="{FF2B5EF4-FFF2-40B4-BE49-F238E27FC236}">
                <a16:creationId xmlns:a16="http://schemas.microsoft.com/office/drawing/2014/main" id="{C3444A79-A6D8-4128-8AD5-08C64A38FF1B}"/>
              </a:ext>
            </a:extLst>
          </p:cNvPr>
          <p:cNvSpPr>
            <a:spLocks xmlns:a="http://schemas.openxmlformats.org/drawingml/2006/main" noGrp="1"/>
          </p:cNvSpPr>
          <p:nvPr/>
        </p:nvSpPr>
        <p:spPr>
          <a:xfrm xmlns:a="http://schemas.openxmlformats.org/drawingml/2006/main">
            <a:off x="685800" y="316230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C6572F"/>
                </a:solidFill>
                <a:latin typeface="Aptos Display"/>
                <a:ea typeface="Aptos Display"/>
                <a:cs typeface="Aptos Display"/>
              </a:defRPr>
            </a:pPr>
            <a:r>
              <a:rPr sz="2325" b="1">
                <a:solidFill>
                  <a:srgbClr val="C6572F"/>
                </a:solidFill>
                <a:latin typeface="Aptos Display"/>
                <a:ea typeface="Aptos Display"/>
                <a:cs typeface="Aptos Display"/>
              </a:rPr>
              <a:t>02</a:t>
            </a:r>
          </a:p>
        </p:txBody>
      </p:sp>
      <p:sp>
        <p:nvSpPr>
          <p:cNvPr id="8" name="retrieval-question-2">
            <a:extLst xmlns:a="http://schemas.openxmlformats.org/drawingml/2006/main">
              <a:ext uri="{FF2B5EF4-FFF2-40B4-BE49-F238E27FC236}">
                <a16:creationId xmlns:a16="http://schemas.microsoft.com/office/drawing/2014/main" id="{061461D3-62F9-4356-8150-7D0F73A80155}"/>
              </a:ext>
            </a:extLst>
          </p:cNvPr>
          <p:cNvSpPr>
            <a:spLocks xmlns:a="http://schemas.openxmlformats.org/drawingml/2006/main" noGrp="1"/>
          </p:cNvSpPr>
          <p:nvPr/>
        </p:nvSpPr>
        <p:spPr>
          <a:xfrm xmlns:a="http://schemas.openxmlformats.org/drawingml/2006/main">
            <a:off x="1466850" y="316230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Which statement avoids diagnosing a colleague?</a:t>
            </a:r>
          </a:p>
        </p:txBody>
      </p:sp>
      <p:sp>
        <p:nvSpPr>
          <p:cNvPr id="9" name="retrieval-separator-2">
            <a:extLst xmlns:a="http://schemas.openxmlformats.org/drawingml/2006/main">
              <a:ext uri="{FF2B5EF4-FFF2-40B4-BE49-F238E27FC236}">
                <a16:creationId xmlns:a16="http://schemas.microsoft.com/office/drawing/2014/main" id="{E1EB5148-F996-46CD-914A-90621F2BDDB5}"/>
              </a:ext>
            </a:extLst>
          </p:cNvPr>
          <p:cNvSpPr>
            <a:spLocks xmlns:a="http://schemas.openxmlformats.org/drawingml/2006/main" noGrp="1"/>
          </p:cNvSpPr>
          <p:nvPr/>
        </p:nvSpPr>
        <p:spPr>
          <a:xfrm xmlns:a="http://schemas.openxmlformats.org/drawingml/2006/main">
            <a:off x="685800" y="417195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0" name="retrieval-number-3">
            <a:extLst xmlns:a="http://schemas.openxmlformats.org/drawingml/2006/main">
              <a:ext uri="{FF2B5EF4-FFF2-40B4-BE49-F238E27FC236}">
                <a16:creationId xmlns:a16="http://schemas.microsoft.com/office/drawing/2014/main" id="{27824519-F776-46D1-948A-F64C36172ADE}"/>
              </a:ext>
            </a:extLst>
          </p:cNvPr>
          <p:cNvSpPr>
            <a:spLocks xmlns:a="http://schemas.openxmlformats.org/drawingml/2006/main" noGrp="1"/>
          </p:cNvSpPr>
          <p:nvPr/>
        </p:nvSpPr>
        <p:spPr>
          <a:xfrm xmlns:a="http://schemas.openxmlformats.org/drawingml/2006/main">
            <a:off x="685800" y="44386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03</a:t>
            </a:r>
          </a:p>
        </p:txBody>
      </p:sp>
      <p:sp>
        <p:nvSpPr>
          <p:cNvPr id="11" name="retrieval-question-3">
            <a:extLst xmlns:a="http://schemas.openxmlformats.org/drawingml/2006/main">
              <a:ext uri="{FF2B5EF4-FFF2-40B4-BE49-F238E27FC236}">
                <a16:creationId xmlns:a16="http://schemas.microsoft.com/office/drawing/2014/main" id="{73CF580F-3711-4A0A-B285-E516846FD5DC}"/>
              </a:ext>
            </a:extLst>
          </p:cNvPr>
          <p:cNvSpPr>
            <a:spLocks xmlns:a="http://schemas.openxmlformats.org/drawingml/2006/main" noGrp="1"/>
          </p:cNvSpPr>
          <p:nvPr/>
        </p:nvSpPr>
        <p:spPr>
          <a:xfrm xmlns:a="http://schemas.openxmlformats.org/drawingml/2006/main">
            <a:off x="1466850" y="44386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Why is age alone a weak basis for a work plan?</a:t>
            </a:r>
          </a:p>
        </p:txBody>
      </p:sp>
      <p:sp>
        <p:nvSpPr>
          <p:cNvPr id="12" name="retrieval-cycle">
            <a:extLst xmlns:a="http://schemas.openxmlformats.org/drawingml/2006/main">
              <a:ext uri="{FF2B5EF4-FFF2-40B4-BE49-F238E27FC236}">
                <a16:creationId xmlns:a16="http://schemas.microsoft.com/office/drawing/2014/main" id="{6D161F75-8180-4E7D-841B-A3522815DD58}"/>
              </a:ext>
            </a:extLst>
          </p:cNvPr>
          <p:cNvSpPr>
            <a:spLocks xmlns:a="http://schemas.openxmlformats.org/drawingml/2006/main" noGrp="1"/>
          </p:cNvSpPr>
          <p:nvPr/>
        </p:nvSpPr>
        <p:spPr>
          <a:xfrm xmlns:a="http://schemas.openxmlformats.org/drawingml/2006/main">
            <a:off x="8458200" y="1752600"/>
            <a:ext cx="3048000" cy="3714750"/>
          </a:xfrm>
          <a:prstGeom xmlns:a="http://schemas.openxmlformats.org/drawingml/2006/main" prst="roundRect">
            <a:avLst>
              <a:gd name="adj" fmla="val 5625"/>
            </a:avLst>
          </a:prstGeom>
          <a:solidFill xmlns:a="http://schemas.openxmlformats.org/drawingml/2006/main">
            <a:srgbClr val="0B2637"/>
          </a:solidFill>
          <a:ln xmlns:a="http://schemas.openxmlformats.org/drawingml/2006/main" w="0">
            <a:noFill/>
            <a:prstDash val="solid"/>
          </a:ln>
        </p:spPr>
      </p:sp>
      <p:sp>
        <p:nvSpPr>
          <p:cNvPr id="13" name="retrieval-cycle-title">
            <a:extLst xmlns:a="http://schemas.openxmlformats.org/drawingml/2006/main">
              <a:ext uri="{FF2B5EF4-FFF2-40B4-BE49-F238E27FC236}">
                <a16:creationId xmlns:a16="http://schemas.microsoft.com/office/drawing/2014/main" id="{E672B9DF-FCE7-4326-9301-9112904E8153}"/>
              </a:ext>
            </a:extLst>
          </p:cNvPr>
          <p:cNvSpPr>
            <a:spLocks xmlns:a="http://schemas.openxmlformats.org/drawingml/2006/main" noGrp="1"/>
          </p:cNvSpPr>
          <p:nvPr/>
        </p:nvSpPr>
        <p:spPr>
          <a:xfrm xmlns:a="http://schemas.openxmlformats.org/drawingml/2006/main">
            <a:off x="8763000" y="20955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A calm checking cycle</a:t>
            </a:r>
          </a:p>
        </p:txBody>
      </p:sp>
      <p:sp>
        <p:nvSpPr>
          <p:cNvPr id="14" name="retrieval-cycle-body">
            <a:extLst xmlns:a="http://schemas.openxmlformats.org/drawingml/2006/main">
              <a:ext uri="{FF2B5EF4-FFF2-40B4-BE49-F238E27FC236}">
                <a16:creationId xmlns:a16="http://schemas.microsoft.com/office/drawing/2014/main" id="{0EAD846D-EFFB-4945-9B31-099553588DF0}"/>
              </a:ext>
            </a:extLst>
          </p:cNvPr>
          <p:cNvSpPr>
            <a:spLocks xmlns:a="http://schemas.openxmlformats.org/drawingml/2006/main" noGrp="1"/>
          </p:cNvSpPr>
          <p:nvPr/>
        </p:nvSpPr>
        <p:spPr>
          <a:xfrm xmlns:a="http://schemas.openxmlformats.org/drawingml/2006/main">
            <a:off x="8763000" y="2971800"/>
            <a:ext cx="24193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1  Recall from memory</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2  Check the matching section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3  Correct the reason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4  Try the question again</a:t>
            </a:r>
          </a:p>
        </p:txBody>
      </p:sp>
      <p:sp>
        <p:nvSpPr>
          <p:cNvPr id="15" name="footer-rule-6">
            <a:extLst xmlns:a="http://schemas.openxmlformats.org/drawingml/2006/main">
              <a:ext uri="{FF2B5EF4-FFF2-40B4-BE49-F238E27FC236}">
                <a16:creationId xmlns:a16="http://schemas.microsoft.com/office/drawing/2014/main" id="{321D3F82-13C1-48E1-A6AF-451799D6B704}"/>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6" name="footer-module-6">
            <a:extLst xmlns:a="http://schemas.openxmlformats.org/drawingml/2006/main">
              <a:ext uri="{FF2B5EF4-FFF2-40B4-BE49-F238E27FC236}">
                <a16:creationId xmlns:a16="http://schemas.microsoft.com/office/drawing/2014/main" id="{3747C1C1-869C-47F5-BCC7-B80B14B518ED}"/>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M05  ·  Managing Work and Life Commitments</a:t>
            </a:r>
          </a:p>
        </p:txBody>
      </p:sp>
      <p:sp>
        <p:nvSpPr>
          <p:cNvPr id="17" name="footer-number-6">
            <a:extLst xmlns:a="http://schemas.openxmlformats.org/drawingml/2006/main">
              <a:ext uri="{FF2B5EF4-FFF2-40B4-BE49-F238E27FC236}">
                <a16:creationId xmlns:a16="http://schemas.microsoft.com/office/drawing/2014/main" id="{EB645CE9-D24E-4CA7-B156-57F04023AE68}"/>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06</a:t>
            </a:r>
          </a:p>
        </p:txBody>
      </p:sp>
    </p:spTree>
    <p:extLst>
      <p:ext uri="{BB962C8B-B14F-4D97-AF65-F5344CB8AC3E}">
        <p14:creationId xmlns:p14="http://schemas.microsoft.com/office/powerpoint/2010/main" val="1440522050"/>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7" name="module-label-7">
            <a:extLst xmlns:a="http://schemas.openxmlformats.org/drawingml/2006/main">
              <a:ext uri="{FF2B5EF4-FFF2-40B4-BE49-F238E27FC236}">
                <a16:creationId xmlns:a16="http://schemas.microsoft.com/office/drawing/2014/main" id="{05AC21DE-9A39-4D78-87B2-248EAC2BA0BA}"/>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M05</a:t>
            </a:r>
          </a:p>
        </p:txBody>
      </p:sp>
      <p:sp>
        <p:nvSpPr>
          <p:cNvPr id="2" name="slide-title-7">
            <a:extLst xmlns:a="http://schemas.openxmlformats.org/drawingml/2006/main">
              <a:ext uri="{FF2B5EF4-FFF2-40B4-BE49-F238E27FC236}">
                <a16:creationId xmlns:a16="http://schemas.microsoft.com/office/drawing/2014/main" id="{E2F5AAEB-A054-413B-BB3A-3B68277A2748}"/>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000" b="1">
                <a:solidFill>
                  <a:srgbClr val="0B2637"/>
                </a:solidFill>
                <a:latin typeface="Aptos Display"/>
                <a:ea typeface="Aptos Display"/>
                <a:cs typeface="Aptos Display"/>
              </a:defRPr>
            </a:pPr>
            <a:r>
              <a:rPr sz="3000" b="1">
                <a:solidFill>
                  <a:srgbClr val="0B2637"/>
                </a:solidFill>
                <a:latin typeface="Aptos Display"/>
                <a:ea typeface="Aptos Display"/>
                <a:cs typeface="Aptos Display"/>
              </a:rPr>
              <a:t>Build evidence that makes your reasoning visible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75fd352f88a4856"/>
          <a:srcRect xmlns:a="http://schemas.openxmlformats.org/drawingml/2006/main" l="1676" t="0" r="1676" b="0"/>
          <a:stretch xmlns:a="http://schemas.openxmlformats.org/drawingml/2006/main">
            <a:fillRect l="0" t="0" r="0" b="0"/>
          </a:stretch>
        </p:blipFill>
        <p:spPr>
          <a:xfrm xmlns:a="http://schemas.openxmlformats.org/drawingml/2006/main">
            <a:off x="8210550" y="1428750"/>
            <a:ext cx="3295650" cy="3409950"/>
          </a:xfrm>
          <a:prstGeom xmlns:a="http://schemas.openxmlformats.org/drawingml/2006/main" prst="roundRect">
            <a:avLst>
              <a:gd name="adj" fmla="val 6358"/>
            </a:avLst>
          </a:prstGeom>
        </p:spPr>
      </p:pic>
      <p:sp>
        <p:nvSpPr>
          <p:cNvPr id="4" name="guided-prompt">
            <a:extLst xmlns:a="http://schemas.openxmlformats.org/drawingml/2006/main">
              <a:ext uri="{FF2B5EF4-FFF2-40B4-BE49-F238E27FC236}">
                <a16:creationId xmlns:a16="http://schemas.microsoft.com/office/drawing/2014/main" id="{4B0F8569-7609-489E-B3B0-17C2493EE8DB}"/>
              </a:ext>
            </a:extLst>
          </p:cNvPr>
          <p:cNvSpPr>
            <a:spLocks xmlns:a="http://schemas.openxmlformats.org/drawingml/2006/main" noGrp="1"/>
          </p:cNvSpPr>
          <p:nvPr/>
        </p:nvSpPr>
        <p:spPr>
          <a:xfrm xmlns:a="http://schemas.openxmlformats.org/drawingml/2006/main">
            <a:off x="685800" y="1352550"/>
            <a:ext cx="7067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2025" b="1">
                <a:solidFill>
                  <a:srgbClr val="0B2637"/>
                </a:solidFill>
                <a:latin typeface="Aptos Display"/>
                <a:ea typeface="Aptos Display"/>
                <a:cs typeface="Aptos Display"/>
              </a:defRPr>
            </a:pPr>
            <a:r>
              <a:rPr sz="2025" b="1">
                <a:solidFill>
                  <a:srgbClr val="0B2637"/>
                </a:solidFill>
                <a:latin typeface="Aptos Display"/>
                <a:ea typeface="Aptos Display"/>
                <a:cs typeface="Aptos Display"/>
              </a:rPr>
              <a:t>Evaluate three responses to a major life-stage change and recommend a reviewable work–life plan.</a:t>
            </a:r>
          </a:p>
        </p:txBody>
      </p:sp>
      <p:sp>
        <p:nvSpPr>
          <p:cNvPr id="5" name="guided-step-number-1">
            <a:extLst xmlns:a="http://schemas.openxmlformats.org/drawingml/2006/main">
              <a:ext uri="{FF2B5EF4-FFF2-40B4-BE49-F238E27FC236}">
                <a16:creationId xmlns:a16="http://schemas.microsoft.com/office/drawing/2014/main" id="{D06EEC65-C5AA-4D39-ABF4-228AAF71540C}"/>
              </a:ext>
            </a:extLst>
          </p:cNvPr>
          <p:cNvSpPr>
            <a:spLocks xmlns:a="http://schemas.openxmlformats.org/drawingml/2006/main" noGrp="1"/>
          </p:cNvSpPr>
          <p:nvPr/>
        </p:nvSpPr>
        <p:spPr>
          <a:xfrm xmlns:a="http://schemas.openxmlformats.org/drawingml/2006/main">
            <a:off x="6858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01</a:t>
            </a:r>
          </a:p>
        </p:txBody>
      </p:sp>
      <p:sp>
        <p:nvSpPr>
          <p:cNvPr id="6" name="guided-step-label-1">
            <a:extLst xmlns:a="http://schemas.openxmlformats.org/drawingml/2006/main">
              <a:ext uri="{FF2B5EF4-FFF2-40B4-BE49-F238E27FC236}">
                <a16:creationId xmlns:a16="http://schemas.microsoft.com/office/drawing/2014/main" id="{82460584-2525-49DC-A8F9-F1E4790DC28C}"/>
              </a:ext>
            </a:extLst>
          </p:cNvPr>
          <p:cNvSpPr>
            <a:spLocks xmlns:a="http://schemas.openxmlformats.org/drawingml/2006/main" noGrp="1"/>
          </p:cNvSpPr>
          <p:nvPr/>
        </p:nvSpPr>
        <p:spPr>
          <a:xfrm xmlns:a="http://schemas.openxmlformats.org/drawingml/2006/main">
            <a:off x="6858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READ</a:t>
            </a:r>
          </a:p>
        </p:txBody>
      </p:sp>
      <p:sp>
        <p:nvSpPr>
          <p:cNvPr id="7" name="guided-step-detail-1">
            <a:extLst xmlns:a="http://schemas.openxmlformats.org/drawingml/2006/main">
              <a:ext uri="{FF2B5EF4-FFF2-40B4-BE49-F238E27FC236}">
                <a16:creationId xmlns:a16="http://schemas.microsoft.com/office/drawing/2014/main" id="{22F0377B-7A30-449F-BA84-F4ED4FE13B12}"/>
              </a:ext>
            </a:extLst>
          </p:cNvPr>
          <p:cNvSpPr>
            <a:spLocks xmlns:a="http://schemas.openxmlformats.org/drawingml/2006/main" noGrp="1"/>
          </p:cNvSpPr>
          <p:nvPr/>
        </p:nvSpPr>
        <p:spPr>
          <a:xfrm xmlns:a="http://schemas.openxmlformats.org/drawingml/2006/main">
            <a:off x="6858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Identify the command verb and the relationship.</a:t>
            </a:r>
          </a:p>
        </p:txBody>
      </p:sp>
      <p:sp>
        <p:nvSpPr>
          <p:cNvPr id="8" name="guided-step-line-1">
            <a:extLst xmlns:a="http://schemas.openxmlformats.org/drawingml/2006/main">
              <a:ext uri="{FF2B5EF4-FFF2-40B4-BE49-F238E27FC236}">
                <a16:creationId xmlns:a16="http://schemas.microsoft.com/office/drawing/2014/main" id="{65B62F38-3BB6-410B-9EF4-D78FAC3072CD}"/>
              </a:ext>
            </a:extLst>
          </p:cNvPr>
          <p:cNvSpPr>
            <a:spLocks xmlns:a="http://schemas.openxmlformats.org/drawingml/2006/main" noGrp="1"/>
          </p:cNvSpPr>
          <p:nvPr/>
        </p:nvSpPr>
        <p:spPr>
          <a:xfrm xmlns:a="http://schemas.openxmlformats.org/drawingml/2006/main">
            <a:off x="19812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9" name="guided-step-number-2">
            <a:extLst xmlns:a="http://schemas.openxmlformats.org/drawingml/2006/main">
              <a:ext uri="{FF2B5EF4-FFF2-40B4-BE49-F238E27FC236}">
                <a16:creationId xmlns:a16="http://schemas.microsoft.com/office/drawing/2014/main" id="{838C0A79-B892-45B8-AD7B-D2426C3693CD}"/>
              </a:ext>
            </a:extLst>
          </p:cNvPr>
          <p:cNvSpPr>
            <a:spLocks xmlns:a="http://schemas.openxmlformats.org/drawingml/2006/main" noGrp="1"/>
          </p:cNvSpPr>
          <p:nvPr/>
        </p:nvSpPr>
        <p:spPr>
          <a:xfrm xmlns:a="http://schemas.openxmlformats.org/drawingml/2006/main">
            <a:off x="24384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02</a:t>
            </a:r>
          </a:p>
        </p:txBody>
      </p:sp>
      <p:sp>
        <p:nvSpPr>
          <p:cNvPr id="10" name="guided-step-label-2">
            <a:extLst xmlns:a="http://schemas.openxmlformats.org/drawingml/2006/main">
              <a:ext uri="{FF2B5EF4-FFF2-40B4-BE49-F238E27FC236}">
                <a16:creationId xmlns:a16="http://schemas.microsoft.com/office/drawing/2014/main" id="{ECEDBB3E-4BCE-4B4C-AFB8-A67740E4AFB4}"/>
              </a:ext>
            </a:extLst>
          </p:cNvPr>
          <p:cNvSpPr>
            <a:spLocks xmlns:a="http://schemas.openxmlformats.org/drawingml/2006/main" noGrp="1"/>
          </p:cNvSpPr>
          <p:nvPr/>
        </p:nvSpPr>
        <p:spPr>
          <a:xfrm xmlns:a="http://schemas.openxmlformats.org/drawingml/2006/main">
            <a:off x="24384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SELECT</a:t>
            </a:r>
          </a:p>
        </p:txBody>
      </p:sp>
      <p:sp>
        <p:nvSpPr>
          <p:cNvPr id="11" name="guided-step-detail-2">
            <a:extLst xmlns:a="http://schemas.openxmlformats.org/drawingml/2006/main">
              <a:ext uri="{FF2B5EF4-FFF2-40B4-BE49-F238E27FC236}">
                <a16:creationId xmlns:a16="http://schemas.microsoft.com/office/drawing/2014/main" id="{30518EE8-C9E3-4C7C-A0E2-3FB1D53A4A7E}"/>
              </a:ext>
            </a:extLst>
          </p:cNvPr>
          <p:cNvSpPr>
            <a:spLocks xmlns:a="http://schemas.openxmlformats.org/drawingml/2006/main" noGrp="1"/>
          </p:cNvSpPr>
          <p:nvPr/>
        </p:nvSpPr>
        <p:spPr>
          <a:xfrm xmlns:a="http://schemas.openxmlformats.org/drawingml/2006/main">
            <a:off x="24384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Choose relevant course evidence.</a:t>
            </a:r>
          </a:p>
        </p:txBody>
      </p:sp>
      <p:sp>
        <p:nvSpPr>
          <p:cNvPr id="12" name="guided-step-line-2">
            <a:extLst xmlns:a="http://schemas.openxmlformats.org/drawingml/2006/main">
              <a:ext uri="{FF2B5EF4-FFF2-40B4-BE49-F238E27FC236}">
                <a16:creationId xmlns:a16="http://schemas.microsoft.com/office/drawing/2014/main" id="{5E807230-7F99-4BFF-A5E7-775DDBA52FA5}"/>
              </a:ext>
            </a:extLst>
          </p:cNvPr>
          <p:cNvSpPr>
            <a:spLocks xmlns:a="http://schemas.openxmlformats.org/drawingml/2006/main" noGrp="1"/>
          </p:cNvSpPr>
          <p:nvPr/>
        </p:nvSpPr>
        <p:spPr>
          <a:xfrm xmlns:a="http://schemas.openxmlformats.org/drawingml/2006/main">
            <a:off x="37338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3" name="guided-step-number-3">
            <a:extLst xmlns:a="http://schemas.openxmlformats.org/drawingml/2006/main">
              <a:ext uri="{FF2B5EF4-FFF2-40B4-BE49-F238E27FC236}">
                <a16:creationId xmlns:a16="http://schemas.microsoft.com/office/drawing/2014/main" id="{56FB84E0-2E3E-4142-B7E2-46355B48E26C}"/>
              </a:ext>
            </a:extLst>
          </p:cNvPr>
          <p:cNvSpPr>
            <a:spLocks xmlns:a="http://schemas.openxmlformats.org/drawingml/2006/main" noGrp="1"/>
          </p:cNvSpPr>
          <p:nvPr/>
        </p:nvSpPr>
        <p:spPr>
          <a:xfrm xmlns:a="http://schemas.openxmlformats.org/drawingml/2006/main">
            <a:off x="41910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C6572F"/>
                </a:solidFill>
                <a:latin typeface="Aptos Display"/>
                <a:ea typeface="Aptos Display"/>
                <a:cs typeface="Aptos Display"/>
              </a:defRPr>
            </a:pPr>
            <a:r>
              <a:rPr sz="2025" b="1">
                <a:solidFill>
                  <a:srgbClr val="C6572F"/>
                </a:solidFill>
                <a:latin typeface="Aptos Display"/>
                <a:ea typeface="Aptos Display"/>
                <a:cs typeface="Aptos Display"/>
              </a:rPr>
              <a:t>03</a:t>
            </a:r>
          </a:p>
        </p:txBody>
      </p:sp>
      <p:sp>
        <p:nvSpPr>
          <p:cNvPr id="14" name="guided-step-label-3">
            <a:extLst xmlns:a="http://schemas.openxmlformats.org/drawingml/2006/main">
              <a:ext uri="{FF2B5EF4-FFF2-40B4-BE49-F238E27FC236}">
                <a16:creationId xmlns:a16="http://schemas.microsoft.com/office/drawing/2014/main" id="{D52DC4F8-9203-4349-8C82-8778E83FB05B}"/>
              </a:ext>
            </a:extLst>
          </p:cNvPr>
          <p:cNvSpPr>
            <a:spLocks xmlns:a="http://schemas.openxmlformats.org/drawingml/2006/main" noGrp="1"/>
          </p:cNvSpPr>
          <p:nvPr/>
        </p:nvSpPr>
        <p:spPr>
          <a:xfrm xmlns:a="http://schemas.openxmlformats.org/drawingml/2006/main">
            <a:off x="41910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EXPLAIN</a:t>
            </a:r>
          </a:p>
        </p:txBody>
      </p:sp>
      <p:sp>
        <p:nvSpPr>
          <p:cNvPr id="15" name="guided-step-detail-3">
            <a:extLst xmlns:a="http://schemas.openxmlformats.org/drawingml/2006/main">
              <a:ext uri="{FF2B5EF4-FFF2-40B4-BE49-F238E27FC236}">
                <a16:creationId xmlns:a16="http://schemas.microsoft.com/office/drawing/2014/main" id="{F3F93BF2-F5EB-4775-98C7-86E0145BB5AE}"/>
              </a:ext>
            </a:extLst>
          </p:cNvPr>
          <p:cNvSpPr>
            <a:spLocks xmlns:a="http://schemas.openxmlformats.org/drawingml/2006/main" noGrp="1"/>
          </p:cNvSpPr>
          <p:nvPr/>
        </p:nvSpPr>
        <p:spPr>
          <a:xfrm xmlns:a="http://schemas.openxmlformats.org/drawingml/2006/main">
            <a:off x="41910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Connect evidence to a supported judgement.</a:t>
            </a:r>
          </a:p>
        </p:txBody>
      </p:sp>
      <p:sp>
        <p:nvSpPr>
          <p:cNvPr id="16" name="guided-step-line-3">
            <a:extLst xmlns:a="http://schemas.openxmlformats.org/drawingml/2006/main">
              <a:ext uri="{FF2B5EF4-FFF2-40B4-BE49-F238E27FC236}">
                <a16:creationId xmlns:a16="http://schemas.microsoft.com/office/drawing/2014/main" id="{F85FF505-7D7D-445C-BE39-F1BCE1C4F1F5}"/>
              </a:ext>
            </a:extLst>
          </p:cNvPr>
          <p:cNvSpPr>
            <a:spLocks xmlns:a="http://schemas.openxmlformats.org/drawingml/2006/main" noGrp="1"/>
          </p:cNvSpPr>
          <p:nvPr/>
        </p:nvSpPr>
        <p:spPr>
          <a:xfrm xmlns:a="http://schemas.openxmlformats.org/drawingml/2006/main">
            <a:off x="54864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7" name="guided-step-number-4">
            <a:extLst xmlns:a="http://schemas.openxmlformats.org/drawingml/2006/main">
              <a:ext uri="{FF2B5EF4-FFF2-40B4-BE49-F238E27FC236}">
                <a16:creationId xmlns:a16="http://schemas.microsoft.com/office/drawing/2014/main" id="{FC723D14-2917-435C-A962-CBA823CF1DDA}"/>
              </a:ext>
            </a:extLst>
          </p:cNvPr>
          <p:cNvSpPr>
            <a:spLocks xmlns:a="http://schemas.openxmlformats.org/drawingml/2006/main" noGrp="1"/>
          </p:cNvSpPr>
          <p:nvPr/>
        </p:nvSpPr>
        <p:spPr>
          <a:xfrm xmlns:a="http://schemas.openxmlformats.org/drawingml/2006/main">
            <a:off x="59436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04</a:t>
            </a:r>
          </a:p>
        </p:txBody>
      </p:sp>
      <p:sp>
        <p:nvSpPr>
          <p:cNvPr id="18" name="guided-step-label-4">
            <a:extLst xmlns:a="http://schemas.openxmlformats.org/drawingml/2006/main">
              <a:ext uri="{FF2B5EF4-FFF2-40B4-BE49-F238E27FC236}">
                <a16:creationId xmlns:a16="http://schemas.microsoft.com/office/drawing/2014/main" id="{CE27FFED-E368-4CE6-9425-B15D2AF51EDD}"/>
              </a:ext>
            </a:extLst>
          </p:cNvPr>
          <p:cNvSpPr>
            <a:spLocks xmlns:a="http://schemas.openxmlformats.org/drawingml/2006/main" noGrp="1"/>
          </p:cNvSpPr>
          <p:nvPr/>
        </p:nvSpPr>
        <p:spPr>
          <a:xfrm xmlns:a="http://schemas.openxmlformats.org/drawingml/2006/main">
            <a:off x="59436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CHECK</a:t>
            </a:r>
          </a:p>
        </p:txBody>
      </p:sp>
      <p:sp>
        <p:nvSpPr>
          <p:cNvPr id="19" name="guided-step-detail-4">
            <a:extLst xmlns:a="http://schemas.openxmlformats.org/drawingml/2006/main">
              <a:ext uri="{FF2B5EF4-FFF2-40B4-BE49-F238E27FC236}">
                <a16:creationId xmlns:a16="http://schemas.microsoft.com/office/drawing/2014/main" id="{5FCBA886-DE85-476F-8E8B-352BE7F8AADC}"/>
              </a:ext>
            </a:extLst>
          </p:cNvPr>
          <p:cNvSpPr>
            <a:spLocks xmlns:a="http://schemas.openxmlformats.org/drawingml/2006/main" noGrp="1"/>
          </p:cNvSpPr>
          <p:nvPr/>
        </p:nvSpPr>
        <p:spPr>
          <a:xfrm xmlns:a="http://schemas.openxmlformats.org/drawingml/2006/main">
            <a:off x="59436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Answer every part and test the criteria.</a:t>
            </a:r>
          </a:p>
        </p:txBody>
      </p:sp>
      <p:sp>
        <p:nvSpPr>
          <p:cNvPr id="20" name="guided-success-band">
            <a:extLst xmlns:a="http://schemas.openxmlformats.org/drawingml/2006/main">
              <a:ext uri="{FF2B5EF4-FFF2-40B4-BE49-F238E27FC236}">
                <a16:creationId xmlns:a16="http://schemas.microsoft.com/office/drawing/2014/main" id="{CAA830DB-D115-4851-82EA-BECE01BE9F52}"/>
              </a:ext>
            </a:extLst>
          </p:cNvPr>
          <p:cNvSpPr>
            <a:spLocks xmlns:a="http://schemas.openxmlformats.org/drawingml/2006/main" noGrp="1"/>
          </p:cNvSpPr>
          <p:nvPr/>
        </p:nvSpPr>
        <p:spPr>
          <a:xfrm xmlns:a="http://schemas.openxmlformats.org/drawingml/2006/main">
            <a:off x="685800" y="5410200"/>
            <a:ext cx="10820400" cy="742950"/>
          </a:xfrm>
          <a:prstGeom xmlns:a="http://schemas.openxmlformats.org/drawingml/2006/main" prst="roundRect">
            <a:avLst>
              <a:gd name="adj" fmla="val 17949"/>
            </a:avLst>
          </a:prstGeom>
          <a:solidFill xmlns:a="http://schemas.openxmlformats.org/drawingml/2006/main">
            <a:srgbClr val="E5EFEA"/>
          </a:solidFill>
          <a:ln xmlns:a="http://schemas.openxmlformats.org/drawingml/2006/main" w="0">
            <a:noFill/>
            <a:prstDash val="solid"/>
          </a:ln>
        </p:spPr>
      </p:sp>
      <p:sp>
        <p:nvSpPr>
          <p:cNvPr id="21" name="guided-success-label">
            <a:extLst xmlns:a="http://schemas.openxmlformats.org/drawingml/2006/main">
              <a:ext uri="{FF2B5EF4-FFF2-40B4-BE49-F238E27FC236}">
                <a16:creationId xmlns:a16="http://schemas.microsoft.com/office/drawing/2014/main" id="{E4E7308F-DABE-4497-8068-FBBE611F3F4E}"/>
              </a:ext>
            </a:extLst>
          </p:cNvPr>
          <p:cNvSpPr>
            <a:spLocks xmlns:a="http://schemas.openxmlformats.org/drawingml/2006/main" noGrp="1"/>
          </p:cNvSpPr>
          <p:nvPr/>
        </p:nvSpPr>
        <p:spPr>
          <a:xfrm xmlns:a="http://schemas.openxmlformats.org/drawingml/2006/main">
            <a:off x="933450" y="55054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CHECK YOUR RESPONSE</a:t>
            </a:r>
          </a:p>
        </p:txBody>
      </p:sp>
      <p:sp>
        <p:nvSpPr>
          <p:cNvPr id="22" name="guided-success-text">
            <a:extLst xmlns:a="http://schemas.openxmlformats.org/drawingml/2006/main">
              <a:ext uri="{FF2B5EF4-FFF2-40B4-BE49-F238E27FC236}">
                <a16:creationId xmlns:a16="http://schemas.microsoft.com/office/drawing/2014/main" id="{7D9875A7-9535-4C15-8F4C-8BE99476FC35}"/>
              </a:ext>
            </a:extLst>
          </p:cNvPr>
          <p:cNvSpPr>
            <a:spLocks xmlns:a="http://schemas.openxmlformats.org/drawingml/2006/main" noGrp="1"/>
          </p:cNvSpPr>
          <p:nvPr/>
        </p:nvSpPr>
        <p:spPr>
          <a:xfrm xmlns:a="http://schemas.openxmlformats.org/drawingml/2006/main">
            <a:off x="933450" y="5715000"/>
            <a:ext cx="1032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Avoids age or life-stage stereotypes.</a:t>
            </a:r>
          </a:p>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Balances short-term stability with longer-term purpose.</a:t>
            </a:r>
          </a:p>
        </p:txBody>
      </p:sp>
      <p:sp>
        <p:nvSpPr>
          <p:cNvPr id="23" name="guided-visual-notice">
            <a:extLst xmlns:a="http://schemas.openxmlformats.org/drawingml/2006/main">
              <a:ext uri="{FF2B5EF4-FFF2-40B4-BE49-F238E27FC236}">
                <a16:creationId xmlns:a16="http://schemas.microsoft.com/office/drawing/2014/main" id="{99F5590F-121E-44F5-91D9-93FD2137E895}"/>
              </a:ext>
            </a:extLst>
          </p:cNvPr>
          <p:cNvSpPr>
            <a:spLocks xmlns:a="http://schemas.openxmlformats.org/drawingml/2006/main" noGrp="1"/>
          </p:cNvSpPr>
          <p:nvPr/>
        </p:nvSpPr>
        <p:spPr>
          <a:xfrm xmlns:a="http://schemas.openxmlformats.org/drawingml/2006/main">
            <a:off x="8210550" y="4876800"/>
            <a:ext cx="329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0">
                <a:solidFill>
                  <a:srgbClr val="52616A"/>
                </a:solidFill>
                <a:latin typeface="Aptos"/>
                <a:ea typeface="Aptos"/>
                <a:cs typeface="Aptos"/>
              </a:defRPr>
            </a:pPr>
            <a:r>
              <a:rPr sz="1050" b="0">
                <a:solidFill>
                  <a:srgbClr val="52616A"/>
                </a:solidFill>
                <a:latin typeface="Aptos"/>
                <a:ea typeface="Aptos"/>
                <a:cs typeface="Aptos"/>
              </a:rPr>
              <a:t>Notice the different evidence types and how they are organised. Which item shows the work, and which item helps explain the learning?</a:t>
            </a:r>
          </a:p>
        </p:txBody>
      </p:sp>
      <p:sp>
        <p:nvSpPr>
          <p:cNvPr id="24" name="footer-rule-7">
            <a:extLst xmlns:a="http://schemas.openxmlformats.org/drawingml/2006/main">
              <a:ext uri="{FF2B5EF4-FFF2-40B4-BE49-F238E27FC236}">
                <a16:creationId xmlns:a16="http://schemas.microsoft.com/office/drawing/2014/main" id="{C436FBB6-03B6-4957-B35B-8DE711021FAD}"/>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25" name="footer-module-7">
            <a:extLst xmlns:a="http://schemas.openxmlformats.org/drawingml/2006/main">
              <a:ext uri="{FF2B5EF4-FFF2-40B4-BE49-F238E27FC236}">
                <a16:creationId xmlns:a16="http://schemas.microsoft.com/office/drawing/2014/main" id="{3E5961AB-17D7-486E-9CF9-216038A05174}"/>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M05  ·  Managing Work and Life Commitments</a:t>
            </a:r>
          </a:p>
        </p:txBody>
      </p:sp>
      <p:sp>
        <p:nvSpPr>
          <p:cNvPr id="26" name="footer-number-7">
            <a:extLst xmlns:a="http://schemas.openxmlformats.org/drawingml/2006/main">
              <a:ext uri="{FF2B5EF4-FFF2-40B4-BE49-F238E27FC236}">
                <a16:creationId xmlns:a16="http://schemas.microsoft.com/office/drawing/2014/main" id="{06777271-A09C-428F-95CA-A36C70578F75}"/>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07</a:t>
            </a:r>
          </a:p>
        </p:txBody>
      </p:sp>
    </p:spTree>
    <p:extLst>
      <p:ext uri="{BB962C8B-B14F-4D97-AF65-F5344CB8AC3E}">
        <p14:creationId xmlns:p14="http://schemas.microsoft.com/office/powerpoint/2010/main" val="521814679"/>
      </p:ext>
    </p:extLst>
  </p:cSld>
</p:sld>
</file>

<file path=ppt/slides/slide8.xml><?xml version="1.0" encoding="utf-8"?>
<p:sld xmlns:p="http://schemas.openxmlformats.org/presentationml/2006/main">
  <p:cSld>
    <p:bg>
      <p:bgPr>
        <a:solidFill xmlns:a="http://schemas.openxmlformats.org/drawingml/2006/main">
          <a:srgbClr val="1F5141"/>
        </a:solidFill>
      </p:bgPr>
    </p:bg>
    <p:spTree>
      <p:nvGrpSpPr>
        <p:cNvPr id="1" name=""/>
        <p:cNvGrpSpPr/>
        <p:nvPr/>
      </p:nvGrpSpPr>
      <p:grpSpPr>
        <a:xfrm xmlns:a="http://schemas.openxmlformats.org/drawingml/2006/main"/>
      </p:grpSpPr>
      <p:sp>
        <p:nvSpPr>
          <p:cNvPr id="18" name="module-label-8">
            <a:extLst xmlns:a="http://schemas.openxmlformats.org/drawingml/2006/main">
              <a:ext uri="{FF2B5EF4-FFF2-40B4-BE49-F238E27FC236}">
                <a16:creationId xmlns:a16="http://schemas.microsoft.com/office/drawing/2014/main" id="{B876F5CF-F4EC-4201-B132-9CC496280343}"/>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12  ·  M05</a:t>
            </a:r>
          </a:p>
        </p:txBody>
      </p:sp>
      <p:sp>
        <p:nvSpPr>
          <p:cNvPr id="2" name="slide-title-8">
            <a:extLst xmlns:a="http://schemas.openxmlformats.org/drawingml/2006/main">
              <a:ext uri="{FF2B5EF4-FFF2-40B4-BE49-F238E27FC236}">
                <a16:creationId xmlns:a16="http://schemas.microsoft.com/office/drawing/2014/main" id="{ECF30CD5-9EB6-43BE-A19F-C84E0355B587}"/>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Leave with evidence and one useful next step</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b56e3f49d034402"/>
          <a:srcRect xmlns:a="http://schemas.openxmlformats.org/drawingml/2006/main" l="0" t="1263" r="0" b="1263"/>
          <a:stretch xmlns:a="http://schemas.openxmlformats.org/drawingml/2006/main">
            <a:fillRect l="0" t="0" r="0" b="0"/>
          </a:stretch>
        </p:blipFill>
        <p:spPr>
          <a:xfrm xmlns:a="http://schemas.openxmlformats.org/drawingml/2006/main">
            <a:off x="7734300" y="1333500"/>
            <a:ext cx="3771900" cy="3676650"/>
          </a:xfrm>
          <a:prstGeom xmlns:a="http://schemas.openxmlformats.org/drawingml/2006/main" prst="roundRect">
            <a:avLst>
              <a:gd name="adj" fmla="val 5699"/>
            </a:avLst>
          </a:prstGeom>
        </p:spPr>
      </p:pic>
      <p:sp>
        <p:nvSpPr>
          <p:cNvPr id="4" name="close-number-1">
            <a:extLst xmlns:a="http://schemas.openxmlformats.org/drawingml/2006/main">
              <a:ext uri="{FF2B5EF4-FFF2-40B4-BE49-F238E27FC236}">
                <a16:creationId xmlns:a16="http://schemas.microsoft.com/office/drawing/2014/main" id="{55BF4191-921C-4C2D-AC1F-2433A82703FB}"/>
              </a:ext>
            </a:extLst>
          </p:cNvPr>
          <p:cNvSpPr>
            <a:spLocks xmlns:a="http://schemas.openxmlformats.org/drawingml/2006/main" noGrp="1"/>
          </p:cNvSpPr>
          <p:nvPr/>
        </p:nvSpPr>
        <p:spPr>
          <a:xfrm xmlns:a="http://schemas.openxmlformats.org/drawingml/2006/main">
            <a:off x="685800" y="14859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01</a:t>
            </a:r>
          </a:p>
        </p:txBody>
      </p:sp>
      <p:sp>
        <p:nvSpPr>
          <p:cNvPr id="5" name="close-label-1">
            <a:extLst xmlns:a="http://schemas.openxmlformats.org/drawingml/2006/main">
              <a:ext uri="{FF2B5EF4-FFF2-40B4-BE49-F238E27FC236}">
                <a16:creationId xmlns:a16="http://schemas.microsoft.com/office/drawing/2014/main" id="{BA96FE71-C58E-452B-B5BA-A5090243C572}"/>
              </a:ext>
            </a:extLst>
          </p:cNvPr>
          <p:cNvSpPr>
            <a:spLocks xmlns:a="http://schemas.openxmlformats.org/drawingml/2006/main" noGrp="1"/>
          </p:cNvSpPr>
          <p:nvPr/>
        </p:nvSpPr>
        <p:spPr>
          <a:xfrm xmlns:a="http://schemas.openxmlformats.org/drawingml/2006/main">
            <a:off x="1638300" y="15049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RECALL</a:t>
            </a:r>
          </a:p>
        </p:txBody>
      </p:sp>
      <p:sp>
        <p:nvSpPr>
          <p:cNvPr id="6" name="close-body-1">
            <a:extLst xmlns:a="http://schemas.openxmlformats.org/drawingml/2006/main">
              <a:ext uri="{FF2B5EF4-FFF2-40B4-BE49-F238E27FC236}">
                <a16:creationId xmlns:a16="http://schemas.microsoft.com/office/drawing/2014/main" id="{A49AA32F-2058-499E-A09D-955E675E58CA}"/>
              </a:ext>
            </a:extLst>
          </p:cNvPr>
          <p:cNvSpPr>
            <a:spLocks xmlns:a="http://schemas.openxmlformats.org/drawingml/2006/main" noGrp="1"/>
          </p:cNvSpPr>
          <p:nvPr/>
        </p:nvSpPr>
        <p:spPr>
          <a:xfrm xmlns:a="http://schemas.openxmlformats.org/drawingml/2006/main">
            <a:off x="1638300" y="18859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Name one idea you can now explain accurately.</a:t>
            </a:r>
          </a:p>
        </p:txBody>
      </p:sp>
      <p:sp>
        <p:nvSpPr>
          <p:cNvPr id="7" name="close-number-2">
            <a:extLst xmlns:a="http://schemas.openxmlformats.org/drawingml/2006/main">
              <a:ext uri="{FF2B5EF4-FFF2-40B4-BE49-F238E27FC236}">
                <a16:creationId xmlns:a16="http://schemas.microsoft.com/office/drawing/2014/main" id="{6C60A355-D3CA-4E57-BEED-A7B5BB7FF5D0}"/>
              </a:ext>
            </a:extLst>
          </p:cNvPr>
          <p:cNvSpPr>
            <a:spLocks xmlns:a="http://schemas.openxmlformats.org/drawingml/2006/main" noGrp="1"/>
          </p:cNvSpPr>
          <p:nvPr/>
        </p:nvSpPr>
        <p:spPr>
          <a:xfrm xmlns:a="http://schemas.openxmlformats.org/drawingml/2006/main">
            <a:off x="685800" y="27051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02</a:t>
            </a:r>
          </a:p>
        </p:txBody>
      </p:sp>
      <p:sp>
        <p:nvSpPr>
          <p:cNvPr id="8" name="close-label-2">
            <a:extLst xmlns:a="http://schemas.openxmlformats.org/drawingml/2006/main">
              <a:ext uri="{FF2B5EF4-FFF2-40B4-BE49-F238E27FC236}">
                <a16:creationId xmlns:a16="http://schemas.microsoft.com/office/drawing/2014/main" id="{7F59D20C-4A91-4376-93C3-9AE8FA22A833}"/>
              </a:ext>
            </a:extLst>
          </p:cNvPr>
          <p:cNvSpPr>
            <a:spLocks xmlns:a="http://schemas.openxmlformats.org/drawingml/2006/main" noGrp="1"/>
          </p:cNvSpPr>
          <p:nvPr/>
        </p:nvSpPr>
        <p:spPr>
          <a:xfrm xmlns:a="http://schemas.openxmlformats.org/drawingml/2006/main">
            <a:off x="1638300" y="27241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EVIDENCE</a:t>
            </a:r>
          </a:p>
        </p:txBody>
      </p:sp>
      <p:sp>
        <p:nvSpPr>
          <p:cNvPr id="9" name="close-body-2">
            <a:extLst xmlns:a="http://schemas.openxmlformats.org/drawingml/2006/main">
              <a:ext uri="{FF2B5EF4-FFF2-40B4-BE49-F238E27FC236}">
                <a16:creationId xmlns:a16="http://schemas.microsoft.com/office/drawing/2014/main" id="{D975B61B-399F-4CD7-A3A0-EE5B1C86189F}"/>
              </a:ext>
            </a:extLst>
          </p:cNvPr>
          <p:cNvSpPr>
            <a:spLocks xmlns:a="http://schemas.openxmlformats.org/drawingml/2006/main" noGrp="1"/>
          </p:cNvSpPr>
          <p:nvPr/>
        </p:nvSpPr>
        <p:spPr>
          <a:xfrm xmlns:a="http://schemas.openxmlformats.org/drawingml/2006/main">
            <a:off x="1638300" y="31051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Record the detail that makes your explanation convincing.</a:t>
            </a:r>
          </a:p>
        </p:txBody>
      </p:sp>
      <p:sp>
        <p:nvSpPr>
          <p:cNvPr id="10" name="close-number-3">
            <a:extLst xmlns:a="http://schemas.openxmlformats.org/drawingml/2006/main">
              <a:ext uri="{FF2B5EF4-FFF2-40B4-BE49-F238E27FC236}">
                <a16:creationId xmlns:a16="http://schemas.microsoft.com/office/drawing/2014/main" id="{4195CD2A-EF3E-4E3A-ADBD-FFC98E1B620A}"/>
              </a:ext>
            </a:extLst>
          </p:cNvPr>
          <p:cNvSpPr>
            <a:spLocks xmlns:a="http://schemas.openxmlformats.org/drawingml/2006/main" noGrp="1"/>
          </p:cNvSpPr>
          <p:nvPr/>
        </p:nvSpPr>
        <p:spPr>
          <a:xfrm xmlns:a="http://schemas.openxmlformats.org/drawingml/2006/main">
            <a:off x="685800" y="39243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03</a:t>
            </a:r>
          </a:p>
        </p:txBody>
      </p:sp>
      <p:sp>
        <p:nvSpPr>
          <p:cNvPr id="11" name="close-label-3">
            <a:extLst xmlns:a="http://schemas.openxmlformats.org/drawingml/2006/main">
              <a:ext uri="{FF2B5EF4-FFF2-40B4-BE49-F238E27FC236}">
                <a16:creationId xmlns:a16="http://schemas.microsoft.com/office/drawing/2014/main" id="{919091F7-A022-4E60-B501-8612A6361E55}"/>
              </a:ext>
            </a:extLst>
          </p:cNvPr>
          <p:cNvSpPr>
            <a:spLocks xmlns:a="http://schemas.openxmlformats.org/drawingml/2006/main" noGrp="1"/>
          </p:cNvSpPr>
          <p:nvPr/>
        </p:nvSpPr>
        <p:spPr>
          <a:xfrm xmlns:a="http://schemas.openxmlformats.org/drawingml/2006/main">
            <a:off x="1638300" y="39433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NEXT</a:t>
            </a:r>
          </a:p>
        </p:txBody>
      </p:sp>
      <p:sp>
        <p:nvSpPr>
          <p:cNvPr id="12" name="close-body-3">
            <a:extLst xmlns:a="http://schemas.openxmlformats.org/drawingml/2006/main">
              <a:ext uri="{FF2B5EF4-FFF2-40B4-BE49-F238E27FC236}">
                <a16:creationId xmlns:a16="http://schemas.microsoft.com/office/drawing/2014/main" id="{7050D995-0D01-4881-B01E-5F93DD003BB3}"/>
              </a:ext>
            </a:extLst>
          </p:cNvPr>
          <p:cNvSpPr>
            <a:spLocks xmlns:a="http://schemas.openxmlformats.org/drawingml/2006/main" noGrp="1"/>
          </p:cNvSpPr>
          <p:nvPr/>
        </p:nvSpPr>
        <p:spPr>
          <a:xfrm xmlns:a="http://schemas.openxmlformats.org/drawingml/2006/main">
            <a:off x="1638300" y="43243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Save the slide 7 response, then note one question about adapting plans across changing life stages.</a:t>
            </a:r>
          </a:p>
        </p:txBody>
      </p:sp>
      <p:sp>
        <p:nvSpPr>
          <p:cNvPr id="13" name="close-boundary">
            <a:extLst xmlns:a="http://schemas.openxmlformats.org/drawingml/2006/main">
              <a:ext uri="{FF2B5EF4-FFF2-40B4-BE49-F238E27FC236}">
                <a16:creationId xmlns:a16="http://schemas.microsoft.com/office/drawing/2014/main" id="{3475993E-F231-42C4-B9ED-40C8829BEC17}"/>
              </a:ext>
            </a:extLst>
          </p:cNvPr>
          <p:cNvSpPr>
            <a:spLocks xmlns:a="http://schemas.openxmlformats.org/drawingml/2006/main" noGrp="1"/>
          </p:cNvSpPr>
          <p:nvPr/>
        </p:nvSpPr>
        <p:spPr>
          <a:xfrm xmlns:a="http://schemas.openxmlformats.org/drawingml/2006/main">
            <a:off x="685800" y="5257800"/>
            <a:ext cx="10820400" cy="876300"/>
          </a:xfrm>
          <a:prstGeom xmlns:a="http://schemas.openxmlformats.org/drawingml/2006/main" prst="roundRect">
            <a:avLst>
              <a:gd name="adj" fmla="val 15217"/>
            </a:avLst>
          </a:prstGeom>
          <a:solidFill xmlns:a="http://schemas.openxmlformats.org/drawingml/2006/main">
            <a:srgbClr val="FFFDF8"/>
          </a:solidFill>
          <a:ln xmlns:a="http://schemas.openxmlformats.org/drawingml/2006/main" w="0">
            <a:noFill/>
            <a:prstDash val="solid"/>
          </a:ln>
        </p:spPr>
      </p:sp>
      <p:sp>
        <p:nvSpPr>
          <p:cNvPr id="14" name="close-boundary-text">
            <a:extLst xmlns:a="http://schemas.openxmlformats.org/drawingml/2006/main">
              <a:ext uri="{FF2B5EF4-FFF2-40B4-BE49-F238E27FC236}">
                <a16:creationId xmlns:a16="http://schemas.microsoft.com/office/drawing/2014/main" id="{3CE3AC79-42E8-4763-BE25-8A851D591D74}"/>
              </a:ext>
            </a:extLst>
          </p:cNvPr>
          <p:cNvSpPr>
            <a:spLocks xmlns:a="http://schemas.openxmlformats.org/drawingml/2006/main" noGrp="1"/>
          </p:cNvSpPr>
          <p:nvPr/>
        </p:nvSpPr>
        <p:spPr>
          <a:xfrm xmlns:a="http://schemas.openxmlformats.org/drawingml/2006/main">
            <a:off x="990600" y="5495925"/>
            <a:ext cx="1021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575" b="1">
                <a:solidFill>
                  <a:srgbClr val="0B2637"/>
                </a:solidFill>
                <a:latin typeface="Aptos"/>
                <a:ea typeface="Aptos"/>
                <a:cs typeface="Aptos"/>
              </a:defRPr>
            </a:pPr>
            <a:r>
              <a:rPr sz="1575" b="1">
                <a:solidFill>
                  <a:srgbClr val="0B2637"/>
                </a:solidFill>
                <a:latin typeface="Aptos"/>
                <a:ea typeface="Aptos"/>
                <a:cs typeface="Aptos"/>
              </a:rPr>
              <a:t>Save this as formative learning evidence. It is not an assessment submission. Follow the current teacher notice for any formal task.</a:t>
            </a:r>
          </a:p>
        </p:txBody>
      </p:sp>
      <p:sp>
        <p:nvSpPr>
          <p:cNvPr id="15" name="footer-rule-8">
            <a:extLst xmlns:a="http://schemas.openxmlformats.org/drawingml/2006/main">
              <a:ext uri="{FF2B5EF4-FFF2-40B4-BE49-F238E27FC236}">
                <a16:creationId xmlns:a16="http://schemas.microsoft.com/office/drawing/2014/main" id="{9C9D93B2-295E-4FB0-8956-21402BA65664}"/>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6" name="footer-module-8">
            <a:extLst xmlns:a="http://schemas.openxmlformats.org/drawingml/2006/main">
              <a:ext uri="{FF2B5EF4-FFF2-40B4-BE49-F238E27FC236}">
                <a16:creationId xmlns:a16="http://schemas.microsoft.com/office/drawing/2014/main" id="{132E4876-E666-4917-AE94-48C586B09A63}"/>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M05  ·  Managing Work and Life Commitments</a:t>
            </a:r>
          </a:p>
        </p:txBody>
      </p:sp>
      <p:sp>
        <p:nvSpPr>
          <p:cNvPr id="17" name="footer-number-8">
            <a:extLst xmlns:a="http://schemas.openxmlformats.org/drawingml/2006/main">
              <a:ext uri="{FF2B5EF4-FFF2-40B4-BE49-F238E27FC236}">
                <a16:creationId xmlns:a16="http://schemas.microsoft.com/office/drawing/2014/main" id="{E71124CA-66BD-4FA5-AD32-5C54F2C2844C}"/>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08</a:t>
            </a:r>
          </a:p>
        </p:txBody>
      </p:sp>
    </p:spTree>
    <p:extLst>
      <p:ext uri="{BB962C8B-B14F-4D97-AF65-F5344CB8AC3E}">
        <p14:creationId xmlns:p14="http://schemas.microsoft.com/office/powerpoint/2010/main" val="4419769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2026-08-31T09:25:37.3370000Z</dcterms:created>
  <dcterms:modified xsi:type="dcterms:W3CDTF">2026-08-31T09:25:37.3370000Z</dcterms:modified>
</coreProperties>
</file>