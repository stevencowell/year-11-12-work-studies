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c710d0d45149e7" /><Relationship Type="http://schemas.openxmlformats.org/officeDocument/2006/relationships/extended-properties" Target="/docProps/app.xml" Id="R15093ec1a4f147b2" /><Relationship Type="http://schemas.openxmlformats.org/officeDocument/2006/relationships/officeDocument" Target="/ppt/presentation.xml" Id="Rf6a878e3d1304c7b" /></Relationships>
</file>

<file path=ppt/presentation.xml><?xml version="1.0" encoding="utf-8"?>
<p:presentation xmlns:p="http://schemas.openxmlformats.org/presentationml/2006/main">
  <p:sldMasterIdLst>
    <p:sldMasterId xmlns:r="http://schemas.openxmlformats.org/officeDocument/2006/relationships" id="2147483648" r:id="R3cf8d28bf567423d"/>
  </p:sldMasterIdLst>
  <p:notesMasterIdLst>
    <p:notesMasterId xmlns:r="http://schemas.openxmlformats.org/officeDocument/2006/relationships" r:id="R8fb6ba1069244c2a"/>
  </p:notesMasterIdLst>
  <p:sldIdLst>
    <p:sldId xmlns:r="http://schemas.openxmlformats.org/officeDocument/2006/relationships" id="256" r:id="R145e853f56944070"/>
    <p:sldId xmlns:r="http://schemas.openxmlformats.org/officeDocument/2006/relationships" id="257" r:id="R2d6023469052421c"/>
    <p:sldId xmlns:r="http://schemas.openxmlformats.org/officeDocument/2006/relationships" id="258" r:id="Rb1b4ad8c6ed54733"/>
    <p:sldId xmlns:r="http://schemas.openxmlformats.org/officeDocument/2006/relationships" id="259" r:id="Rd4f99d7e064341f6"/>
    <p:sldId xmlns:r="http://schemas.openxmlformats.org/officeDocument/2006/relationships" id="260" r:id="R1ff672eca052413b"/>
    <p:sldId xmlns:r="http://schemas.openxmlformats.org/officeDocument/2006/relationships" id="261" r:id="R7f4267df548a4d4a"/>
    <p:sldId xmlns:r="http://schemas.openxmlformats.org/officeDocument/2006/relationships" id="262" r:id="R71d90c26956b4db6"/>
    <p:sldId xmlns:r="http://schemas.openxmlformats.org/officeDocument/2006/relationships" id="263" r:id="R33169fed321247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a0aaf54d254e4b" /><Relationship Type="http://schemas.openxmlformats.org/officeDocument/2006/relationships/slideMaster" Target="/ppt/slideMasters/slideMaster1.xml" Id="R3cf8d28bf567423d" /><Relationship Type="http://schemas.openxmlformats.org/officeDocument/2006/relationships/notesMaster" Target="/ppt/notesMasters/notesMaster1.xml" Id="R8fb6ba1069244c2a" /><Relationship Type="http://schemas.openxmlformats.org/officeDocument/2006/relationships/presProps" Target="/ppt/presProps.xml" Id="R8771e083ac6c4a01" /><Relationship Type="http://schemas.openxmlformats.org/officeDocument/2006/relationships/tableStyles" Target="/ppt/tableStyles.xml" Id="R8d602f51957a432d" /><Relationship Type="http://schemas.openxmlformats.org/officeDocument/2006/relationships/slide" Target="/ppt/slides/slide1.xml" Id="R145e853f56944070" /><Relationship Type="http://schemas.openxmlformats.org/officeDocument/2006/relationships/slide" Target="/ppt/slides/slide2.xml" Id="R2d6023469052421c" /><Relationship Type="http://schemas.openxmlformats.org/officeDocument/2006/relationships/slide" Target="/ppt/slides/slide3.xml" Id="Rb1b4ad8c6ed54733" /><Relationship Type="http://schemas.openxmlformats.org/officeDocument/2006/relationships/slide" Target="/ppt/slides/slide4.xml" Id="Rd4f99d7e064341f6" /><Relationship Type="http://schemas.openxmlformats.org/officeDocument/2006/relationships/slide" Target="/ppt/slides/slide5.xml" Id="R1ff672eca052413b" /><Relationship Type="http://schemas.openxmlformats.org/officeDocument/2006/relationships/slide" Target="/ppt/slides/slide6.xml" Id="R7f4267df548a4d4a" /><Relationship Type="http://schemas.openxmlformats.org/officeDocument/2006/relationships/slide" Target="/ppt/slides/slide7.xml" Id="R71d90c26956b4db6" /><Relationship Type="http://schemas.openxmlformats.org/officeDocument/2006/relationships/slide" Target="/ppt/slides/slide8.xml" Id="R33169fed321247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8fd9da97844a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3985ddb66d4ff9" /><Relationship Type="http://schemas.openxmlformats.org/officeDocument/2006/relationships/notesMaster" Target="/ppt/notesMasters/notesMaster1.xml" Id="R06577ece030844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a3d8fcaf1645b7" /><Relationship Type="http://schemas.openxmlformats.org/officeDocument/2006/relationships/notesMaster" Target="/ppt/notesMasters/notesMaster1.xml" Id="R6b258223827547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39e69c2b924075" /><Relationship Type="http://schemas.openxmlformats.org/officeDocument/2006/relationships/notesMaster" Target="/ppt/notesMasters/notesMaster1.xml" Id="Rfb434290032843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3a3ef3bcc9417d" /><Relationship Type="http://schemas.openxmlformats.org/officeDocument/2006/relationships/notesMaster" Target="/ppt/notesMasters/notesMaster1.xml" Id="R79916676122a43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2a7ca15a1a4e63" /><Relationship Type="http://schemas.openxmlformats.org/officeDocument/2006/relationships/notesMaster" Target="/ppt/notesMasters/notesMaster1.xml" Id="R5af7d4a51acc47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d546a51520455f" /><Relationship Type="http://schemas.openxmlformats.org/officeDocument/2006/relationships/notesMaster" Target="/ppt/notesMasters/notesMaster1.xml" Id="Rc88336f6d83b4a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659b9dbd664020" /><Relationship Type="http://schemas.openxmlformats.org/officeDocument/2006/relationships/notesMaster" Target="/ppt/notesMasters/notesMaster1.xml" Id="Reb98fc378c7442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bc6260763b4303" /><Relationship Type="http://schemas.openxmlformats.org/officeDocument/2006/relationships/notesMaster" Target="/ppt/notesMasters/notesMaster1.xml" Id="Rb4a35f31cf7c44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Teamwork and Enterprise Skills.</a:t>
            </a:r>
          </a:p>
          <a:p xmlns:a="http://schemas.openxmlformats.org/drawingml/2006/main">
            <a:r>
              <a:t/>
            </a:r>
          </a:p>
          <a:p xmlns:a="http://schemas.openxmlformats.org/drawingml/2006/main">
            <a:r>
              <a:t>Talking points</a:t>
            </a:r>
          </a:p>
          <a:p xmlns:a="http://schemas.openxmlformats.org/drawingml/2006/main">
            <a:r>
              <a:t>- Build trust, solve problems and apply initiative to authentic work.</a:t>
            </a:r>
          </a:p>
          <a:p xmlns:a="http://schemas.openxmlformats.org/drawingml/2006/main">
            <a:r>
              <a:t>- Name the three learning areas without teaching them yet: Team roles, trust and shared goals; Initiative, problem-solving and decision-making; Enterprise skills in authentic work.</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4 -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Team roles, trust and shared goals: Explain how clear roles, trust, communication and shared goals support effective teams.</a:t>
            </a:r>
          </a:p>
          <a:p xmlns:a="http://schemas.openxmlformats.org/drawingml/2006/main">
            <a:r>
              <a:t>- 2. Initiative, problem-solving and decision-making: Apply a disciplined problem-solving process and use initiative within role, evidence and risk limits.</a:t>
            </a:r>
          </a:p>
          <a:p xmlns:a="http://schemas.openxmlformats.org/drawingml/2006/main">
            <a:r>
              <a:t>- 3. Enterprise skills in authentic work: Explain how enterprise skills create value through purposeful ideas, organised action and evidence-led adaptation.</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Team roles, trust and shared goals.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4 -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Explain how clear roles, trust, communication and shared goals support effective teams.</a:t>
            </a:r>
          </a:p>
          <a:p xmlns:a="http://schemas.openxmlformats.org/drawingml/2006/main">
            <a:r>
              <a:t/>
            </a:r>
          </a:p>
          <a:p xmlns:a="http://schemas.openxmlformats.org/drawingml/2006/main">
            <a:r>
              <a:t>Talking points</a:t>
            </a:r>
          </a:p>
          <a:p xmlns:a="http://schemas.openxmlformats.org/drawingml/2006/main">
            <a:r>
              <a:t>- A team is more than people placed together. Members coordinate different contributions towards a shared goal and are jointly affected by the result. Roles may involve leadership, planning, specialist work, communication, checking or support, and can change across a project. Effective allocation considers the task, capability, development needs, workload and accountability rather than stereotypes about age, gender, culture or personality.</a:t>
            </a:r>
          </a:p>
          <a:p xmlns:a="http://schemas.openxmlformats.org/drawingml/2006/main">
            <a:r>
              <a:t>- Trust develops when people are reliable, communicate honestly, meet commitments, admit uncertainty, protect agreed information and treat others respectfully. Psychological safety supports appropriate questions and early reporting of mistakes; it does not remove standards or accountability. Shared goals become useful when the team agrees on the intended result, indicators, responsibilities, decision process and deadlines. A goal that exists only in one person’s head cannot coordinate the team.</a:t>
            </a:r>
          </a:p>
          <a:p xmlns:a="http://schemas.openxmlformats.org/drawingml/2006/main">
            <a:r>
              <a:t>- Team communication uses active listening, clear records, inclusive meetings and constructive feedback. Disagreement can improve a decision when members challenge ideas with evidence and remain focused on the goal. Uneven contribution should be addressed through facts, clarification and task review before personal judgement. Strong teams monitor both the product and the process: what has been achieved, whose work is blocked, what needs to change and what each member is learning.</a:t>
            </a:r>
          </a:p>
          <a:p xmlns:a="http://schemas.openxmlformats.org/drawingml/2006/main">
            <a:r>
              <a:t>- Worked example — Rebalancing a stalled event team: A four-person team is planning an event. Two members duplicate publicity work while bookings and risk questions are untouched. The team returns to the shared goal, lists the remaining outputs and checks each person’s capacity. It assigns one owner and one check point for each task, records dependencies and schedules a brief review. The change is not a punishment; it makes responsibility visible and reduces duplicated effort. Members can still support one another without making ownership unclear.</a:t>
            </a:r>
          </a:p>
          <a:p xmlns:a="http://schemas.openxmlformats.org/drawingml/2006/main">
            <a:r>
              <a:t>- Visual caption: A shared goal becomes achievable when each person knows their role and can rely on the others' contribution.</a:t>
            </a:r>
          </a:p>
          <a:p xmlns:a="http://schemas.openxmlformats.org/drawingml/2006/main">
            <a:r>
              <a:t>- Visual notice: Notice who steadies, aligns and checks the setup. What could happen if one role stopped communicating?</a:t>
            </a:r>
          </a:p>
          <a:p xmlns:a="http://schemas.openxmlformats.org/drawingml/2006/main">
            <a:r>
              <a:t>- Applied evidence: Create a charter for a fictional four-person team, then apply it to a missed-deadline scenario by reallocating tasks without using stereotypes or blame. A one-page charter, revised role map and justified response note.</a:t>
            </a:r>
          </a:p>
          <a:p xmlns:a="http://schemas.openxmlformats.org/drawingml/2006/main">
            <a:r>
              <a:t/>
            </a:r>
          </a:p>
          <a:p xmlns:a="http://schemas.openxmlformats.org/drawingml/2006/main">
            <a:r>
              <a:t>Prompt: Recommend one change to the team’s process.</a:t>
            </a:r>
          </a:p>
          <a:p xmlns:a="http://schemas.openxmlformats.org/drawingml/2006/main">
            <a:r>
              <a:t/>
            </a:r>
          </a:p>
          <a:p xmlns:a="http://schemas.openxmlformats.org/drawingml/2006/main">
            <a:r>
              <a:t>Likely misconception or nuance</a:t>
            </a:r>
          </a:p>
          <a:p xmlns:a="http://schemas.openxmlformats.org/drawingml/2006/main">
            <a:r>
              <a:t>- Good teamwork means everyone does the same amount of every task. Correction: Fair teamwork coordinates different contributions, workloads and development while keeping ownership and accountability clear.</a:t>
            </a:r>
          </a:p>
          <a:p xmlns:a="http://schemas.openxmlformats.org/drawingml/2006/main">
            <a:r>
              <a:t/>
            </a:r>
          </a:p>
          <a:p xmlns:a="http://schemas.openxmlformats.org/drawingml/2006/main">
            <a:r>
              <a:t>Transition: Move to Initiative, problem-solving and decision-making.</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4 -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specialists/visuals/web-ready/m04-s01.webp | original AI-generated raster | SHA-256 9f076d91584fbfa564ace9f47461fb213897498e9e1a694c123c76c753d6e8fb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Apply a disciplined problem-solving process and use initiative within role, evidence and risk limits.</a:t>
            </a:r>
          </a:p>
          <a:p xmlns:a="http://schemas.openxmlformats.org/drawingml/2006/main">
            <a:r>
              <a:t/>
            </a:r>
          </a:p>
          <a:p xmlns:a="http://schemas.openxmlformats.org/drawingml/2006/main">
            <a:r>
              <a:t>Talking points</a:t>
            </a:r>
          </a:p>
          <a:p xmlns:a="http://schemas.openxmlformats.org/drawingml/2006/main">
            <a:r>
              <a:t>- Problem-solving starts by defining the gap between the current and desired situation. A symptom is not always the cause: repeated late orders could reflect unclear information, unrealistic scheduling, a supply problem or several factors. Useful problem definitions identify who is affected, what evidence exists, constraints and the desired result. Teams gather enough information to act without pretending that every uncertainty can be removed.</a:t>
            </a:r>
          </a:p>
          <a:p xmlns:a="http://schemas.openxmlformats.org/drawingml/2006/main">
            <a:r>
              <a:t>- Options are compared against criteria such as effectiveness, time, cost, safety, fairness, resources, authority and likely side effects. A decision matrix can make reasoning visible, but scores do not replace judgement; the criteria and weightings must be justified. After action, the team monitors indicators and adjusts. A failed idea can produce useful learning when assumptions and results are recorded honestly.</a:t>
            </a:r>
          </a:p>
          <a:p xmlns:a="http://schemas.openxmlformats.org/drawingml/2006/main">
            <a:r>
              <a:t>- Initiative is appropriate independent action within a person’s role and the situation’s risk. It may involve anticipating a need, suggesting an improvement, gathering information or completing an agreed next step without repeated prompting. Initiative does not authorise bypassing safety controls, privacy, budget limits or another person’s responsibility. When impact or uncertainty is high, escalation and clarification are part of good judgement.</a:t>
            </a:r>
          </a:p>
          <a:p xmlns:a="http://schemas.openxmlformats.org/drawingml/2006/main">
            <a:r>
              <a:t>- Worked example — Solving repeated late starts: A student enterprise team begins production late at every session and initially blames motivation. The team observes that tools, instructions and materials are collected only after the session begins. It defines the problem as an unprepared start process, not a character flaw. Options include a pre-session checklist, assigned setup role and staged materials. The team selects a checklist and rotating owner, measures start time for three sessions and reviews. Initiative operates within the agreed project and does not bypass equipment or safety authorisation.</a:t>
            </a:r>
          </a:p>
          <a:p xmlns:a="http://schemas.openxmlformats.org/drawingml/2006/main">
            <a:r>
              <a:t>- Visual caption: Useful initiative moves beyond noticing: it produces alternatives that can be compared before a decision.</a:t>
            </a:r>
          </a:p>
          <a:p xmlns:a="http://schemas.openxmlformats.org/drawingml/2006/main">
            <a:r>
              <a:t>- Visual notice: Notice the three layouts and the bottleneck being discussed. What evidence could help the team choose between them?</a:t>
            </a:r>
          </a:p>
          <a:p xmlns:a="http://schemas.openxmlformats.org/drawingml/2006/main">
            <a:r>
              <a:t>- Applied evidence: Solve a fictional workplace delay using a problem statement, cause evidence, four options, weighted criteria and a monitoring plan. Mark any decision that needs authority. A completed decision matrix and 150-word recommendation.</a:t>
            </a:r>
          </a:p>
          <a:p xmlns:a="http://schemas.openxmlformats.org/drawingml/2006/main">
            <a:r>
              <a:t/>
            </a:r>
          </a:p>
          <a:p xmlns:a="http://schemas.openxmlformats.org/drawingml/2006/main">
            <a:r>
              <a:t>Prompt: Choose an indicator that could show whether the action worked.</a:t>
            </a:r>
          </a:p>
          <a:p xmlns:a="http://schemas.openxmlformats.org/drawingml/2006/main">
            <a:r>
              <a:t/>
            </a:r>
          </a:p>
          <a:p xmlns:a="http://schemas.openxmlformats.org/drawingml/2006/main">
            <a:r>
              <a:t>Likely misconception or nuance</a:t>
            </a:r>
          </a:p>
          <a:p xmlns:a="http://schemas.openxmlformats.org/drawingml/2006/main">
            <a:r>
              <a:t>- Taking initiative means acting first and asking permission later. Correction: Responsible initiative respects authority, safety, privacy and resources; clarification can be the most capable action.</a:t>
            </a:r>
          </a:p>
          <a:p xmlns:a="http://schemas.openxmlformats.org/drawingml/2006/main">
            <a:r>
              <a:t/>
            </a:r>
          </a:p>
          <a:p xmlns:a="http://schemas.openxmlformats.org/drawingml/2006/main">
            <a:r>
              <a:t>Transition: Move to Enterprise skills in authentic work.</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4 -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specialists/visuals/web-ready/m04-s02.webp | original AI-generated raster | SHA-256 10b669295987a0b0e312781eb38d72c547ca897f47ad2b5d1edff9e48a0b4239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Explain how enterprise skills create value through purposeful ideas, organised action and evidence-led adaptation.</a:t>
            </a:r>
          </a:p>
          <a:p xmlns:a="http://schemas.openxmlformats.org/drawingml/2006/main">
            <a:r>
              <a:t/>
            </a:r>
          </a:p>
          <a:p xmlns:a="http://schemas.openxmlformats.org/drawingml/2006/main">
            <a:r>
              <a:t>Talking points</a:t>
            </a:r>
          </a:p>
          <a:p xmlns:a="http://schemas.openxmlformats.org/drawingml/2006/main">
            <a:r>
              <a:t>- Enterprise is the capacity to identify an opportunity or need and organise action that creates value. Value may be financial, social, environmental, educational or a combination. Enterprise skills include initiative, creativity, communication, teamwork, planning, resourcefulness, calculated risk, resilience and reflection. They are used by employees and community members as well as business owners. A useful idea becomes enterprising only when people investigate the need, plan responsibly and act.</a:t>
            </a:r>
          </a:p>
          <a:p xmlns:a="http://schemas.openxmlformats.org/drawingml/2006/main">
            <a:r>
              <a:t>- Authentic enterprise begins with stakeholders and evidence. Teams ask who experiences the need, what is already available, what constraints apply and what success would look like. They set goals, targets and deadlines; allocate resources; obtain required authority; communicate; monitor progress; and respond to issues. Innovation can be a new product, service or process, but can also be a thoughtful improvement to something existing.</a:t>
            </a:r>
          </a:p>
          <a:p xmlns:a="http://schemas.openxmlformats.org/drawingml/2006/main">
            <a:r>
              <a:t>- Risk and return are connected, but risk should be calculated rather than celebrated. Teams identify possible harms or losses, estimate likelihood and impact, apply controls and decide whether the remaining risk is acceptable within authority. Evaluation considers the quality of the outcome and development of enterprise skills. Honest evidence includes what did not work and why. This makes the learning transferable to future employment, projects and community action.</a:t>
            </a:r>
          </a:p>
          <a:p xmlns:a="http://schemas.openxmlformats.org/drawingml/2006/main">
            <a:r>
              <a:t>- Worked example — Improving a community collection: A school collection receives many unsuitable items and volunteers spend hours sorting them. A team interviews the receiving organisation, identifies the most-needed items and redesigns the process with a clear list, labelled collection points and a weekly count. It gains school approval before launch, assigns communication and monitoring roles and compares unsuitable-item rates. The enterprise value comes from reducing waste and meeting a real community need, not simply collecting the largest volume.</a:t>
            </a:r>
          </a:p>
          <a:p xmlns:a="http://schemas.openxmlformats.org/drawingml/2006/main">
            <a:r>
              <a:t>- Visual caption: Creativity becomes enterprise when it responds to a need, uses resources thoughtfully and produces value for someone.</a:t>
            </a:r>
          </a:p>
          <a:p xmlns:a="http://schemas.openxmlformats.org/drawingml/2006/main">
            <a:r>
              <a:t>- Visual notice: Notice the need photograph, material samples and prototypes. How is the maker testing more than appearance?</a:t>
            </a:r>
          </a:p>
          <a:p xmlns:a="http://schemas.openxmlformats.org/drawingml/2006/main">
            <a:r>
              <a:t>- Applied evidence: Identify a school or community need, gather privacy-safe stakeholder evidence and propose a small response with value, roles, resources, risks, authority points and success indicators. A two-page enterprise brief; implementation is not required or authorised by this activity.</a:t>
            </a:r>
          </a:p>
          <a:p xmlns:a="http://schemas.openxmlformats.org/drawingml/2006/main">
            <a:r>
              <a:t/>
            </a:r>
          </a:p>
          <a:p xmlns:a="http://schemas.openxmlformats.org/drawingml/2006/main">
            <a:r>
              <a:t>Prompt: Judge whether the activity created value or merely stayed busy.</a:t>
            </a:r>
          </a:p>
          <a:p xmlns:a="http://schemas.openxmlformats.org/drawingml/2006/main">
            <a:r>
              <a:t/>
            </a:r>
          </a:p>
          <a:p xmlns:a="http://schemas.openxmlformats.org/drawingml/2006/main">
            <a:r>
              <a:t>Likely misconception or nuance</a:t>
            </a:r>
          </a:p>
          <a:p xmlns:a="http://schemas.openxmlformats.org/drawingml/2006/main">
            <a:r>
              <a:t>- Enterprise skills matter only to entrepreneurs starting businesses. Correction: Employees, teams, schools and community groups use enterprise skills whenever they identify needs and organise value-creating action.</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4 -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specialists/visuals/web-ready/m04-s03.webp | original AI-generated raster | SHA-256 46672187cd2254236ee2d3ce10dd8af9c1ed1a98d7766fa491ae76f86b0f094c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Match tasks to requirements and capacity, include development opportunities and make ownership visible. Rationale: Fairness considers contribution, workload and learning rather than identical tasks.</a:t>
            </a:r>
          </a:p>
          <a:p xmlns:a="http://schemas.openxmlformats.org/drawingml/2006/main">
            <a:r>
              <a:t>- Check 2: The same symptom can have different causes requiring different responses. Rationale: A clear definition reduces the risk of solving the wrong problem.</a:t>
            </a:r>
          </a:p>
          <a:p xmlns:a="http://schemas.openxmlformats.org/drawingml/2006/main">
            <a:r>
              <a:t>- Check 3: A worker investigates repeated customer confusion and helps test an authorised clearer process. Rationale: The worker identifies a need, organises action and creates value within authority.</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4 -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Enterprise skills in authentic work.</a:t>
            </a:r>
          </a:p>
          <a:p xmlns:a="http://schemas.openxmlformats.org/drawingml/2006/main">
            <a:r>
              <a:t/>
            </a:r>
          </a:p>
          <a:p xmlns:a="http://schemas.openxmlformats.org/drawingml/2006/main">
            <a:r>
              <a:t>Talking points</a:t>
            </a:r>
          </a:p>
          <a:p xmlns:a="http://schemas.openxmlformats.org/drawingml/2006/main">
            <a:r>
              <a:t>- Prompt: Evaluate a proposed enterprise response to a community or workplace need and recommend whether it should proceed to authorised planning.</a:t>
            </a:r>
          </a:p>
          <a:p xmlns:a="http://schemas.openxmlformats.org/drawingml/2006/main">
            <a:r>
              <a:t>- Define the need and stakeholder evidence.</a:t>
            </a:r>
          </a:p>
          <a:p xmlns:a="http://schemas.openxmlformats.org/drawingml/2006/main">
            <a:r>
              <a:t>- Analyse the proposed value, roles and resources.</a:t>
            </a:r>
          </a:p>
          <a:p xmlns:a="http://schemas.openxmlformats.org/drawingml/2006/main">
            <a:r>
              <a:t>- Assess risks, controls, authority and possible unintended effects.</a:t>
            </a:r>
          </a:p>
          <a:p xmlns:a="http://schemas.openxmlformats.org/drawingml/2006/main">
            <a:r>
              <a:t>- Recommend proceed, revise or stop and justify the decision.</a:t>
            </a:r>
          </a:p>
          <a:p xmlns:a="http://schemas.openxmlformats.org/drawingml/2006/main">
            <a:r>
              <a:t>- Success criteria: Connects the response to a genuine evidenced need.; Balances value with feasibility, risk and authority.; Uses clear indicators for outcome and skill learning.</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4 -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4 -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2af53a3fca43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01f2d5efcb4853" /><Relationship Type="http://schemas.openxmlformats.org/officeDocument/2006/relationships/slideLayout" Target="/ppt/slideLayouts/slideLayout1.xml" Id="R76c5245e409545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c5245e409545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d8840b559d45a2" /><Relationship Type="http://schemas.openxmlformats.org/officeDocument/2006/relationships/image" Target="/ppt/media/image.bin" Id="R92a2f1a96b174da8" /><Relationship Type="http://schemas.openxmlformats.org/officeDocument/2006/relationships/notesSlide" Target="/ppt/notesSlides/notesSlide1.xml" Id="Rbff1b1596fa241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79a3cf16014db1" /><Relationship Type="http://schemas.openxmlformats.org/officeDocument/2006/relationships/notesSlide" Target="/ppt/notesSlides/notesSlide2.xml" Id="Rb209af2d119e4e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8e91f82cb44bfd" /><Relationship Type="http://schemas.openxmlformats.org/officeDocument/2006/relationships/image" Target="/ppt/media/image2.bin" Id="Re3220c9d61dc42e8" /><Relationship Type="http://schemas.openxmlformats.org/officeDocument/2006/relationships/notesSlide" Target="/ppt/notesSlides/notesSlide3.xml" Id="R1c405a1da78843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7a8b735c714a95" /><Relationship Type="http://schemas.openxmlformats.org/officeDocument/2006/relationships/image" Target="/ppt/media/image3.bin" Id="R9733a9c78f6d4248" /><Relationship Type="http://schemas.openxmlformats.org/officeDocument/2006/relationships/notesSlide" Target="/ppt/notesSlides/notesSlide4.xml" Id="R63085ae872524a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c77791ee3b410b" /><Relationship Type="http://schemas.openxmlformats.org/officeDocument/2006/relationships/image" Target="/ppt/media/image4.bin" Id="Rd2d936a9942646ea" /><Relationship Type="http://schemas.openxmlformats.org/officeDocument/2006/relationships/notesSlide" Target="/ppt/notesSlides/notesSlide5.xml" Id="Rcbbf9482e03640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66ebc8415040f1" /><Relationship Type="http://schemas.openxmlformats.org/officeDocument/2006/relationships/notesSlide" Target="/ppt/notesSlides/notesSlide6.xml" Id="R202102643aa547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9559eb19b949b6" /><Relationship Type="http://schemas.openxmlformats.org/officeDocument/2006/relationships/image" Target="/ppt/media/image5.bin" Id="R20927c3aa4aa4462" /><Relationship Type="http://schemas.openxmlformats.org/officeDocument/2006/relationships/notesSlide" Target="/ppt/notesSlides/notesSlide7.xml" Id="R2d6e25a32e534e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08db59ba4c42cf" /><Relationship Type="http://schemas.openxmlformats.org/officeDocument/2006/relationships/image" Target="/ppt/media/image6.bin" Id="Rba0cf213760f4488" /><Relationship Type="http://schemas.openxmlformats.org/officeDocument/2006/relationships/notesSlide" Target="/ppt/notesSlides/notesSlide8.xml" Id="R20c6d4afdff042bb"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2a2f1a96b174da8"/>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E57F92C8-FC35-40BB-9D80-711EA4AC41F9}"/>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3A9DC1C2-967E-4933-9418-43360B3256F6}"/>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11  ·  M04</a:t>
            </a:r>
          </a:p>
        </p:txBody>
      </p:sp>
      <p:sp>
        <p:nvSpPr>
          <p:cNvPr id="4" name="purpose-title">
            <a:extLst xmlns:a="http://schemas.openxmlformats.org/drawingml/2006/main">
              <a:ext uri="{FF2B5EF4-FFF2-40B4-BE49-F238E27FC236}">
                <a16:creationId xmlns:a16="http://schemas.microsoft.com/office/drawing/2014/main" id="{A76B7BB2-9667-46D4-9E5A-652E68167B0B}"/>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Teamwork and Enterprise Skills</a:t>
            </a:r>
          </a:p>
        </p:txBody>
      </p:sp>
      <p:sp>
        <p:nvSpPr>
          <p:cNvPr id="5" name="purpose-summary">
            <a:extLst xmlns:a="http://schemas.openxmlformats.org/drawingml/2006/main">
              <a:ext uri="{FF2B5EF4-FFF2-40B4-BE49-F238E27FC236}">
                <a16:creationId xmlns:a16="http://schemas.microsoft.com/office/drawing/2014/main" id="{7BFEBD6C-25D1-4FA1-8F6F-CA5D5F8E88B5}"/>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Build trust, solve problems and apply initiative to authentic work.</a:t>
            </a:r>
          </a:p>
        </p:txBody>
      </p:sp>
      <p:sp>
        <p:nvSpPr>
          <p:cNvPr id="6" name="purpose-before-label">
            <a:extLst xmlns:a="http://schemas.openxmlformats.org/drawingml/2006/main">
              <a:ext uri="{FF2B5EF4-FFF2-40B4-BE49-F238E27FC236}">
                <a16:creationId xmlns:a16="http://schemas.microsoft.com/office/drawing/2014/main" id="{D1CCD890-7188-4A2E-8A65-DF424E002406}"/>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59FE00DA-4C0A-4BEE-A81A-1612D7251774}"/>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7567029C-2B15-4AB5-8209-DEEFC5C39187}"/>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9B2E9B4E-DAC1-4B4F-AA9C-878C31625178}"/>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M04  ·  Teamwork and Enterprise Skills</a:t>
            </a:r>
          </a:p>
        </p:txBody>
      </p:sp>
      <p:sp>
        <p:nvSpPr>
          <p:cNvPr id="10" name="purpose-footer-number">
            <a:extLst xmlns:a="http://schemas.openxmlformats.org/drawingml/2006/main">
              <a:ext uri="{FF2B5EF4-FFF2-40B4-BE49-F238E27FC236}">
                <a16:creationId xmlns:a16="http://schemas.microsoft.com/office/drawing/2014/main" id="{679DE726-FD0E-46C9-AD7B-EDC5DF72C35C}"/>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1256491430"/>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D6D87BAD-8B8B-4205-982C-F354AF0455F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M04</a:t>
            </a:r>
          </a:p>
        </p:txBody>
      </p:sp>
      <p:sp>
        <p:nvSpPr>
          <p:cNvPr id="2" name="slide-title-2">
            <a:extLst xmlns:a="http://schemas.openxmlformats.org/drawingml/2006/main">
              <a:ext uri="{FF2B5EF4-FFF2-40B4-BE49-F238E27FC236}">
                <a16:creationId xmlns:a16="http://schemas.microsoft.com/office/drawing/2014/main" id="{15948062-D947-406B-8484-68DD64F52297}"/>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75AC272B-AA74-4FEE-A50C-E8A9C2F795A4}"/>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C90F9098-6F89-4F2B-A866-8DA0682AB95E}"/>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Team roles, trust and shared goals</a:t>
            </a:r>
          </a:p>
        </p:txBody>
      </p:sp>
      <p:sp>
        <p:nvSpPr>
          <p:cNvPr id="5" name="map-intention-1">
            <a:extLst xmlns:a="http://schemas.openxmlformats.org/drawingml/2006/main">
              <a:ext uri="{FF2B5EF4-FFF2-40B4-BE49-F238E27FC236}">
                <a16:creationId xmlns:a16="http://schemas.microsoft.com/office/drawing/2014/main" id="{E3C1D01C-0ADB-4698-BA46-F52460B12F69}"/>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Explain how clear roles, trust, communication and shared goals support effective teams.</a:t>
            </a:r>
          </a:p>
        </p:txBody>
      </p:sp>
      <p:sp>
        <p:nvSpPr>
          <p:cNvPr id="6" name="map-divider-1">
            <a:extLst xmlns:a="http://schemas.openxmlformats.org/drawingml/2006/main">
              <a:ext uri="{FF2B5EF4-FFF2-40B4-BE49-F238E27FC236}">
                <a16:creationId xmlns:a16="http://schemas.microsoft.com/office/drawing/2014/main" id="{B16ACEB1-4C1A-4707-8624-8F9E2404F4A1}"/>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430B3A15-57E5-4E48-96B0-EA48285EDB52}"/>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1BF10C11-069D-48D9-B0EC-0AC061376439}"/>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Initiative, problem-solving and decision-making</a:t>
            </a:r>
          </a:p>
        </p:txBody>
      </p:sp>
      <p:sp>
        <p:nvSpPr>
          <p:cNvPr id="9" name="map-intention-2">
            <a:extLst xmlns:a="http://schemas.openxmlformats.org/drawingml/2006/main">
              <a:ext uri="{FF2B5EF4-FFF2-40B4-BE49-F238E27FC236}">
                <a16:creationId xmlns:a16="http://schemas.microsoft.com/office/drawing/2014/main" id="{81A72566-A013-4C17-BF23-8A9E38CF6961}"/>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Apply a disciplined problem-solving process and use initiative within role, evidence and risk limits.</a:t>
            </a:r>
          </a:p>
        </p:txBody>
      </p:sp>
      <p:sp>
        <p:nvSpPr>
          <p:cNvPr id="10" name="map-divider-2">
            <a:extLst xmlns:a="http://schemas.openxmlformats.org/drawingml/2006/main">
              <a:ext uri="{FF2B5EF4-FFF2-40B4-BE49-F238E27FC236}">
                <a16:creationId xmlns:a16="http://schemas.microsoft.com/office/drawing/2014/main" id="{3D24009C-0622-47F0-A14F-83B67D911EFC}"/>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6974B26E-DE99-464B-B4CA-C814D5DAADA6}"/>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4B6B3DAF-7ACA-4B12-98F4-6D501B574244}"/>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Enterprise skills in authentic work</a:t>
            </a:r>
          </a:p>
        </p:txBody>
      </p:sp>
      <p:sp>
        <p:nvSpPr>
          <p:cNvPr id="13" name="map-intention-3">
            <a:extLst xmlns:a="http://schemas.openxmlformats.org/drawingml/2006/main">
              <a:ext uri="{FF2B5EF4-FFF2-40B4-BE49-F238E27FC236}">
                <a16:creationId xmlns:a16="http://schemas.microsoft.com/office/drawing/2014/main" id="{23B13D89-4292-4A82-8230-32F74CECDB6F}"/>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Explain how enterprise skills create value through purposeful ideas, organised action and evidence-led adaptation.</a:t>
            </a:r>
          </a:p>
        </p:txBody>
      </p:sp>
      <p:sp>
        <p:nvSpPr>
          <p:cNvPr id="14" name="map-prompt-band">
            <a:extLst xmlns:a="http://schemas.openxmlformats.org/drawingml/2006/main">
              <a:ext uri="{FF2B5EF4-FFF2-40B4-BE49-F238E27FC236}">
                <a16:creationId xmlns:a16="http://schemas.microsoft.com/office/drawing/2014/main" id="{7A642649-D3D5-4599-A7B1-10E26477B809}"/>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E303C26C-BCDC-45DA-A1DD-F565473BBFE9}"/>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6EFD9F25-9EB4-4EB3-AF6D-E5F8FA5C4963}"/>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FE57B96C-D1FF-4315-B6E7-E33C6F1782A3}"/>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M04  ·  Teamwork and Enterprise Skills</a:t>
            </a:r>
          </a:p>
        </p:txBody>
      </p:sp>
      <p:sp>
        <p:nvSpPr>
          <p:cNvPr id="18" name="footer-number-2">
            <a:extLst xmlns:a="http://schemas.openxmlformats.org/drawingml/2006/main">
              <a:ext uri="{FF2B5EF4-FFF2-40B4-BE49-F238E27FC236}">
                <a16:creationId xmlns:a16="http://schemas.microsoft.com/office/drawing/2014/main" id="{54A4A748-82F9-4CD5-BCDA-AF20BDF889C1}"/>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1382618835"/>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7139AB32-ED46-494E-91C0-3EA9DD6B248B}"/>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M04</a:t>
            </a:r>
          </a:p>
        </p:txBody>
      </p:sp>
      <p:sp>
        <p:nvSpPr>
          <p:cNvPr id="2" name="slide-title-3">
            <a:extLst xmlns:a="http://schemas.openxmlformats.org/drawingml/2006/main">
              <a:ext uri="{FF2B5EF4-FFF2-40B4-BE49-F238E27FC236}">
                <a16:creationId xmlns:a16="http://schemas.microsoft.com/office/drawing/2014/main" id="{6F689D77-224B-4D68-9F7D-BF29E784BBBA}"/>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Team roles, trust and shared goals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3220c9d61dc42e8"/>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C9961EA6-0245-4596-9BFD-15060838F205}"/>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 team is more than people placed together. Trust develops when people are reliable, communicate honestly, meet commitments, admit uncertainty, protect agreed information and treat others respectfully. Team communication uses active listening, clear records, inclusive meetings and constructive feedback.</a:t>
            </a:r>
          </a:p>
        </p:txBody>
      </p:sp>
      <p:sp>
        <p:nvSpPr>
          <p:cNvPr id="5" name="theory-evidence-surface-1">
            <a:extLst xmlns:a="http://schemas.openxmlformats.org/drawingml/2006/main">
              <a:ext uri="{FF2B5EF4-FFF2-40B4-BE49-F238E27FC236}">
                <a16:creationId xmlns:a16="http://schemas.microsoft.com/office/drawing/2014/main" id="{E89A41FC-B4F4-49DF-B054-6A963A93F3B7}"/>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1717D6BD-6772-4874-B054-ED65032DB1AD}"/>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ED6876EC-A3A2-48D7-8B35-5C458641E6B2}"/>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Team charter under pressure. Create a charter for a fictional four-person team, then apply it to a missed-deadline scenario by reallocating tasks without using stereotypes or blame. Evidence: A one-page charter, revised role map and justified response note.</a:t>
            </a:r>
          </a:p>
        </p:txBody>
      </p:sp>
      <p:sp>
        <p:nvSpPr>
          <p:cNvPr id="8" name="theory-notice-1">
            <a:extLst xmlns:a="http://schemas.openxmlformats.org/drawingml/2006/main">
              <a:ext uri="{FF2B5EF4-FFF2-40B4-BE49-F238E27FC236}">
                <a16:creationId xmlns:a16="http://schemas.microsoft.com/office/drawing/2014/main" id="{53D038C8-33D2-4080-BBEA-3AB8C47BD170}"/>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who steadies, aligns and checks the setup. What could happen if one role stopped communicating?</a:t>
            </a:r>
          </a:p>
        </p:txBody>
      </p:sp>
      <p:sp>
        <p:nvSpPr>
          <p:cNvPr id="9" name="theory-success-1">
            <a:extLst xmlns:a="http://schemas.openxmlformats.org/drawingml/2006/main">
              <a:ext uri="{FF2B5EF4-FFF2-40B4-BE49-F238E27FC236}">
                <a16:creationId xmlns:a16="http://schemas.microsoft.com/office/drawing/2014/main" id="{68103182-D6E2-44DD-A019-76E354D96F12}"/>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a team role from a person’s status.</a:t>
            </a:r>
          </a:p>
        </p:txBody>
      </p:sp>
      <p:sp>
        <p:nvSpPr>
          <p:cNvPr id="10" name="footer-rule-3">
            <a:extLst xmlns:a="http://schemas.openxmlformats.org/drawingml/2006/main">
              <a:ext uri="{FF2B5EF4-FFF2-40B4-BE49-F238E27FC236}">
                <a16:creationId xmlns:a16="http://schemas.microsoft.com/office/drawing/2014/main" id="{23179E02-D1F7-445A-8961-D8BC926C6FA2}"/>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EDFF067F-B0DD-4A2E-A36D-4FFECDF170BE}"/>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M04  ·  Teamwork and Enterprise Skills</a:t>
            </a:r>
          </a:p>
        </p:txBody>
      </p:sp>
      <p:sp>
        <p:nvSpPr>
          <p:cNvPr id="12" name="footer-number-3">
            <a:extLst xmlns:a="http://schemas.openxmlformats.org/drawingml/2006/main">
              <a:ext uri="{FF2B5EF4-FFF2-40B4-BE49-F238E27FC236}">
                <a16:creationId xmlns:a16="http://schemas.microsoft.com/office/drawing/2014/main" id="{D76EE14B-F34D-4A42-A8DD-7A9DDE6AAF7D}"/>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1470235549"/>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EB0E9DAE-BDC1-4316-A093-92B2EAFAD918}"/>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M04</a:t>
            </a:r>
          </a:p>
        </p:txBody>
      </p:sp>
      <p:sp>
        <p:nvSpPr>
          <p:cNvPr id="2" name="slide-title-4">
            <a:extLst xmlns:a="http://schemas.openxmlformats.org/drawingml/2006/main">
              <a:ext uri="{FF2B5EF4-FFF2-40B4-BE49-F238E27FC236}">
                <a16:creationId xmlns:a16="http://schemas.microsoft.com/office/drawing/2014/main" id="{B9A64686-6C68-4CC6-83B9-111B0F823E91}"/>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Initiative, problem-solving and decision-making</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733a9c78f6d4248"/>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80612A4E-34AA-4446-A748-900ED7EFD046}"/>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Problem-solving starts by defining the gap between the current and desired situation. Options are compared against criteria such as effectiveness, time, cost, safety, fairness, resources, authority and likely side effects. Initiative is appropriate independent action within a person’s role and the situation’s risk.</a:t>
            </a:r>
          </a:p>
        </p:txBody>
      </p:sp>
      <p:sp>
        <p:nvSpPr>
          <p:cNvPr id="5" name="theory-evidence-surface-2">
            <a:extLst xmlns:a="http://schemas.openxmlformats.org/drawingml/2006/main">
              <a:ext uri="{FF2B5EF4-FFF2-40B4-BE49-F238E27FC236}">
                <a16:creationId xmlns:a16="http://schemas.microsoft.com/office/drawing/2014/main" id="{003FA67B-3E22-49A4-A038-8A50D34ECEF7}"/>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DA050CDC-81F6-4994-BEB8-725B6DCA9B27}"/>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35DFA6DD-CB61-484B-8F44-C1C817382B1A}"/>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Decision under constraints. Solve a fictional workplace delay using a problem statement, cause evidence, four options, weighted criteria and a monitoring plan. Evidence: A completed decision matrix and 150-word recommendation.</a:t>
            </a:r>
          </a:p>
        </p:txBody>
      </p:sp>
      <p:sp>
        <p:nvSpPr>
          <p:cNvPr id="8" name="theory-notice-2">
            <a:extLst xmlns:a="http://schemas.openxmlformats.org/drawingml/2006/main">
              <a:ext uri="{FF2B5EF4-FFF2-40B4-BE49-F238E27FC236}">
                <a16:creationId xmlns:a16="http://schemas.microsoft.com/office/drawing/2014/main" id="{D6C568C8-136E-4B48-908E-092965F7CFE2}"/>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three layouts and the bottleneck being discussed. What evidence could help the team choose between them?</a:t>
            </a:r>
          </a:p>
        </p:txBody>
      </p:sp>
      <p:sp>
        <p:nvSpPr>
          <p:cNvPr id="9" name="theory-success-2">
            <a:extLst xmlns:a="http://schemas.openxmlformats.org/drawingml/2006/main">
              <a:ext uri="{FF2B5EF4-FFF2-40B4-BE49-F238E27FC236}">
                <a16:creationId xmlns:a16="http://schemas.microsoft.com/office/drawing/2014/main" id="{70B9DE72-0557-4634-9C48-EDF5D783EDD1}"/>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define a problem before selecting a solution.</a:t>
            </a:r>
          </a:p>
        </p:txBody>
      </p:sp>
      <p:sp>
        <p:nvSpPr>
          <p:cNvPr id="10" name="footer-rule-4">
            <a:extLst xmlns:a="http://schemas.openxmlformats.org/drawingml/2006/main">
              <a:ext uri="{FF2B5EF4-FFF2-40B4-BE49-F238E27FC236}">
                <a16:creationId xmlns:a16="http://schemas.microsoft.com/office/drawing/2014/main" id="{46D0A6FA-B888-4A99-BE97-F610281B966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AB0DB007-BA70-463A-BCAA-DEF5E7140C51}"/>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M04  ·  Teamwork and Enterprise Skills</a:t>
            </a:r>
          </a:p>
        </p:txBody>
      </p:sp>
      <p:sp>
        <p:nvSpPr>
          <p:cNvPr id="12" name="footer-number-4">
            <a:extLst xmlns:a="http://schemas.openxmlformats.org/drawingml/2006/main">
              <a:ext uri="{FF2B5EF4-FFF2-40B4-BE49-F238E27FC236}">
                <a16:creationId xmlns:a16="http://schemas.microsoft.com/office/drawing/2014/main" id="{DCF6395E-65A8-4395-8777-796E7E57E017}"/>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412080698"/>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9076BDFD-BDD2-41A7-BA5D-977660C33777}"/>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M04</a:t>
            </a:r>
          </a:p>
        </p:txBody>
      </p:sp>
      <p:sp>
        <p:nvSpPr>
          <p:cNvPr id="2" name="slide-title-5">
            <a:extLst xmlns:a="http://schemas.openxmlformats.org/drawingml/2006/main">
              <a:ext uri="{FF2B5EF4-FFF2-40B4-BE49-F238E27FC236}">
                <a16:creationId xmlns:a16="http://schemas.microsoft.com/office/drawing/2014/main" id="{9F0259D8-D402-4C38-8EB5-6286BB3CFEE1}"/>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Enterprise skills in authentic work</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2d936a9942646ea"/>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45FFC5EF-258D-440F-B48A-E8EE96ABCAF6}"/>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Enterprise is the capacity to identify an opportunity or need and organise action that creates value. Authentic enterprise begins with stakeholders and evidence. Risk and return are connected, but risk should be calculated rather than celebrated.</a:t>
            </a:r>
          </a:p>
        </p:txBody>
      </p:sp>
      <p:sp>
        <p:nvSpPr>
          <p:cNvPr id="5" name="theory-evidence-surface-3">
            <a:extLst xmlns:a="http://schemas.openxmlformats.org/drawingml/2006/main">
              <a:ext uri="{FF2B5EF4-FFF2-40B4-BE49-F238E27FC236}">
                <a16:creationId xmlns:a16="http://schemas.microsoft.com/office/drawing/2014/main" id="{9E21A595-E996-43B4-BC1E-3376210177C5}"/>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B484680B-51E5-4B31-884A-BF94F079627D}"/>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A26DB9FD-B67E-4946-8250-961384ED3BF5}"/>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Enterprise opportunity brief. Evidence: A two-page enterprise brief; implementation is not required or authorised by this activity.</a:t>
            </a:r>
          </a:p>
        </p:txBody>
      </p:sp>
      <p:sp>
        <p:nvSpPr>
          <p:cNvPr id="8" name="theory-notice-3">
            <a:extLst xmlns:a="http://schemas.openxmlformats.org/drawingml/2006/main">
              <a:ext uri="{FF2B5EF4-FFF2-40B4-BE49-F238E27FC236}">
                <a16:creationId xmlns:a16="http://schemas.microsoft.com/office/drawing/2014/main" id="{7E5CDB91-F7AB-4914-A6AB-C04C206D86FD}"/>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need photograph, material samples and prototypes. How is the maker testing more than appearance?</a:t>
            </a:r>
          </a:p>
        </p:txBody>
      </p:sp>
      <p:sp>
        <p:nvSpPr>
          <p:cNvPr id="9" name="theory-success-3">
            <a:extLst xmlns:a="http://schemas.openxmlformats.org/drawingml/2006/main">
              <a:ext uri="{FF2B5EF4-FFF2-40B4-BE49-F238E27FC236}">
                <a16:creationId xmlns:a16="http://schemas.microsoft.com/office/drawing/2014/main" id="{E99BDB87-B367-4478-BE4C-F6C96EBE2F2D}"/>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identify enterprise skills in business, community, school or sporting contexts.</a:t>
            </a:r>
          </a:p>
        </p:txBody>
      </p:sp>
      <p:sp>
        <p:nvSpPr>
          <p:cNvPr id="10" name="footer-rule-5">
            <a:extLst xmlns:a="http://schemas.openxmlformats.org/drawingml/2006/main">
              <a:ext uri="{FF2B5EF4-FFF2-40B4-BE49-F238E27FC236}">
                <a16:creationId xmlns:a16="http://schemas.microsoft.com/office/drawing/2014/main" id="{23B9D6C2-66D6-40F0-9486-FDEC174E563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F66BA476-C446-45B2-8F38-AFDD252B4DD4}"/>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M04  ·  Teamwork and Enterprise Skills</a:t>
            </a:r>
          </a:p>
        </p:txBody>
      </p:sp>
      <p:sp>
        <p:nvSpPr>
          <p:cNvPr id="12" name="footer-number-5">
            <a:extLst xmlns:a="http://schemas.openxmlformats.org/drawingml/2006/main">
              <a:ext uri="{FF2B5EF4-FFF2-40B4-BE49-F238E27FC236}">
                <a16:creationId xmlns:a16="http://schemas.microsoft.com/office/drawing/2014/main" id="{CC54F274-2DAD-4598-9A37-8B80AB446441}"/>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1751094606"/>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829AED44-7651-483B-8E94-B7859D6CB13B}"/>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M04</a:t>
            </a:r>
          </a:p>
        </p:txBody>
      </p:sp>
      <p:sp>
        <p:nvSpPr>
          <p:cNvPr id="2" name="slide-title-6">
            <a:extLst xmlns:a="http://schemas.openxmlformats.org/drawingml/2006/main">
              <a:ext uri="{FF2B5EF4-FFF2-40B4-BE49-F238E27FC236}">
                <a16:creationId xmlns:a16="http://schemas.microsoft.com/office/drawing/2014/main" id="{5EFF96DA-AE26-4356-8276-B462984D96BF}"/>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20D0E74E-EE9E-4E1A-8EFE-E5C6D1477575}"/>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582C1C49-ED6C-4ABE-9C24-4D24DF9A4C83}"/>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B292E4A5-5E2B-427A-AAA0-9E1EF4ED4464}"/>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role allocation is fairest?</a:t>
            </a:r>
          </a:p>
        </p:txBody>
      </p:sp>
      <p:sp>
        <p:nvSpPr>
          <p:cNvPr id="6" name="retrieval-separator-1">
            <a:extLst xmlns:a="http://schemas.openxmlformats.org/drawingml/2006/main">
              <a:ext uri="{FF2B5EF4-FFF2-40B4-BE49-F238E27FC236}">
                <a16:creationId xmlns:a16="http://schemas.microsoft.com/office/drawing/2014/main" id="{0B575990-B7CD-4178-93E0-0774F7BC2B2A}"/>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11549DAC-45B4-410C-96C6-885C861CACCB}"/>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009D84EB-B393-4B31-994A-2054390DD735}"/>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Why define a problem before choosing a solution?</a:t>
            </a:r>
          </a:p>
        </p:txBody>
      </p:sp>
      <p:sp>
        <p:nvSpPr>
          <p:cNvPr id="9" name="retrieval-separator-2">
            <a:extLst xmlns:a="http://schemas.openxmlformats.org/drawingml/2006/main">
              <a:ext uri="{FF2B5EF4-FFF2-40B4-BE49-F238E27FC236}">
                <a16:creationId xmlns:a16="http://schemas.microsoft.com/office/drawing/2014/main" id="{83ACB517-92A2-4DC0-ABD7-4ED3F494EB97}"/>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B2D5AA65-4559-4368-B2F4-EB21AAFC8027}"/>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9778443C-111C-45D9-9A49-01D02CD37BB3}"/>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example best demonstrates enterprise?</a:t>
            </a:r>
          </a:p>
        </p:txBody>
      </p:sp>
      <p:sp>
        <p:nvSpPr>
          <p:cNvPr id="12" name="retrieval-cycle">
            <a:extLst xmlns:a="http://schemas.openxmlformats.org/drawingml/2006/main">
              <a:ext uri="{FF2B5EF4-FFF2-40B4-BE49-F238E27FC236}">
                <a16:creationId xmlns:a16="http://schemas.microsoft.com/office/drawing/2014/main" id="{B525CEB5-7213-4D97-A8B9-4D69B05BEA28}"/>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B20999C3-789F-4CEE-9234-4400716BB8EF}"/>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430F9633-B9C9-4B6E-948A-B83ACC3EDDE0}"/>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2F688985-8CAF-40C4-833C-0A69A6D2C5D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9BE1B532-6A15-4483-9408-D505CD342611}"/>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M04  ·  Teamwork and Enterprise Skills</a:t>
            </a:r>
          </a:p>
        </p:txBody>
      </p:sp>
      <p:sp>
        <p:nvSpPr>
          <p:cNvPr id="17" name="footer-number-6">
            <a:extLst xmlns:a="http://schemas.openxmlformats.org/drawingml/2006/main">
              <a:ext uri="{FF2B5EF4-FFF2-40B4-BE49-F238E27FC236}">
                <a16:creationId xmlns:a16="http://schemas.microsoft.com/office/drawing/2014/main" id="{E60853A2-B109-4A88-9CC3-A1D3227BC29D}"/>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302940869"/>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F4A4E686-20DE-46F5-98FB-35A9004321BF}"/>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M04</a:t>
            </a:r>
          </a:p>
        </p:txBody>
      </p:sp>
      <p:sp>
        <p:nvSpPr>
          <p:cNvPr id="2" name="slide-title-7">
            <a:extLst xmlns:a="http://schemas.openxmlformats.org/drawingml/2006/main">
              <a:ext uri="{FF2B5EF4-FFF2-40B4-BE49-F238E27FC236}">
                <a16:creationId xmlns:a16="http://schemas.microsoft.com/office/drawing/2014/main" id="{B2FE2C9C-5462-483B-86B3-EB9C79C76578}"/>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0927c3aa4aa4462"/>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2D27C399-6EED-4272-9C17-164261A54982}"/>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a proposed enterprise response to a community or workplace need and recommend whether it should proceed to authorised planning.</a:t>
            </a:r>
          </a:p>
        </p:txBody>
      </p:sp>
      <p:sp>
        <p:nvSpPr>
          <p:cNvPr id="5" name="guided-step-number-1">
            <a:extLst xmlns:a="http://schemas.openxmlformats.org/drawingml/2006/main">
              <a:ext uri="{FF2B5EF4-FFF2-40B4-BE49-F238E27FC236}">
                <a16:creationId xmlns:a16="http://schemas.microsoft.com/office/drawing/2014/main" id="{82CBDB93-E6CC-4204-BBA8-233963663D99}"/>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CF848D23-E051-4441-9FDB-15580B3D3905}"/>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AA589C7B-EA61-43E2-9DF6-5D2F25470135}"/>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6300111C-8C1B-4657-8B92-47AC82251C6E}"/>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AB649FD7-47C5-4FB8-8E58-B1CFE10DE59A}"/>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A5FE9420-376B-4928-8440-D367BC3B6774}"/>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ACC1D557-1FE5-4203-9508-A01FA4706AA2}"/>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00563C58-DC10-49B0-9EAE-CC3B003E6D87}"/>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F4EF1270-FBB4-4B8D-B710-9692AEBB0290}"/>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3B045F7C-1809-41CB-8C41-F13430901B26}"/>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E8AAD445-A8CB-4709-BCCE-4C75C5DEBD52}"/>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776FAC78-8F4E-444D-B2F0-A0C02A988E7A}"/>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FCD249D6-5069-4297-95BC-292C35E754E7}"/>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E88452AB-96CF-4707-8C19-87277E53C9D7}"/>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9F7E6B17-9FAB-4E09-A8C0-06E8F184FE44}"/>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616702E7-625C-4D15-8B64-11DA3DE08B19}"/>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7A938F27-C9D1-49D1-9FE3-AD7756FAC19A}"/>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01C7ACAD-2CAD-4161-BA88-CCEAE5122811}"/>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Connects the response to a genuine evidenced need.</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Balances value with feasibility, risk and authority.</a:t>
            </a:r>
          </a:p>
        </p:txBody>
      </p:sp>
      <p:sp>
        <p:nvSpPr>
          <p:cNvPr id="23" name="guided-visual-notice">
            <a:extLst xmlns:a="http://schemas.openxmlformats.org/drawingml/2006/main">
              <a:ext uri="{FF2B5EF4-FFF2-40B4-BE49-F238E27FC236}">
                <a16:creationId xmlns:a16="http://schemas.microsoft.com/office/drawing/2014/main" id="{52D9B3A1-1886-49D8-9A77-A8CA6F8C1493}"/>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A6CD93C1-F77E-4530-823C-9EB19FD3300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162D4AF1-4221-4898-8672-6BF5C675AC9F}"/>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M04  ·  Teamwork and Enterprise Skills</a:t>
            </a:r>
          </a:p>
        </p:txBody>
      </p:sp>
      <p:sp>
        <p:nvSpPr>
          <p:cNvPr id="26" name="footer-number-7">
            <a:extLst xmlns:a="http://schemas.openxmlformats.org/drawingml/2006/main">
              <a:ext uri="{FF2B5EF4-FFF2-40B4-BE49-F238E27FC236}">
                <a16:creationId xmlns:a16="http://schemas.microsoft.com/office/drawing/2014/main" id="{C8B0CA79-9C2A-41AB-B270-CE887E0B6129}"/>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819850644"/>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EA099758-3685-4848-9CFA-A745C3718CE0}"/>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M04</a:t>
            </a:r>
          </a:p>
        </p:txBody>
      </p:sp>
      <p:sp>
        <p:nvSpPr>
          <p:cNvPr id="2" name="slide-title-8">
            <a:extLst xmlns:a="http://schemas.openxmlformats.org/drawingml/2006/main">
              <a:ext uri="{FF2B5EF4-FFF2-40B4-BE49-F238E27FC236}">
                <a16:creationId xmlns:a16="http://schemas.microsoft.com/office/drawing/2014/main" id="{66976CAF-CE8D-411A-B3FD-638B97608778}"/>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a0cf213760f4488"/>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EF7405B7-FF5C-4544-913C-0E9C13D93A17}"/>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E1BE2CE3-2A0A-480A-9F8D-51C259D14380}"/>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A92FB466-199D-4DD0-814F-0414809921FB}"/>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72601D97-FB2D-4BDA-8AC0-E1A33D4480EC}"/>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E53DAC2D-D1C9-43B3-BCF8-D823768DA37F}"/>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D900EA46-E461-4BF9-BC9C-A5AFDB52A155}"/>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1155B912-0BE3-4746-930C-287DBF05BA3E}"/>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AFA2336A-2929-4E68-B7AA-C1B602D4B4F3}"/>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15305B83-C72F-42BB-A22A-3CE7F0C3CB24}"/>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enterprise skills in authentic work.</a:t>
            </a:r>
          </a:p>
        </p:txBody>
      </p:sp>
      <p:sp>
        <p:nvSpPr>
          <p:cNvPr id="13" name="close-boundary">
            <a:extLst xmlns:a="http://schemas.openxmlformats.org/drawingml/2006/main">
              <a:ext uri="{FF2B5EF4-FFF2-40B4-BE49-F238E27FC236}">
                <a16:creationId xmlns:a16="http://schemas.microsoft.com/office/drawing/2014/main" id="{7CA431DD-A75F-4BE9-AEB0-1DA8C4BF8A44}"/>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992B2557-FF19-4352-B417-86683C9AE90D}"/>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0340E9E9-D9EB-4377-B520-91470898FB1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99DF567C-A46E-496A-8D20-DE2B5B1D8B08}"/>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M04  ·  Teamwork and Enterprise Skills</a:t>
            </a:r>
          </a:p>
        </p:txBody>
      </p:sp>
      <p:sp>
        <p:nvSpPr>
          <p:cNvPr id="17" name="footer-number-8">
            <a:extLst xmlns:a="http://schemas.openxmlformats.org/drawingml/2006/main">
              <a:ext uri="{FF2B5EF4-FFF2-40B4-BE49-F238E27FC236}">
                <a16:creationId xmlns:a16="http://schemas.microsoft.com/office/drawing/2014/main" id="{17244B00-82BA-49A6-BBF6-E04CFFFF80C7}"/>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10109082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2026-08-31T09:25:32.9060000Z</dcterms:created>
  <dcterms:modified xsi:type="dcterms:W3CDTF">2026-08-31T09:25:32.9060000Z</dcterms:modified>
</coreProperties>
</file>