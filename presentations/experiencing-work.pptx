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593f8379134114" /><Relationship Type="http://schemas.openxmlformats.org/officeDocument/2006/relationships/extended-properties" Target="/docProps/app.xml" Id="Ree17aa3d19834e61" /><Relationship Type="http://schemas.openxmlformats.org/officeDocument/2006/relationships/officeDocument" Target="/ppt/presentation.xml" Id="R72891dfca16940f9" /></Relationships>
</file>

<file path=ppt/presentation.xml><?xml version="1.0" encoding="utf-8"?>
<p:presentation xmlns:p="http://schemas.openxmlformats.org/presentationml/2006/main">
  <p:sldMasterIdLst>
    <p:sldMasterId xmlns:r="http://schemas.openxmlformats.org/officeDocument/2006/relationships" id="2147483648" r:id="R77c19e78cd8b479e"/>
  </p:sldMasterIdLst>
  <p:notesMasterIdLst>
    <p:notesMasterId xmlns:r="http://schemas.openxmlformats.org/officeDocument/2006/relationships" r:id="Rd07c1cfb03dc4124"/>
  </p:notesMasterIdLst>
  <p:sldIdLst>
    <p:sldId xmlns:r="http://schemas.openxmlformats.org/officeDocument/2006/relationships" id="256" r:id="R7a6a8a83f9474979"/>
    <p:sldId xmlns:r="http://schemas.openxmlformats.org/officeDocument/2006/relationships" id="257" r:id="Rd8bc45ed05c4485f"/>
    <p:sldId xmlns:r="http://schemas.openxmlformats.org/officeDocument/2006/relationships" id="258" r:id="R6f2f9babfd6c4509"/>
    <p:sldId xmlns:r="http://schemas.openxmlformats.org/officeDocument/2006/relationships" id="259" r:id="R8b0f884718204d99"/>
    <p:sldId xmlns:r="http://schemas.openxmlformats.org/officeDocument/2006/relationships" id="260" r:id="Rc6332dc66ae24bfb"/>
    <p:sldId xmlns:r="http://schemas.openxmlformats.org/officeDocument/2006/relationships" id="261" r:id="R556d994483ce4edc"/>
    <p:sldId xmlns:r="http://schemas.openxmlformats.org/officeDocument/2006/relationships" id="262" r:id="R5885bcee34f64df1"/>
    <p:sldId xmlns:r="http://schemas.openxmlformats.org/officeDocument/2006/relationships" id="263" r:id="Rb4d09d7344b346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653999c0004c33" /><Relationship Type="http://schemas.openxmlformats.org/officeDocument/2006/relationships/slideMaster" Target="/ppt/slideMasters/slideMaster1.xml" Id="R77c19e78cd8b479e" /><Relationship Type="http://schemas.openxmlformats.org/officeDocument/2006/relationships/notesMaster" Target="/ppt/notesMasters/notesMaster1.xml" Id="Rd07c1cfb03dc4124" /><Relationship Type="http://schemas.openxmlformats.org/officeDocument/2006/relationships/presProps" Target="/ppt/presProps.xml" Id="R16aa5ddc3ea0493d" /><Relationship Type="http://schemas.openxmlformats.org/officeDocument/2006/relationships/tableStyles" Target="/ppt/tableStyles.xml" Id="R7e14daed5d0e4b1b" /><Relationship Type="http://schemas.openxmlformats.org/officeDocument/2006/relationships/slide" Target="/ppt/slides/slide1.xml" Id="R7a6a8a83f9474979" /><Relationship Type="http://schemas.openxmlformats.org/officeDocument/2006/relationships/slide" Target="/ppt/slides/slide2.xml" Id="Rd8bc45ed05c4485f" /><Relationship Type="http://schemas.openxmlformats.org/officeDocument/2006/relationships/slide" Target="/ppt/slides/slide3.xml" Id="R6f2f9babfd6c4509" /><Relationship Type="http://schemas.openxmlformats.org/officeDocument/2006/relationships/slide" Target="/ppt/slides/slide4.xml" Id="R8b0f884718204d99" /><Relationship Type="http://schemas.openxmlformats.org/officeDocument/2006/relationships/slide" Target="/ppt/slides/slide5.xml" Id="Rc6332dc66ae24bfb" /><Relationship Type="http://schemas.openxmlformats.org/officeDocument/2006/relationships/slide" Target="/ppt/slides/slide6.xml" Id="R556d994483ce4edc" /><Relationship Type="http://schemas.openxmlformats.org/officeDocument/2006/relationships/slide" Target="/ppt/slides/slide7.xml" Id="R5885bcee34f64df1" /><Relationship Type="http://schemas.openxmlformats.org/officeDocument/2006/relationships/slide" Target="/ppt/slides/slide8.xml" Id="Rb4d09d7344b346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3fc913668a4d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f39edb1571453e" /><Relationship Type="http://schemas.openxmlformats.org/officeDocument/2006/relationships/notesMaster" Target="/ppt/notesMasters/notesMaster1.xml" Id="Rf79c6ceda4aa4a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53ab0afcf84ee4" /><Relationship Type="http://schemas.openxmlformats.org/officeDocument/2006/relationships/notesMaster" Target="/ppt/notesMasters/notesMaster1.xml" Id="R0125782b86a94a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79a989986f461f" /><Relationship Type="http://schemas.openxmlformats.org/officeDocument/2006/relationships/notesMaster" Target="/ppt/notesMasters/notesMaster1.xml" Id="R165000bd207e45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503767da254031" /><Relationship Type="http://schemas.openxmlformats.org/officeDocument/2006/relationships/notesMaster" Target="/ppt/notesMasters/notesMaster1.xml" Id="R8dbd6f23f0b143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133e8ca52e449d" /><Relationship Type="http://schemas.openxmlformats.org/officeDocument/2006/relationships/notesMaster" Target="/ppt/notesMasters/notesMaster1.xml" Id="Reab20a2da96549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c5f08697584246" /><Relationship Type="http://schemas.openxmlformats.org/officeDocument/2006/relationships/notesMaster" Target="/ppt/notesMasters/notesMaster1.xml" Id="R50e2d4aa52e141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6365c418574ba3" /><Relationship Type="http://schemas.openxmlformats.org/officeDocument/2006/relationships/notesMaster" Target="/ppt/notesMasters/notesMaster1.xml" Id="R38022b72fd184e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daf0e0cbe24c81" /><Relationship Type="http://schemas.openxmlformats.org/officeDocument/2006/relationships/notesMaster" Target="/ppt/notesMasters/notesMaster1.xml" Id="R257f0f30df2947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Experiencing Work.</a:t>
            </a:r>
          </a:p>
          <a:p xmlns:a="http://schemas.openxmlformats.org/drawingml/2006/main">
            <a:r>
              <a:t/>
            </a:r>
          </a:p>
          <a:p xmlns:a="http://schemas.openxmlformats.org/drawingml/2006/main">
            <a:r>
              <a:t>Talking points</a:t>
            </a:r>
          </a:p>
          <a:p xmlns:a="http://schemas.openxmlformats.org/drawingml/2006/main">
            <a:r>
              <a:t>- Prepare, participate, record evidence and transfer workplace learning.</a:t>
            </a:r>
          </a:p>
          <a:p xmlns:a="http://schemas.openxmlformats.org/drawingml/2006/main">
            <a:r>
              <a:t>- Name the three learning areas without teaching them yet: Preparing for workplace experience; Observing, participating and recording evidence; Reflecting, transferring learning and planning next steps.</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10 -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Preparing for workplace experience: Prepare for possible workplace experience by researching the environment, setting learning goals and recognising that approval, induction and workplace-specific safety directions control participation.</a:t>
            </a:r>
          </a:p>
          <a:p xmlns:a="http://schemas.openxmlformats.org/drawingml/2006/main">
            <a:r>
              <a:t>- 2. Observing, participating and recording evidence: Recognise how authorised observation, participation, professional conduct and privacy-safe evidence can demonstrate workplace learning.</a:t>
            </a:r>
          </a:p>
          <a:p xmlns:a="http://schemas.openxmlformats.org/drawingml/2006/main">
            <a:r>
              <a:t>- 3. Reflecting, transferring learning and planning next steps: Evaluate workplace learning, transfer evidence to future contexts and build a realistic next-step pathway plan.</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Preparing for workplace experience.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10 -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Prepare for possible workplace experience by researching the environment, setting learning goals and recognising that approval, induction and workplace-specific safety directions control participation.</a:t>
            </a:r>
          </a:p>
          <a:p xmlns:a="http://schemas.openxmlformats.org/drawingml/2006/main">
            <a:r>
              <a:t/>
            </a:r>
          </a:p>
          <a:p xmlns:a="http://schemas.openxmlformats.org/drawingml/2006/main">
            <a:r>
              <a:t>Talking points</a:t>
            </a:r>
          </a:p>
          <a:p xmlns:a="http://schemas.openxmlformats.org/drawingml/2006/main">
            <a:r>
              <a:t>- Workplace experience can connect classroom learning with actual work environments, roles, relationships and expectations. It is not an automatic course activity. Whether it is used, and every approval, host, documentation, supervision, travel, accessibility, emergency and communication arrangement, are Teacher to confirm. A student must not contact a host, attend a workplace or perform a task on the basis of this course page. Preparation begins only within the school's confirmed process and the host workplace's authorised arrangements.</a:t>
            </a:r>
          </a:p>
          <a:p xmlns:a="http://schemas.openxmlformats.org/drawingml/2006/main">
            <a:r>
              <a:t>- Useful preparation investigates the organisation's purpose, customers or community, work environment, roles, common communication and the skills students may be able to observe. A learning goal should be specific and observable, such as identifying how a team hands over work or gathering approved examples of how priorities are managed. A personal readiness check can consider punctuality planning, suitable communication, accessibility, transport and questions for induction, while avoiding guesses about dress, equipment or conduct that the host must confirm.</a:t>
            </a:r>
          </a:p>
          <a:p xmlns:a="http://schemas.openxmlformats.org/drawingml/2006/main">
            <a:r>
              <a:t>- Work health and safety concepts help students ask better questions. A hazard is a source or situation with potential to cause harm; risk concerns the likelihood and consequence of that harm; a control is a measure used to reduce risk. Workplaces differ, so the correct controls, protective equipment, training, emergency actions, reporting path and permitted tasks must come from current workplace induction and authorised supervisors. If a student is uncertain, lacks training or perceives danger, the safe principle is to pause and seek direction through the confirmed process rather than improvise.</a:t>
            </a:r>
          </a:p>
          <a:p xmlns:a="http://schemas.openxmlformats.org/drawingml/2006/main">
            <a:r>
              <a:t>- Worked example — Preparing for a hypothetical library placement: Tahlia may undertake workplace experience in a public library, subject to school and host confirmation. She assumes the work will only involve shelving and therefore has no safety or communication questions. Tahlia researches the library's purpose and possible teams, then writes goals about customer communication and task prioritisation. She prepares questions about induction, permitted tasks, manual handling, privacy, emergencies, breaks, accessibility and who gives instructions. She does not decide that shelving is safe, choose equipment or contact the library independently. Every placement detail and control remains Teacher to confirm until formally provided.</a:t>
            </a:r>
          </a:p>
          <a:p xmlns:a="http://schemas.openxmlformats.org/drawingml/2006/main">
            <a:r>
              <a:t>- Visual caption: Preparation reduces avoidable uncertainty and makes it easier to focus on learning once the experience begins.</a:t>
            </a:r>
          </a:p>
          <a:p xmlns:a="http://schemas.openxmlformats.org/drawingml/2006/main">
            <a:r>
              <a:t>- Visual notice: Notice the transport, clothing, contact and goal cues. Which item would be hardest to fix after arriving?</a:t>
            </a:r>
          </a:p>
          <a:p xmlns:a="http://schemas.openxmlformats.org/drawingml/2006/main">
            <a:r>
              <a:t>- Applied evidence: For a fictional workplace only, create an environment research brief, three observable learning goals and an induction question bank covering roles, communication, hazards, controls, privacy, accessibility and support. Label every real local detail Teacher to confirm. A planning-only readiness brief and question bank; it does not authorise contact, attendance or task participation.</a:t>
            </a:r>
          </a:p>
          <a:p xmlns:a="http://schemas.openxmlformats.org/drawingml/2006/main">
            <a:r>
              <a:t/>
            </a:r>
          </a:p>
          <a:p xmlns:a="http://schemas.openxmlformats.org/drawingml/2006/main">
            <a:r>
              <a:t>Prompt: Sort preparation evidence from approval and task-authority evidence.</a:t>
            </a:r>
          </a:p>
          <a:p xmlns:a="http://schemas.openxmlformats.org/drawingml/2006/main">
            <a:r>
              <a:t/>
            </a:r>
          </a:p>
          <a:p xmlns:a="http://schemas.openxmlformats.org/drawingml/2006/main">
            <a:r>
              <a:t>Likely misconception or nuance</a:t>
            </a:r>
          </a:p>
          <a:p xmlns:a="http://schemas.openxmlformats.org/drawingml/2006/main">
            <a:r>
              <a:t>- A familiar-looking task is safe for a student to begin without instruction. Correction: Familiarity does not establish authorisation or safety; the host's confirmed induction, task permission, training, controls and supervision determine participation.</a:t>
            </a:r>
          </a:p>
          <a:p xmlns:a="http://schemas.openxmlformats.org/drawingml/2006/main">
            <a:r>
              <a:t/>
            </a:r>
          </a:p>
          <a:p xmlns:a="http://schemas.openxmlformats.org/drawingml/2006/main">
            <a:r>
              <a:t>Transition: Move to Observing, participating and recording evidence.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10 -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specialists/visuals/web-ready/m10-s01.webp | original AI-generated raster | SHA-256 b33516ed930327ee6309b7259f7fb504ff6553b0a2f9d4b135b882df11058f37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Recognise how authorised observation, participation, professional conduct and privacy-safe evidence can demonstrate workplace learning.</a:t>
            </a:r>
          </a:p>
          <a:p xmlns:a="http://schemas.openxmlformats.org/drawingml/2006/main">
            <a:r>
              <a:t/>
            </a:r>
          </a:p>
          <a:p xmlns:a="http://schemas.openxmlformats.org/drawingml/2006/main">
            <a:r>
              <a:t>Talking points</a:t>
            </a:r>
          </a:p>
          <a:p xmlns:a="http://schemas.openxmlformats.org/drawingml/2006/main">
            <a:r>
              <a:t>- In an authorised placement, participation remains bounded by the student's induction, permitted tasks, training and supervision. Observing a task does not automatically authorise performing it, and performing one task under direction does not authorise a different task or independent repetition. Professional conduct includes punctuality, respectful communication, attention to instructions, asking when uncertain and staying within role. Exact expectations, contacts and processes are Teacher to confirm and then reinforced by the host.</a:t>
            </a:r>
          </a:p>
          <a:p xmlns:a="http://schemas.openxmlformats.org/drawingml/2006/main">
            <a:r>
              <a:t>- Evidence should make learning visible without exposing the workplace. A factual learning record can note the date or stage, approved task or observation, role, action, feedback and learning, using no unnecessary personal or commercial detail. Photographs, screenshots, documents, customer information, names and workplace systems must not be captured or copied unless explicitly authorised through the confirmed process. A generalised diagram, de-identified observation or teacher-provided template may communicate the learning more safely.</a:t>
            </a:r>
          </a:p>
          <a:p xmlns:a="http://schemas.openxmlformats.org/drawingml/2006/main">
            <a:r>
              <a:t>- Feedback is information about performance in relation to an expectation. The student can listen, paraphrase the message, ask a clarifying question, identify the next observable action and later check whether performance improved. Feedback should not be treated as a judgement of personal worth, and one comment may reflect a single context. When feedback conflicts with safety, induction or role boundaries, the student seeks clarification through the confirmed supervisor rather than following it blindly.</a:t>
            </a:r>
          </a:p>
          <a:p xmlns:a="http://schemas.openxmlformats.org/drawingml/2006/main">
            <a:r>
              <a:t>- Worked example — Recording an authorised customer-service observation: During a hypothetical approved placement, Jay observes a supervisor respond to a customer query, then completes a permitted greeting task. He wants to photograph the screen as evidence. Jay does not capture the screen because it may contain customer and business information. He writes a de-identified note: the communication purpose, two techniques observed, the authorised task he attempted, the supervisor's feedback and the next behaviour to practise. He confirms any evidence requirement through the school and host process. Observation, participation and evidence collection remain separate permissions.</a:t>
            </a:r>
          </a:p>
          <a:p xmlns:a="http://schemas.openxmlformats.org/drawingml/2006/main">
            <a:r>
              <a:t>- Visual caption: Workplace learning becomes usable evidence when the learner observes carefully, participates appropriately and records what happened.</a:t>
            </a:r>
          </a:p>
          <a:p xmlns:a="http://schemas.openxmlformats.org/drawingml/2006/main">
            <a:r>
              <a:t>- Visual notice: Notice the supervisor, low-risk task and notebook. What could the learner record without including private workplace information?</a:t>
            </a:r>
          </a:p>
          <a:p xmlns:a="http://schemas.openxmlformats.org/drawingml/2006/main">
            <a:r>
              <a:t>- Applied evidence: Using a fictional placement vignette, turn five raw notes into objective, de-identified learning records. For each, label observation, authorised participation, feedback and the permission needed for any artefact. A privacy-safe learning log and a permission decision table.</a:t>
            </a:r>
          </a:p>
          <a:p xmlns:a="http://schemas.openxmlformats.org/drawingml/2006/main">
            <a:r>
              <a:t/>
            </a:r>
          </a:p>
          <a:p xmlns:a="http://schemas.openxmlformats.org/drawingml/2006/main">
            <a:r>
              <a:t>Prompt: Rewrite the evidence so it proves learning without exposing people or systems.</a:t>
            </a:r>
          </a:p>
          <a:p xmlns:a="http://schemas.openxmlformats.org/drawingml/2006/main">
            <a:r>
              <a:t/>
            </a:r>
          </a:p>
          <a:p xmlns:a="http://schemas.openxmlformats.org/drawingml/2006/main">
            <a:r>
              <a:t>Likely misconception or nuance</a:t>
            </a:r>
          </a:p>
          <a:p xmlns:a="http://schemas.openxmlformats.org/drawingml/2006/main">
            <a:r>
              <a:t>- If a student is allowed to observe a task, they are allowed to perform and photograph it. Correction: Observation, task participation and evidence capture are separate permissions, each controlled by confirmed workplace, safety, privacy and school requirements.</a:t>
            </a:r>
          </a:p>
          <a:p xmlns:a="http://schemas.openxmlformats.org/drawingml/2006/main">
            <a:r>
              <a:t/>
            </a:r>
          </a:p>
          <a:p xmlns:a="http://schemas.openxmlformats.org/drawingml/2006/main">
            <a:r>
              <a:t>Transition: Move to Reflecting, transferring learning and planning next steps.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10 -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specialists/visuals/web-ready/m10-s02.webp | original AI-generated raster | SHA-256 6942b22774f934e098174b40c973458672225e7ede9658cf13954d436870a17c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Evaluate workplace learning, transfer evidence to future contexts and build a realistic next-step pathway plan.</a:t>
            </a:r>
          </a:p>
          <a:p xmlns:a="http://schemas.openxmlformats.org/drawingml/2006/main">
            <a:r>
              <a:t/>
            </a:r>
          </a:p>
          <a:p xmlns:a="http://schemas.openxmlformats.org/drawingml/2006/main">
            <a:r>
              <a:t>Talking points</a:t>
            </a:r>
          </a:p>
          <a:p xmlns:a="http://schemas.openxmlformats.org/drawingml/2006/main">
            <a:r>
              <a:t>- Reflection explains the significance of experience rather than listing events. A useful sequence identifies the situation and goal, the student's authorised action or observation, the result or feedback, the learning and what would change next time. Positive and difficult moments can both produce evidence. The quality of reflection depends on specificity and honesty, not on presenting the experience as perfect. If a placement did not occur, the same reasoning can be applied to an approved simulation without pretending it was workplace participation.</a:t>
            </a:r>
          </a:p>
          <a:p xmlns:a="http://schemas.openxmlformats.org/drawingml/2006/main">
            <a:r>
              <a:t>- Transfer turns one example into a credible claim about future performance. The student names the skill, provides concise context, explains their own action and result, and identifies where else the capability could apply. Transfer is stronger when similarities and differences between contexts are acknowledged. For example, prioritising tasks in a library may support future hospitality work, but customer needs, hazards, systems and supervision will differ. Evidence can inform a resume, interview or pathway conversation only within privacy and approval boundaries.</a:t>
            </a:r>
          </a:p>
          <a:p xmlns:a="http://schemas.openxmlformats.org/drawingml/2006/main">
            <a:r>
              <a:t>- Next-step planning combines self-knowledge with pathway research. Students can compare further education, training, employment, volunteering or additional experience against their goals, evidence, gaps, resources and commitments. A gap is not a personal deficit; it is a capability, credential, information or experience requirement that may be addressed through a realistic action. Current entry requirements and local opportunities must be verified. A reviewable plan names the next step, support, evidence of progress, contingency and date for reconsideration.</a:t>
            </a:r>
          </a:p>
          <a:p xmlns:a="http://schemas.openxmlformats.org/drawingml/2006/main">
            <a:r>
              <a:t>- Worked example — Turning feedback into a pathway step: In a hypothetical approved placement, Amara receives positive feedback about calm customer communication and a suggestion to make task updates more concise. She is considering community-services training. Amara writes one evidence statement about clarifying a customer's need and one growth goal about concise handover. She compares current pathway requirements from authoritative sources, identifies which communication evidence transfers and which role-specific capabilities remain unknown, and plans a short course-information check plus a practice activity. Her recommendation is conditional on verified entry information and personal feasibility, not a claim that one placement proves career certainty.</a:t>
            </a:r>
          </a:p>
          <a:p xmlns:a="http://schemas.openxmlformats.org/drawingml/2006/main">
            <a:r>
              <a:t>- Visual caption: Reflection asks what was learned, where that learning transfers and what action should follow.</a:t>
            </a:r>
          </a:p>
          <a:p xmlns:a="http://schemas.openxmlformats.org/drawingml/2006/main">
            <a:r>
              <a:t>- Visual notice: Notice the experience photographs and transferable-skill tokens. Which skill appears across more than one setting?</a:t>
            </a:r>
          </a:p>
          <a:p xmlns:a="http://schemas.openxmlformats.org/drawingml/2006/main">
            <a:r>
              <a:t>- Applied evidence: Use a fictional, simulated or authorised de-identified experience to write two skill evidence statements, one growth goal and a comparison of three next-step pathways. Verify current requirements or label them Teacher to confirm. A privacy-safe reflection, transfer matrix and reviewable pathway action plan.</a:t>
            </a:r>
          </a:p>
          <a:p xmlns:a="http://schemas.openxmlformats.org/drawingml/2006/main">
            <a:r>
              <a:t/>
            </a:r>
          </a:p>
          <a:p xmlns:a="http://schemas.openxmlformats.org/drawingml/2006/main">
            <a:r>
              <a:t>Prompt: Compare next steps and add a contingency and review date.</a:t>
            </a:r>
          </a:p>
          <a:p xmlns:a="http://schemas.openxmlformats.org/drawingml/2006/main">
            <a:r>
              <a:t/>
            </a:r>
          </a:p>
          <a:p xmlns:a="http://schemas.openxmlformats.org/drawingml/2006/main">
            <a:r>
              <a:t>Likely misconception or nuance</a:t>
            </a:r>
          </a:p>
          <a:p xmlns:a="http://schemas.openxmlformats.org/drawingml/2006/main">
            <a:r>
              <a:t>- One workplace experience proves which career a student should choose for life. Correction: One experience provides useful but limited evidence; career decisions should compare self-knowledge, multiple sources, pathway requirements, feasibility and changing goals.</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10 -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specialists/visuals/web-ready/m10-s03.webp | original AI-generated raster | SHA-256 1db40422bb17be4d6a018dcbf1eb8603d322595ed2909e6d1bcf53a7dc390f24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Complete classroom preparation and simulations only, unless every real placement requirement is confirmed. Rationale: Course content supports readiness but cannot create school or workplace authority.</a:t>
            </a:r>
          </a:p>
          <a:p xmlns:a="http://schemas.openxmlformats.org/drawingml/2006/main">
            <a:r>
              <a:t>- Check 2: Only that observation occurred; participation still requires specific permission, training, controls and supervision. Rationale: Different actions require different authority.</a:t>
            </a:r>
          </a:p>
          <a:p xmlns:a="http://schemas.openxmlformats.org/drawingml/2006/main">
            <a:r>
              <a:t>- Check 3: Reflection explains evidence, learning, significance and a future adjustment. Rationale: It moves from what happened to what it means and changes.</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10 -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Reflecting, transferring learning and planning next steps.</a:t>
            </a:r>
          </a:p>
          <a:p xmlns:a="http://schemas.openxmlformats.org/drawingml/2006/main">
            <a:r>
              <a:t/>
            </a:r>
          </a:p>
          <a:p xmlns:a="http://schemas.openxmlformats.org/drawingml/2006/main">
            <a:r>
              <a:t>Talking points</a:t>
            </a:r>
          </a:p>
          <a:p xmlns:a="http://schemas.openxmlformats.org/drawingml/2006/main">
            <a:r>
              <a:t>- Prompt: Evaluate what a hypothetical or authorised workplace experience reveals about a student's capabilities and recommend a reviewable next-step pathway.</a:t>
            </a:r>
          </a:p>
          <a:p xmlns:a="http://schemas.openxmlformats.org/drawingml/2006/main">
            <a:r>
              <a:t>- Select two significant events and explain the student's authorised action, result and feedback.</a:t>
            </a:r>
          </a:p>
          <a:p xmlns:a="http://schemas.openxmlformats.org/drawingml/2006/main">
            <a:r>
              <a:t>- Translate the evidence into transferable capabilities and identify context limits.</a:t>
            </a:r>
          </a:p>
          <a:p xmlns:a="http://schemas.openxmlformats.org/drawingml/2006/main">
            <a:r>
              <a:t>- Compare three pathways against goals, requirements, gaps, resources and commitments.</a:t>
            </a:r>
          </a:p>
          <a:p xmlns:a="http://schemas.openxmlformats.org/drawingml/2006/main">
            <a:r>
              <a:t>- Recommend a next step with support, progress evidence, contingency and review point.</a:t>
            </a:r>
          </a:p>
          <a:p xmlns:a="http://schemas.openxmlformats.org/drawingml/2006/main">
            <a:r>
              <a:t>- Success criteria: Uses specific evidence without exaggerating the experience.; Treats one experience as informative but not career-determining.; Verifies current pathway facts or labels them Teacher to confirm.</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10 -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 The current Year 12 assessment schedule is Teacher to confirm.</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10 -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fe83b73a4440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725f71e23f4ffc" /><Relationship Type="http://schemas.openxmlformats.org/officeDocument/2006/relationships/slideLayout" Target="/ppt/slideLayouts/slideLayout1.xml" Id="Ra5d050442c234b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d050442c234b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6642ccc9204c62" /><Relationship Type="http://schemas.openxmlformats.org/officeDocument/2006/relationships/image" Target="/ppt/media/image.bin" Id="Raedba0a36d864958" /><Relationship Type="http://schemas.openxmlformats.org/officeDocument/2006/relationships/notesSlide" Target="/ppt/notesSlides/notesSlide1.xml" Id="R00c4220e080146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77badf5dce4f82" /><Relationship Type="http://schemas.openxmlformats.org/officeDocument/2006/relationships/notesSlide" Target="/ppt/notesSlides/notesSlide2.xml" Id="Rdc7c95b6640445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0fcc9a0a7d4fbb" /><Relationship Type="http://schemas.openxmlformats.org/officeDocument/2006/relationships/image" Target="/ppt/media/image2.bin" Id="R7f66cefbd9754e9d" /><Relationship Type="http://schemas.openxmlformats.org/officeDocument/2006/relationships/notesSlide" Target="/ppt/notesSlides/notesSlide3.xml" Id="R5cc50aacc9d349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c6b14da1f14af9" /><Relationship Type="http://schemas.openxmlformats.org/officeDocument/2006/relationships/image" Target="/ppt/media/image3.bin" Id="R7bfc3f5a821044ac" /><Relationship Type="http://schemas.openxmlformats.org/officeDocument/2006/relationships/notesSlide" Target="/ppt/notesSlides/notesSlide4.xml" Id="R5ea0243e7a464e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bc38ee491140ae" /><Relationship Type="http://schemas.openxmlformats.org/officeDocument/2006/relationships/image" Target="/ppt/media/image4.bin" Id="Rcdb4a266bc5548a3" /><Relationship Type="http://schemas.openxmlformats.org/officeDocument/2006/relationships/notesSlide" Target="/ppt/notesSlides/notesSlide5.xml" Id="R6bb690bb32ee46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7d72a34d884fac" /><Relationship Type="http://schemas.openxmlformats.org/officeDocument/2006/relationships/notesSlide" Target="/ppt/notesSlides/notesSlide6.xml" Id="Rf99745658e9f44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03faf5bc324b8b" /><Relationship Type="http://schemas.openxmlformats.org/officeDocument/2006/relationships/image" Target="/ppt/media/image5.bin" Id="R5e3e68f554db4c13" /><Relationship Type="http://schemas.openxmlformats.org/officeDocument/2006/relationships/notesSlide" Target="/ppt/notesSlides/notesSlide7.xml" Id="R1d4df23792e040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20a60a284545d3" /><Relationship Type="http://schemas.openxmlformats.org/officeDocument/2006/relationships/image" Target="/ppt/media/image6.bin" Id="Rf01796a45d7c4aac" /><Relationship Type="http://schemas.openxmlformats.org/officeDocument/2006/relationships/notesSlide" Target="/ppt/notesSlides/notesSlide8.xml" Id="R9ae79e42c4fd4bf8"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edba0a36d864958"/>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0E4CA11C-774E-4F36-BECF-AC003F533E90}"/>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21D4D75B-7C59-4482-BE2D-6684D0D67E64}"/>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12  ·  M10</a:t>
            </a:r>
          </a:p>
        </p:txBody>
      </p:sp>
      <p:sp>
        <p:nvSpPr>
          <p:cNvPr id="4" name="purpose-title">
            <a:extLst xmlns:a="http://schemas.openxmlformats.org/drawingml/2006/main">
              <a:ext uri="{FF2B5EF4-FFF2-40B4-BE49-F238E27FC236}">
                <a16:creationId xmlns:a16="http://schemas.microsoft.com/office/drawing/2014/main" id="{97AC6FC6-1212-4D8A-A0C5-F79A34C6255E}"/>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Experiencing Work</a:t>
            </a:r>
          </a:p>
        </p:txBody>
      </p:sp>
      <p:sp>
        <p:nvSpPr>
          <p:cNvPr id="5" name="purpose-summary">
            <a:extLst xmlns:a="http://schemas.openxmlformats.org/drawingml/2006/main">
              <a:ext uri="{FF2B5EF4-FFF2-40B4-BE49-F238E27FC236}">
                <a16:creationId xmlns:a16="http://schemas.microsoft.com/office/drawing/2014/main" id="{DA21470A-38E1-40AC-8E3B-ABEC3A41170F}"/>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Prepare, participate, record evidence and transfer workplace learning.</a:t>
            </a:r>
          </a:p>
        </p:txBody>
      </p:sp>
      <p:sp>
        <p:nvSpPr>
          <p:cNvPr id="6" name="purpose-before-label">
            <a:extLst xmlns:a="http://schemas.openxmlformats.org/drawingml/2006/main">
              <a:ext uri="{FF2B5EF4-FFF2-40B4-BE49-F238E27FC236}">
                <a16:creationId xmlns:a16="http://schemas.microsoft.com/office/drawing/2014/main" id="{2731AECA-DBC1-4020-9728-BFD8B29E86AB}"/>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8A60031A-ED13-4DE0-8C4C-DCFA69AEFAD4}"/>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DE30C2E7-9478-43A9-999D-280752EF91EC}"/>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2C589F28-DDD5-4436-A282-DD4E0E181E87}"/>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M10  ·  Experiencing Work</a:t>
            </a:r>
          </a:p>
        </p:txBody>
      </p:sp>
      <p:sp>
        <p:nvSpPr>
          <p:cNvPr id="10" name="purpose-footer-number">
            <a:extLst xmlns:a="http://schemas.openxmlformats.org/drawingml/2006/main">
              <a:ext uri="{FF2B5EF4-FFF2-40B4-BE49-F238E27FC236}">
                <a16:creationId xmlns:a16="http://schemas.microsoft.com/office/drawing/2014/main" id="{AD18AC4E-B432-442F-9BE7-E8423409B8CA}"/>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465582461"/>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F236E869-138D-4747-AC64-15FA403C162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M10</a:t>
            </a:r>
          </a:p>
        </p:txBody>
      </p:sp>
      <p:sp>
        <p:nvSpPr>
          <p:cNvPr id="2" name="slide-title-2">
            <a:extLst xmlns:a="http://schemas.openxmlformats.org/drawingml/2006/main">
              <a:ext uri="{FF2B5EF4-FFF2-40B4-BE49-F238E27FC236}">
                <a16:creationId xmlns:a16="http://schemas.microsoft.com/office/drawing/2014/main" id="{165A9B93-BA95-42CD-A522-D03C8D785B7E}"/>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5B8C92CE-6C51-48A4-AA7E-E6291B019CE8}"/>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A76CA1EE-C927-4333-B186-951DC63C8AFE}"/>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Preparing for workplace experience</a:t>
            </a:r>
          </a:p>
        </p:txBody>
      </p:sp>
      <p:sp>
        <p:nvSpPr>
          <p:cNvPr id="5" name="map-intention-1">
            <a:extLst xmlns:a="http://schemas.openxmlformats.org/drawingml/2006/main">
              <a:ext uri="{FF2B5EF4-FFF2-40B4-BE49-F238E27FC236}">
                <a16:creationId xmlns:a16="http://schemas.microsoft.com/office/drawing/2014/main" id="{49AD9613-78D2-4D4C-B6A8-700045553D44}"/>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Prepare for possible workplace experience by researching the environment, setting learning goals and recognising that approval, induction and workplace-specific safety directions control participation.</a:t>
            </a:r>
          </a:p>
        </p:txBody>
      </p:sp>
      <p:sp>
        <p:nvSpPr>
          <p:cNvPr id="6" name="map-divider-1">
            <a:extLst xmlns:a="http://schemas.openxmlformats.org/drawingml/2006/main">
              <a:ext uri="{FF2B5EF4-FFF2-40B4-BE49-F238E27FC236}">
                <a16:creationId xmlns:a16="http://schemas.microsoft.com/office/drawing/2014/main" id="{71CD7C8A-E592-4650-9681-74B9FCFEF4D0}"/>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664739D6-ABCD-4B55-A07C-6097F49D6641}"/>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9FF4917D-85C3-4322-A069-143A83DD9C30}"/>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Observing, participating and recording evidence</a:t>
            </a:r>
          </a:p>
        </p:txBody>
      </p:sp>
      <p:sp>
        <p:nvSpPr>
          <p:cNvPr id="9" name="map-intention-2">
            <a:extLst xmlns:a="http://schemas.openxmlformats.org/drawingml/2006/main">
              <a:ext uri="{FF2B5EF4-FFF2-40B4-BE49-F238E27FC236}">
                <a16:creationId xmlns:a16="http://schemas.microsoft.com/office/drawing/2014/main" id="{B11BCA96-CB8A-4499-896B-0B687F7C6F6B}"/>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Recognise how authorised observation, participation, professional conduct and privacy-safe evidence can demonstrate workplace learning.</a:t>
            </a:r>
          </a:p>
        </p:txBody>
      </p:sp>
      <p:sp>
        <p:nvSpPr>
          <p:cNvPr id="10" name="map-divider-2">
            <a:extLst xmlns:a="http://schemas.openxmlformats.org/drawingml/2006/main">
              <a:ext uri="{FF2B5EF4-FFF2-40B4-BE49-F238E27FC236}">
                <a16:creationId xmlns:a16="http://schemas.microsoft.com/office/drawing/2014/main" id="{928489BC-6BD4-4EF5-BFF2-7D1148A87D6B}"/>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1BD28674-9702-4658-BECA-162940A291F2}"/>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41D94298-C4B5-4519-B172-247313A45897}"/>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Reflecting, transferring learning and planning next steps</a:t>
            </a:r>
          </a:p>
        </p:txBody>
      </p:sp>
      <p:sp>
        <p:nvSpPr>
          <p:cNvPr id="13" name="map-intention-3">
            <a:extLst xmlns:a="http://schemas.openxmlformats.org/drawingml/2006/main">
              <a:ext uri="{FF2B5EF4-FFF2-40B4-BE49-F238E27FC236}">
                <a16:creationId xmlns:a16="http://schemas.microsoft.com/office/drawing/2014/main" id="{F9EDC06A-3251-4FCF-BC27-3A97300068C4}"/>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Evaluate workplace learning, transfer evidence to future contexts and build a realistic next-step pathway plan.</a:t>
            </a:r>
          </a:p>
        </p:txBody>
      </p:sp>
      <p:sp>
        <p:nvSpPr>
          <p:cNvPr id="14" name="map-prompt-band">
            <a:extLst xmlns:a="http://schemas.openxmlformats.org/drawingml/2006/main">
              <a:ext uri="{FF2B5EF4-FFF2-40B4-BE49-F238E27FC236}">
                <a16:creationId xmlns:a16="http://schemas.microsoft.com/office/drawing/2014/main" id="{E541830E-CE4B-48BE-BE81-70870F0E4AEC}"/>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72CA3741-A5FD-4379-9F03-53161A69CDE7}"/>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50DD524F-BC93-463B-908D-4AF671F7D77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DBB5C77B-1C21-4184-B94F-97B475BD914A}"/>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M10  ·  Experiencing Work</a:t>
            </a:r>
          </a:p>
        </p:txBody>
      </p:sp>
      <p:sp>
        <p:nvSpPr>
          <p:cNvPr id="18" name="footer-number-2">
            <a:extLst xmlns:a="http://schemas.openxmlformats.org/drawingml/2006/main">
              <a:ext uri="{FF2B5EF4-FFF2-40B4-BE49-F238E27FC236}">
                <a16:creationId xmlns:a16="http://schemas.microsoft.com/office/drawing/2014/main" id="{CF573EEB-6F64-46D2-B924-B109500E9FFD}"/>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108213316"/>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C9128F2F-CB4B-4C8E-9B80-8E456DD5293F}"/>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M10</a:t>
            </a:r>
          </a:p>
        </p:txBody>
      </p:sp>
      <p:sp>
        <p:nvSpPr>
          <p:cNvPr id="2" name="slide-title-3">
            <a:extLst xmlns:a="http://schemas.openxmlformats.org/drawingml/2006/main">
              <a:ext uri="{FF2B5EF4-FFF2-40B4-BE49-F238E27FC236}">
                <a16:creationId xmlns:a16="http://schemas.microsoft.com/office/drawing/2014/main" id="{89067900-1BA0-44E3-86CB-8FD3035F2FC3}"/>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Preparing for workplace experience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66cefbd9754e9d"/>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936BB3FF-CF10-4BEB-AC3B-03F95ED81FD5}"/>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Workplace experience can connect classroom learning with actual work environments, roles, relationships and expectations. Useful preparation investigates the organisation's purpose, customers or community, work environment, roles, common communication and the skills students may be able to observe. Work health and safety concepts help students ask better questions.</a:t>
            </a:r>
          </a:p>
        </p:txBody>
      </p:sp>
      <p:sp>
        <p:nvSpPr>
          <p:cNvPr id="5" name="theory-evidence-surface-1">
            <a:extLst xmlns:a="http://schemas.openxmlformats.org/drawingml/2006/main">
              <a:ext uri="{FF2B5EF4-FFF2-40B4-BE49-F238E27FC236}">
                <a16:creationId xmlns:a16="http://schemas.microsoft.com/office/drawing/2014/main" id="{CABEDDDE-C40A-4A33-9638-2725F8580EA5}"/>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D187CE97-7377-4DC8-8A2F-39D1CE8E9EE6}"/>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82CC284C-981C-454B-91BD-E6F0DBB4C2E4}"/>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Placement-readiness simulation. Evidence: A planning-only readiness brief and question bank; it does not authorise contact, attendance or task participation.</a:t>
            </a:r>
          </a:p>
        </p:txBody>
      </p:sp>
      <p:sp>
        <p:nvSpPr>
          <p:cNvPr id="8" name="theory-notice-1">
            <a:extLst xmlns:a="http://schemas.openxmlformats.org/drawingml/2006/main">
              <a:ext uri="{FF2B5EF4-FFF2-40B4-BE49-F238E27FC236}">
                <a16:creationId xmlns:a16="http://schemas.microsoft.com/office/drawing/2014/main" id="{134756F1-C6FF-45AA-A42E-7CA12584CAC8}"/>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transport, clothing, contact and goal cues. Which item would be hardest to fix after arriving?</a:t>
            </a:r>
          </a:p>
        </p:txBody>
      </p:sp>
      <p:sp>
        <p:nvSpPr>
          <p:cNvPr id="9" name="theory-success-1">
            <a:extLst xmlns:a="http://schemas.openxmlformats.org/drawingml/2006/main">
              <a:ext uri="{FF2B5EF4-FFF2-40B4-BE49-F238E27FC236}">
                <a16:creationId xmlns:a16="http://schemas.microsoft.com/office/drawing/2014/main" id="{7570B0BF-F219-4131-A811-798B29580F81}"/>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general readiness learning from an authorised placement instruction.</a:t>
            </a:r>
          </a:p>
        </p:txBody>
      </p:sp>
      <p:sp>
        <p:nvSpPr>
          <p:cNvPr id="10" name="footer-rule-3">
            <a:extLst xmlns:a="http://schemas.openxmlformats.org/drawingml/2006/main">
              <a:ext uri="{FF2B5EF4-FFF2-40B4-BE49-F238E27FC236}">
                <a16:creationId xmlns:a16="http://schemas.microsoft.com/office/drawing/2014/main" id="{DCA96D2E-F344-4B6F-B806-831C0331B391}"/>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D62D66E1-829F-4101-9B56-360C7F1481D4}"/>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M10  ·  Experiencing Work</a:t>
            </a:r>
          </a:p>
        </p:txBody>
      </p:sp>
      <p:sp>
        <p:nvSpPr>
          <p:cNvPr id="12" name="footer-number-3">
            <a:extLst xmlns:a="http://schemas.openxmlformats.org/drawingml/2006/main">
              <a:ext uri="{FF2B5EF4-FFF2-40B4-BE49-F238E27FC236}">
                <a16:creationId xmlns:a16="http://schemas.microsoft.com/office/drawing/2014/main" id="{BBC56FFC-E98A-442E-9448-40B981B55201}"/>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1575570815"/>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1450D96F-A65B-4C7E-B775-8B77D34C74C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M10</a:t>
            </a:r>
          </a:p>
        </p:txBody>
      </p:sp>
      <p:sp>
        <p:nvSpPr>
          <p:cNvPr id="2" name="slide-title-4">
            <a:extLst xmlns:a="http://schemas.openxmlformats.org/drawingml/2006/main">
              <a:ext uri="{FF2B5EF4-FFF2-40B4-BE49-F238E27FC236}">
                <a16:creationId xmlns:a16="http://schemas.microsoft.com/office/drawing/2014/main" id="{1C6BD6D0-32DF-4005-AA8A-01CCEEBABA32}"/>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Observing, participating and recording evidence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bfc3f5a821044ac"/>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E01BCDE0-465E-4A79-801C-17E83A8749C4}"/>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In an authorised placement, participation remains bounded by the student's induction, permitted tasks, training and supervision. Evidence should make learning visible without exposing the workplace. Feedback is information about performance in relation to an expectation.</a:t>
            </a:r>
          </a:p>
        </p:txBody>
      </p:sp>
      <p:sp>
        <p:nvSpPr>
          <p:cNvPr id="5" name="theory-evidence-surface-2">
            <a:extLst xmlns:a="http://schemas.openxmlformats.org/drawingml/2006/main">
              <a:ext uri="{FF2B5EF4-FFF2-40B4-BE49-F238E27FC236}">
                <a16:creationId xmlns:a16="http://schemas.microsoft.com/office/drawing/2014/main" id="{B1CC5C51-2CD0-4395-8809-A8850D59E21F}"/>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AE7F294D-2F9C-4A54-99DB-A3BF37B56E2D}"/>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4F0CAF1C-B17B-4D8A-A2C8-FFEB6EC08DE4}"/>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Evidence-without-exposure lab. Using a fictional placement vignette, turn five raw notes into objective, de-identified learning records. Evidence: A privacy-safe learning log and a permission decision table.</a:t>
            </a:r>
          </a:p>
        </p:txBody>
      </p:sp>
      <p:sp>
        <p:nvSpPr>
          <p:cNvPr id="8" name="theory-notice-2">
            <a:extLst xmlns:a="http://schemas.openxmlformats.org/drawingml/2006/main">
              <a:ext uri="{FF2B5EF4-FFF2-40B4-BE49-F238E27FC236}">
                <a16:creationId xmlns:a16="http://schemas.microsoft.com/office/drawing/2014/main" id="{9C191D95-63F9-4225-9F17-5D355E27CC81}"/>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supervisor, low-risk task and notebook. What could the learner record without including private workplace information?</a:t>
            </a:r>
          </a:p>
        </p:txBody>
      </p:sp>
      <p:sp>
        <p:nvSpPr>
          <p:cNvPr id="9" name="theory-success-2">
            <a:extLst xmlns:a="http://schemas.openxmlformats.org/drawingml/2006/main">
              <a:ext uri="{FF2B5EF4-FFF2-40B4-BE49-F238E27FC236}">
                <a16:creationId xmlns:a16="http://schemas.microsoft.com/office/drawing/2014/main" id="{95DEF32C-79C8-4A62-BFF4-E8C9C3F3B5A6}"/>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observation, authorised participation and independent action.</a:t>
            </a:r>
          </a:p>
        </p:txBody>
      </p:sp>
      <p:sp>
        <p:nvSpPr>
          <p:cNvPr id="10" name="footer-rule-4">
            <a:extLst xmlns:a="http://schemas.openxmlformats.org/drawingml/2006/main">
              <a:ext uri="{FF2B5EF4-FFF2-40B4-BE49-F238E27FC236}">
                <a16:creationId xmlns:a16="http://schemas.microsoft.com/office/drawing/2014/main" id="{57EEFAAD-E3A8-49A6-A995-BD182C09A6B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25A72C7D-3EF9-4A47-BCC5-C72C515A0EED}"/>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M10  ·  Experiencing Work</a:t>
            </a:r>
          </a:p>
        </p:txBody>
      </p:sp>
      <p:sp>
        <p:nvSpPr>
          <p:cNvPr id="12" name="footer-number-4">
            <a:extLst xmlns:a="http://schemas.openxmlformats.org/drawingml/2006/main">
              <a:ext uri="{FF2B5EF4-FFF2-40B4-BE49-F238E27FC236}">
                <a16:creationId xmlns:a16="http://schemas.microsoft.com/office/drawing/2014/main" id="{69290720-5A59-4D21-A9D7-1FBB12A5996A}"/>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1135259183"/>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FF8E61A6-AF97-4418-8D74-772C11958600}"/>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M10</a:t>
            </a:r>
          </a:p>
        </p:txBody>
      </p:sp>
      <p:sp>
        <p:nvSpPr>
          <p:cNvPr id="2" name="slide-title-5">
            <a:extLst xmlns:a="http://schemas.openxmlformats.org/drawingml/2006/main">
              <a:ext uri="{FF2B5EF4-FFF2-40B4-BE49-F238E27FC236}">
                <a16:creationId xmlns:a16="http://schemas.microsoft.com/office/drawing/2014/main" id="{4A04C3DF-2D5E-4D8D-B06F-D9F6FDA7243C}"/>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Reflecting, transferring learning and planning next steps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db4a266bc5548a3"/>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04F97E5F-EEEC-4E01-8DFF-64EDE6011695}"/>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Reflection explains the significance of experience rather than listing events. Transfer turns one example into a credible claim about future performance. Next-step planning combines self-knowledge with pathway research.</a:t>
            </a:r>
          </a:p>
        </p:txBody>
      </p:sp>
      <p:sp>
        <p:nvSpPr>
          <p:cNvPr id="5" name="theory-evidence-surface-3">
            <a:extLst xmlns:a="http://schemas.openxmlformats.org/drawingml/2006/main">
              <a:ext uri="{FF2B5EF4-FFF2-40B4-BE49-F238E27FC236}">
                <a16:creationId xmlns:a16="http://schemas.microsoft.com/office/drawing/2014/main" id="{A6AB3974-5230-4A38-B7A2-81EC535A9AF7}"/>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F6CA90AB-1796-49DD-8883-4F5C7BC0F331}"/>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628F9223-1293-456A-A40B-DE514716FB36}"/>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Evidence-to-pathway portfolio. Use a fictional, simulated or authorised de-identified experience to write two skill evidence statements, one growth goal and a comparison of three next-step pathways. Evidence: A privacy-safe reflection, transfer matrix and reviewable pathway action plan.</a:t>
            </a:r>
          </a:p>
        </p:txBody>
      </p:sp>
      <p:sp>
        <p:nvSpPr>
          <p:cNvPr id="8" name="theory-notice-3">
            <a:extLst xmlns:a="http://schemas.openxmlformats.org/drawingml/2006/main">
              <a:ext uri="{FF2B5EF4-FFF2-40B4-BE49-F238E27FC236}">
                <a16:creationId xmlns:a16="http://schemas.microsoft.com/office/drawing/2014/main" id="{111C53A3-4451-456D-84E6-E90F70ABD57C}"/>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experience photographs and transferable-skill tokens. Which skill appears across more than one setting?</a:t>
            </a:r>
          </a:p>
        </p:txBody>
      </p:sp>
      <p:sp>
        <p:nvSpPr>
          <p:cNvPr id="9" name="theory-success-3">
            <a:extLst xmlns:a="http://schemas.openxmlformats.org/drawingml/2006/main">
              <a:ext uri="{FF2B5EF4-FFF2-40B4-BE49-F238E27FC236}">
                <a16:creationId xmlns:a16="http://schemas.microsoft.com/office/drawing/2014/main" id="{E6476538-1961-4308-8074-2FF57705A4A8}"/>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move from description to evidence-based reflection.</a:t>
            </a:r>
          </a:p>
        </p:txBody>
      </p:sp>
      <p:sp>
        <p:nvSpPr>
          <p:cNvPr id="10" name="footer-rule-5">
            <a:extLst xmlns:a="http://schemas.openxmlformats.org/drawingml/2006/main">
              <a:ext uri="{FF2B5EF4-FFF2-40B4-BE49-F238E27FC236}">
                <a16:creationId xmlns:a16="http://schemas.microsoft.com/office/drawing/2014/main" id="{90FB3156-970D-4ED9-B087-0BFF15849A4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29B1E84D-1225-411A-A6EC-5D91D2B8AA6A}"/>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M10  ·  Experiencing Work</a:t>
            </a:r>
          </a:p>
        </p:txBody>
      </p:sp>
      <p:sp>
        <p:nvSpPr>
          <p:cNvPr id="12" name="footer-number-5">
            <a:extLst xmlns:a="http://schemas.openxmlformats.org/drawingml/2006/main">
              <a:ext uri="{FF2B5EF4-FFF2-40B4-BE49-F238E27FC236}">
                <a16:creationId xmlns:a16="http://schemas.microsoft.com/office/drawing/2014/main" id="{4B07855E-331C-4D03-AF9E-C9B003D3054D}"/>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592407929"/>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E66651D6-0A16-4D26-A1DA-1EAE6E2AAB48}"/>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M10</a:t>
            </a:r>
          </a:p>
        </p:txBody>
      </p:sp>
      <p:sp>
        <p:nvSpPr>
          <p:cNvPr id="2" name="slide-title-6">
            <a:extLst xmlns:a="http://schemas.openxmlformats.org/drawingml/2006/main">
              <a:ext uri="{FF2B5EF4-FFF2-40B4-BE49-F238E27FC236}">
                <a16:creationId xmlns:a16="http://schemas.microsoft.com/office/drawing/2014/main" id="{A4655805-D138-4830-9763-128A582B3273}"/>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6064ABC9-2D89-4342-80F7-108CFDF3B254}"/>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3A71209C-AC09-443D-AC5A-7220CAE427FD}"/>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E9E404D6-43E3-4712-93CB-C27B20C8AC45}"/>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does this learning package authorise a student to do?</a:t>
            </a:r>
          </a:p>
        </p:txBody>
      </p:sp>
      <p:sp>
        <p:nvSpPr>
          <p:cNvPr id="6" name="retrieval-separator-1">
            <a:extLst xmlns:a="http://schemas.openxmlformats.org/drawingml/2006/main">
              <a:ext uri="{FF2B5EF4-FFF2-40B4-BE49-F238E27FC236}">
                <a16:creationId xmlns:a16="http://schemas.microsoft.com/office/drawing/2014/main" id="{1B056CFA-CF41-432A-9802-0062E01D3077}"/>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C768DB58-DB6D-4525-AD37-9D88A2F92ACB}"/>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F9C24A02-7478-4FB9-AD61-5BA0B28A9990}"/>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does observing an employee perform a task prove about the student's authority?</a:t>
            </a:r>
          </a:p>
        </p:txBody>
      </p:sp>
      <p:sp>
        <p:nvSpPr>
          <p:cNvPr id="9" name="retrieval-separator-2">
            <a:extLst xmlns:a="http://schemas.openxmlformats.org/drawingml/2006/main">
              <a:ext uri="{FF2B5EF4-FFF2-40B4-BE49-F238E27FC236}">
                <a16:creationId xmlns:a16="http://schemas.microsoft.com/office/drawing/2014/main" id="{4443ECEA-B522-4B92-A61C-74B682F235E3}"/>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CF82908B-3009-46B2-AB3E-46CF01D81CD9}"/>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8E7A4D82-EF0B-4E3D-91C7-6AAA8B56ADB4}"/>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distinguishes reflection from an event list?</a:t>
            </a:r>
          </a:p>
        </p:txBody>
      </p:sp>
      <p:sp>
        <p:nvSpPr>
          <p:cNvPr id="12" name="retrieval-cycle">
            <a:extLst xmlns:a="http://schemas.openxmlformats.org/drawingml/2006/main">
              <a:ext uri="{FF2B5EF4-FFF2-40B4-BE49-F238E27FC236}">
                <a16:creationId xmlns:a16="http://schemas.microsoft.com/office/drawing/2014/main" id="{831417B4-9BEE-41A5-8151-01A065900129}"/>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9B03E541-0232-4164-A8AD-701DA552A45E}"/>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3E689F8C-723E-44DA-B750-C00ED29AB0F3}"/>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DAF1DB90-B850-43EA-A98B-756FB3D6FA8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D2167798-C91B-40F4-AE14-0E4FAC49F236}"/>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M10  ·  Experiencing Work</a:t>
            </a:r>
          </a:p>
        </p:txBody>
      </p:sp>
      <p:sp>
        <p:nvSpPr>
          <p:cNvPr id="17" name="footer-number-6">
            <a:extLst xmlns:a="http://schemas.openxmlformats.org/drawingml/2006/main">
              <a:ext uri="{FF2B5EF4-FFF2-40B4-BE49-F238E27FC236}">
                <a16:creationId xmlns:a16="http://schemas.microsoft.com/office/drawing/2014/main" id="{02CF4905-178E-45A7-8E40-50B78DAE052B}"/>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1333897566"/>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53EC3036-CCA8-4499-858A-560BE4000550}"/>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M10</a:t>
            </a:r>
          </a:p>
        </p:txBody>
      </p:sp>
      <p:sp>
        <p:nvSpPr>
          <p:cNvPr id="2" name="slide-title-7">
            <a:extLst xmlns:a="http://schemas.openxmlformats.org/drawingml/2006/main">
              <a:ext uri="{FF2B5EF4-FFF2-40B4-BE49-F238E27FC236}">
                <a16:creationId xmlns:a16="http://schemas.microsoft.com/office/drawing/2014/main" id="{82C81894-B323-4815-898A-535B9E9CAE11}"/>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e3e68f554db4c13"/>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2CD7C0D1-FC32-413E-8C82-DFBC0DE94B37}"/>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what a hypothetical or authorised workplace experience reveals about a student's capabilities and recommend a reviewable next-step pathway.</a:t>
            </a:r>
          </a:p>
        </p:txBody>
      </p:sp>
      <p:sp>
        <p:nvSpPr>
          <p:cNvPr id="5" name="guided-step-number-1">
            <a:extLst xmlns:a="http://schemas.openxmlformats.org/drawingml/2006/main">
              <a:ext uri="{FF2B5EF4-FFF2-40B4-BE49-F238E27FC236}">
                <a16:creationId xmlns:a16="http://schemas.microsoft.com/office/drawing/2014/main" id="{EA65A78D-F7DB-4479-8C71-699B3AAD7518}"/>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EE830503-014B-49D1-8339-48733B4F2F29}"/>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91211379-E9D5-471E-85E9-5E2712498CF7}"/>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804FDDB5-45DE-4634-A704-29F9BBBC5635}"/>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0BCC1313-A016-4294-B863-15BDD51E17BD}"/>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68A55998-87F2-4EDB-9AA7-C03D1726188E}"/>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6E5A5B6A-0B64-4A66-B16E-E401DCED5F40}"/>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5FF28AE2-C325-4F74-9A3F-B00535B0B253}"/>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FC610052-54E6-4743-8111-9A89B7073960}"/>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83E083C5-6011-42F8-9BC0-1153A4C835FF}"/>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BFCBFDFE-693A-44E3-BA25-1498128DC76B}"/>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56509315-A4D8-48B1-AF60-53A2FF3AD811}"/>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5E0435D6-7505-4D4E-96F0-23396D45732C}"/>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14418BC2-ABF4-4E33-8F7A-0DCB93FF9DB2}"/>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96639C7B-537D-4C97-988A-CAA0599EA5A1}"/>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2684D138-F89C-45F4-8178-75496A933264}"/>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BDA518BB-2C75-41D6-9D27-4726E2FD6A20}"/>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49B5C89A-DC00-460A-B4AA-B28B8C4A232C}"/>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Uses specific evidence without exaggerating the experience.</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Treats one experience as informative but not career-determining.</a:t>
            </a:r>
          </a:p>
        </p:txBody>
      </p:sp>
      <p:sp>
        <p:nvSpPr>
          <p:cNvPr id="23" name="guided-visual-notice">
            <a:extLst xmlns:a="http://schemas.openxmlformats.org/drawingml/2006/main">
              <a:ext uri="{FF2B5EF4-FFF2-40B4-BE49-F238E27FC236}">
                <a16:creationId xmlns:a16="http://schemas.microsoft.com/office/drawing/2014/main" id="{987F31C9-E157-4D0E-99A2-6D3B715A6E2E}"/>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601801BB-5A5B-452B-AD1B-62DE73F2EB5F}"/>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D28B9F6B-E9C4-442C-9694-1254F9D4D8D6}"/>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M10  ·  Experiencing Work</a:t>
            </a:r>
          </a:p>
        </p:txBody>
      </p:sp>
      <p:sp>
        <p:nvSpPr>
          <p:cNvPr id="26" name="footer-number-7">
            <a:extLst xmlns:a="http://schemas.openxmlformats.org/drawingml/2006/main">
              <a:ext uri="{FF2B5EF4-FFF2-40B4-BE49-F238E27FC236}">
                <a16:creationId xmlns:a16="http://schemas.microsoft.com/office/drawing/2014/main" id="{4824325B-6806-43B9-9E3F-361A4E737C8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314435836"/>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7204A304-12B8-4EDB-837F-0BF6673BEAAD}"/>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M10</a:t>
            </a:r>
          </a:p>
        </p:txBody>
      </p:sp>
      <p:sp>
        <p:nvSpPr>
          <p:cNvPr id="2" name="slide-title-8">
            <a:extLst xmlns:a="http://schemas.openxmlformats.org/drawingml/2006/main">
              <a:ext uri="{FF2B5EF4-FFF2-40B4-BE49-F238E27FC236}">
                <a16:creationId xmlns:a16="http://schemas.microsoft.com/office/drawing/2014/main" id="{7F2E5319-09F3-4467-9A50-F1810D445989}"/>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01796a45d7c4aac"/>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36DCDD6B-AE01-4F11-A832-1FF8EB461B1B}"/>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C40586C7-99B9-464A-8FED-B6C582FA91C4}"/>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897A2ABE-A4B2-43C7-956E-6717A201D841}"/>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FFD7CD71-0F24-41EB-822F-B068A7E84513}"/>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432F1478-8053-4662-9DC3-FD5B5E57404C}"/>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DED97AB4-0166-42AC-99EA-B92AB10EC7F8}"/>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DFD6E842-57F6-4104-A0CA-07A66FE4BFA2}"/>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8A2A4688-9D46-4889-BB53-CDBF236EEA2D}"/>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A91700E8-02FA-4CA6-AB28-669204290019}"/>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reflecting, transferring learning and planning next steps.</a:t>
            </a:r>
          </a:p>
        </p:txBody>
      </p:sp>
      <p:sp>
        <p:nvSpPr>
          <p:cNvPr id="13" name="close-boundary">
            <a:extLst xmlns:a="http://schemas.openxmlformats.org/drawingml/2006/main">
              <a:ext uri="{FF2B5EF4-FFF2-40B4-BE49-F238E27FC236}">
                <a16:creationId xmlns:a16="http://schemas.microsoft.com/office/drawing/2014/main" id="{06B53FCE-E93C-479A-BCE7-32AB46A327ED}"/>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A344A2B2-57A8-4A3D-A8D9-D7D428077411}"/>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B5EA19B4-FABD-447A-9CD7-43615CE42B9B}"/>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CA1E9791-3DE9-4E88-A02F-BC3D60313D5C}"/>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M10  ·  Experiencing Work</a:t>
            </a:r>
          </a:p>
        </p:txBody>
      </p:sp>
      <p:sp>
        <p:nvSpPr>
          <p:cNvPr id="17" name="footer-number-8">
            <a:extLst xmlns:a="http://schemas.openxmlformats.org/drawingml/2006/main">
              <a:ext uri="{FF2B5EF4-FFF2-40B4-BE49-F238E27FC236}">
                <a16:creationId xmlns:a16="http://schemas.microsoft.com/office/drawing/2014/main" id="{5173E14C-029F-43FC-A1D1-555BEB449F4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964672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2026-08-31T09:25:46.4760000Z</dcterms:created>
  <dcterms:modified xsi:type="dcterms:W3CDTF">2026-08-31T09:25:46.4760000Z</dcterms:modified>
</coreProperties>
</file>