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80cbbde1ef4dee" /><Relationship Type="http://schemas.openxmlformats.org/officeDocument/2006/relationships/extended-properties" Target="/docProps/app.xml" Id="Re5f3b53ecc444778" /><Relationship Type="http://schemas.openxmlformats.org/officeDocument/2006/relationships/officeDocument" Target="/ppt/presentation.xml" Id="R5c7499b7697a4353" /></Relationships>
</file>

<file path=ppt/presentation.xml><?xml version="1.0" encoding="utf-8"?>
<p:presentation xmlns:p="http://schemas.openxmlformats.org/presentationml/2006/main">
  <p:sldMasterIdLst>
    <p:sldMasterId xmlns:r="http://schemas.openxmlformats.org/officeDocument/2006/relationships" id="2147483648" r:id="R44558584c6784667"/>
  </p:sldMasterIdLst>
  <p:notesMasterIdLst>
    <p:notesMasterId xmlns:r="http://schemas.openxmlformats.org/officeDocument/2006/relationships" r:id="Rbdedc8cbfeac408a"/>
  </p:notesMasterIdLst>
  <p:sldIdLst>
    <p:sldId xmlns:r="http://schemas.openxmlformats.org/officeDocument/2006/relationships" id="256" r:id="R8ee6bb106ca44ab7"/>
    <p:sldId xmlns:r="http://schemas.openxmlformats.org/officeDocument/2006/relationships" id="257" r:id="R29e8ea4e5d854ff1"/>
    <p:sldId xmlns:r="http://schemas.openxmlformats.org/officeDocument/2006/relationships" id="258" r:id="R4ac3499b4d8d4b86"/>
    <p:sldId xmlns:r="http://schemas.openxmlformats.org/officeDocument/2006/relationships" id="259" r:id="Rf539e9f1e30045ae"/>
    <p:sldId xmlns:r="http://schemas.openxmlformats.org/officeDocument/2006/relationships" id="260" r:id="R185919f3419a4322"/>
    <p:sldId xmlns:r="http://schemas.openxmlformats.org/officeDocument/2006/relationships" id="261" r:id="R1eb347c59bc3436e"/>
    <p:sldId xmlns:r="http://schemas.openxmlformats.org/officeDocument/2006/relationships" id="262" r:id="Ra4d38e1cdb6c44b9"/>
    <p:sldId xmlns:r="http://schemas.openxmlformats.org/officeDocument/2006/relationships" id="263" r:id="R380fd37f71bb4d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a221594de34fdf" /><Relationship Type="http://schemas.openxmlformats.org/officeDocument/2006/relationships/slideMaster" Target="/ppt/slideMasters/slideMaster1.xml" Id="R44558584c6784667" /><Relationship Type="http://schemas.openxmlformats.org/officeDocument/2006/relationships/notesMaster" Target="/ppt/notesMasters/notesMaster1.xml" Id="Rbdedc8cbfeac408a" /><Relationship Type="http://schemas.openxmlformats.org/officeDocument/2006/relationships/presProps" Target="/ppt/presProps.xml" Id="R97d6f3f097c84857" /><Relationship Type="http://schemas.openxmlformats.org/officeDocument/2006/relationships/tableStyles" Target="/ppt/tableStyles.xml" Id="R107d603c0fb74016" /><Relationship Type="http://schemas.openxmlformats.org/officeDocument/2006/relationships/slide" Target="/ppt/slides/slide1.xml" Id="R8ee6bb106ca44ab7" /><Relationship Type="http://schemas.openxmlformats.org/officeDocument/2006/relationships/slide" Target="/ppt/slides/slide2.xml" Id="R29e8ea4e5d854ff1" /><Relationship Type="http://schemas.openxmlformats.org/officeDocument/2006/relationships/slide" Target="/ppt/slides/slide3.xml" Id="R4ac3499b4d8d4b86" /><Relationship Type="http://schemas.openxmlformats.org/officeDocument/2006/relationships/slide" Target="/ppt/slides/slide4.xml" Id="Rf539e9f1e30045ae" /><Relationship Type="http://schemas.openxmlformats.org/officeDocument/2006/relationships/slide" Target="/ppt/slides/slide5.xml" Id="R185919f3419a4322" /><Relationship Type="http://schemas.openxmlformats.org/officeDocument/2006/relationships/slide" Target="/ppt/slides/slide6.xml" Id="R1eb347c59bc3436e" /><Relationship Type="http://schemas.openxmlformats.org/officeDocument/2006/relationships/slide" Target="/ppt/slides/slide7.xml" Id="Ra4d38e1cdb6c44b9" /><Relationship Type="http://schemas.openxmlformats.org/officeDocument/2006/relationships/slide" Target="/ppt/slides/slide8.xml" Id="R380fd37f71bb4d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b627a33d0e46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fc6145b50d4eee" /><Relationship Type="http://schemas.openxmlformats.org/officeDocument/2006/relationships/notesMaster" Target="/ppt/notesMasters/notesMaster1.xml" Id="Rff9bc6bab4164d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f27b74b8694622" /><Relationship Type="http://schemas.openxmlformats.org/officeDocument/2006/relationships/notesMaster" Target="/ppt/notesMasters/notesMaster1.xml" Id="Rd906febd104a4c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685f11207c47f8" /><Relationship Type="http://schemas.openxmlformats.org/officeDocument/2006/relationships/notesMaster" Target="/ppt/notesMasters/notesMaster1.xml" Id="R6ae7a22ebcaf46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28ea6b92da43ff" /><Relationship Type="http://schemas.openxmlformats.org/officeDocument/2006/relationships/notesMaster" Target="/ppt/notesMasters/notesMaster1.xml" Id="Rf094bda5d91e43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8fe288a7534418" /><Relationship Type="http://schemas.openxmlformats.org/officeDocument/2006/relationships/notesMaster" Target="/ppt/notesMasters/notesMaster1.xml" Id="R2cccda9a5de64a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be24c878bf4ac8" /><Relationship Type="http://schemas.openxmlformats.org/officeDocument/2006/relationships/notesMaster" Target="/ppt/notesMasters/notesMaster1.xml" Id="Rbc17171e5bca47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ae9edc519e4c02" /><Relationship Type="http://schemas.openxmlformats.org/officeDocument/2006/relationships/notesMaster" Target="/ppt/notesMasters/notesMaster1.xml" Id="R108ee2dca9db41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b89be6ab5b46f7" /><Relationship Type="http://schemas.openxmlformats.org/officeDocument/2006/relationships/notesMaster" Target="/ppt/notesMasters/notesMaster1.xml" Id="R5c1f2f01ad4a4c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Establish the purpose of In the Workplace.</a:t>
            </a:r>
          </a:p>
          <a:p xmlns:a="http://schemas.openxmlformats.org/drawingml/2006/main">
            <a:r>
              <a:t/>
            </a:r>
          </a:p>
          <a:p xmlns:a="http://schemas.openxmlformats.org/drawingml/2006/main">
            <a:r>
              <a:t>Talking points</a:t>
            </a:r>
          </a:p>
          <a:p xmlns:a="http://schemas.openxmlformats.org/drawingml/2006/main">
            <a:r>
              <a:t>- Read workplace structures, participate safely and understand culture, performance and change.</a:t>
            </a:r>
          </a:p>
          <a:p xmlns:a="http://schemas.openxmlformats.org/drawingml/2006/main">
            <a:r>
              <a:t>- Name the three learning areas without teaching them yet: Workplace structures, roles and relationships; Rights, responsibilities and safe participation; Workplace culture, performance and change.</a:t>
            </a:r>
          </a:p>
          <a:p xmlns:a="http://schemas.openxmlformats.org/drawingml/2006/main">
            <a:r>
              <a:t>- This deck supports learning and formative evidence. It does not replace current teacher directions or assessment notices.</a:t>
            </a:r>
          </a:p>
          <a:p xmlns:a="http://schemas.openxmlformats.org/drawingml/2006/main">
            <a:r>
              <a:t>- Visual notice: Notice how each path leads to a different work context. What would you need to learn about yourself and the setting before choosing?</a:t>
            </a:r>
          </a:p>
          <a:p xmlns:a="http://schemas.openxmlformats.org/drawingml/2006/main">
            <a:r>
              <a:t/>
            </a:r>
          </a:p>
          <a:p xmlns:a="http://schemas.openxmlformats.org/drawingml/2006/main">
            <a:r>
              <a:t>Prompt: Ask students where the module could affect a real decision, then collect two or three examples.</a:t>
            </a:r>
          </a:p>
          <a:p xmlns:a="http://schemas.openxmlformats.org/drawingml/2006/main">
            <a:r>
              <a:t/>
            </a:r>
          </a:p>
          <a:p xmlns:a="http://schemas.openxmlformats.org/drawingml/2006/main">
            <a:r>
              <a:t>Transition: Move from the purpose to the three-part learning map.</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1 -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specialists/visuals/web-ready/course-orientation.webp | original AI-generated raster | SHA-256 60539a909cbb5bb58ab0a9b03d8b22631666fa97c9f417ed06dcdd419d8c5605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Preview the three named sections as a connected learning sequence.</a:t>
            </a:r>
          </a:p>
          <a:p xmlns:a="http://schemas.openxmlformats.org/drawingml/2006/main">
            <a:r>
              <a:t/>
            </a:r>
          </a:p>
          <a:p xmlns:a="http://schemas.openxmlformats.org/drawingml/2006/main">
            <a:r>
              <a:t>Talking points</a:t>
            </a:r>
          </a:p>
          <a:p xmlns:a="http://schemas.openxmlformats.org/drawingml/2006/main">
            <a:r>
              <a:t>- 1. Workplace structures, roles and relationships: Understand how structures, roles, employment arrangements and relationships coordinate workplace activity.</a:t>
            </a:r>
          </a:p>
          <a:p xmlns:a="http://schemas.openxmlformats.org/drawingml/2006/main">
            <a:r>
              <a:t>- 2. Rights, responsibilities and safe participation: Explain the reciprocal obligations that support lawful, fair and safe participation at work.</a:t>
            </a:r>
          </a:p>
          <a:p xmlns:a="http://schemas.openxmlformats.org/drawingml/2006/main">
            <a:r>
              <a:t>- 3. Workplace culture, performance and change: Assess how culture, feedback, performance expectations and change influence workplace success.</a:t>
            </a:r>
          </a:p>
          <a:p xmlns:a="http://schemas.openxmlformats.org/drawingml/2006/main">
            <a:r>
              <a:t/>
            </a:r>
          </a:p>
          <a:p xmlns:a="http://schemas.openxmlformats.org/drawingml/2006/main">
            <a:r>
              <a:t>Prompt: Ask students to predict which section will be most useful in the next year and explain why.</a:t>
            </a:r>
          </a:p>
          <a:p xmlns:a="http://schemas.openxmlformats.org/drawingml/2006/main">
            <a:r>
              <a:t/>
            </a:r>
          </a:p>
          <a:p xmlns:a="http://schemas.openxmlformats.org/drawingml/2006/main">
            <a:r>
              <a:t>Transition: Begin with Workplace structures, roles and relationships.</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1 -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Understand how structures, roles, employment arrangements and relationships coordinate workplace activity.</a:t>
            </a:r>
          </a:p>
          <a:p xmlns:a="http://schemas.openxmlformats.org/drawingml/2006/main">
            <a:r>
              <a:t/>
            </a:r>
          </a:p>
          <a:p xmlns:a="http://schemas.openxmlformats.org/drawingml/2006/main">
            <a:r>
              <a:t>Talking points</a:t>
            </a:r>
          </a:p>
          <a:p xmlns:a="http://schemas.openxmlformats.org/drawingml/2006/main">
            <a:r>
              <a:t>- A workplace structure shows how responsibilities and authority are arranged. In a small organisation one person may perform several functions; a larger organisation may separate operations, finance, customer service, human resources and management. An organisational chart can show formal reporting lines, but it does not capture every working relationship. Employees also cooperate across teams, communicate with internal and external customers and seek specialist help. Knowing who is responsible for a decision reduces duplication, delay and the risk of acting beyond a person’s role.</a:t>
            </a:r>
          </a:p>
          <a:p xmlns:a="http://schemas.openxmlformats.org/drawingml/2006/main">
            <a:r>
              <a:t>- A role is the broad contribution expected from a position, while responsibilities are the particular duties and standards attached to it. Relationships describe how people coordinate, supervise, support, supply or serve one another. New workers need to clarify priorities, limits and escalation points rather than relying on assumptions. Workplace protocols—such as how to greet customers, record information, request assistance or attend a meeting—translate organisational expectations into consistent behaviour. Protocols should be learned from the actual workplace, not copied from an unrelated setting.</a:t>
            </a:r>
          </a:p>
          <a:p xmlns:a="http://schemas.openxmlformats.org/drawingml/2006/main">
            <a:r>
              <a:t>- Employment arrangements also shape workplace relationships. Casual, part-time, full-time, apprenticeship or traineeship, contract, labour-hire, voluntary and self-employed work can involve different patterns of hours, supervision, continuity and responsibility. The label alone does not reveal every condition, so workers should use current, authoritative information and their actual documentation. Comparing arrangements fairly means considering both the organisation’s needs and the worker’s income, learning, security, flexibility and future pathway.</a:t>
            </a:r>
          </a:p>
          <a:p xmlns:a="http://schemas.openxmlformats.org/drawingml/2006/main">
            <a:r>
              <a:t>- Worked example — Finding the right reporting path: Noah, a new café employee, notices that an online order has been charged twice. The shift supervisor is serving customers and the owner is off-site. Noah checks the café’s confirmed process, preserves the customer’s information and tells the person currently authorised to resolve payment issues. He explains the facts without promising an outcome beyond his role. This uses the formal structure and immediate working relationships: Noah takes responsibility for noticing and reporting the problem while leaving the financial decision to the authorised role.</a:t>
            </a:r>
          </a:p>
          <a:p xmlns:a="http://schemas.openxmlformats.org/drawingml/2006/main">
            <a:r>
              <a:t>- Visual caption: Different responsibilities meet around the same outcome, so one role's work affects the others.</a:t>
            </a:r>
          </a:p>
          <a:p xmlns:a="http://schemas.openxmlformats.org/drawingml/2006/main">
            <a:r>
              <a:t>- Visual notice: Notice the role cues around the prototype. What information or action must pass between the workers?</a:t>
            </a:r>
          </a:p>
          <a:p xmlns:a="http://schemas.openxmlformats.org/drawingml/2006/main">
            <a:r>
              <a:t>- Applied evidence: Analyse a fictional workplace chart and four short incidents. For each incident, identify the relevant role, the worker’s responsibility, who should be informed and what must still be checked locally. An annotated organisational chart and four justified action notes.</a:t>
            </a:r>
          </a:p>
          <a:p xmlns:a="http://schemas.openxmlformats.org/drawingml/2006/main">
            <a:r>
              <a:t/>
            </a:r>
          </a:p>
          <a:p xmlns:a="http://schemas.openxmlformats.org/drawingml/2006/main">
            <a:r>
              <a:t>Prompt: Explain one risk of bypassing the agreed reporting path.</a:t>
            </a:r>
          </a:p>
          <a:p xmlns:a="http://schemas.openxmlformats.org/drawingml/2006/main">
            <a:r>
              <a:t/>
            </a:r>
          </a:p>
          <a:p xmlns:a="http://schemas.openxmlformats.org/drawingml/2006/main">
            <a:r>
              <a:t>Likely misconception or nuance</a:t>
            </a:r>
          </a:p>
          <a:p xmlns:a="http://schemas.openxmlformats.org/drawingml/2006/main">
            <a:r>
              <a:t>- An organisational chart tells a worker exactly what to do in every situation. Correction: A chart shows formal relationships; actual duties, procedures, judgement and cross-team cooperation require further workplace information.</a:t>
            </a:r>
          </a:p>
          <a:p xmlns:a="http://schemas.openxmlformats.org/drawingml/2006/main">
            <a:r>
              <a:t/>
            </a:r>
          </a:p>
          <a:p xmlns:a="http://schemas.openxmlformats.org/drawingml/2006/main">
            <a:r>
              <a:t>Transition: Move to Rights, responsibilities and safe participation.</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1 -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specialists/visuals/web-ready/m01-s01.webp | original AI-generated raster | SHA-256 23dae804286341c993f2c07052ef194f93b74f5f192ee533f99128b4ac5af934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Explain the reciprocal obligations that support lawful, fair and safe participation at work.</a:t>
            </a:r>
          </a:p>
          <a:p xmlns:a="http://schemas.openxmlformats.org/drawingml/2006/main">
            <a:r>
              <a:t/>
            </a:r>
          </a:p>
          <a:p xmlns:a="http://schemas.openxmlformats.org/drawingml/2006/main">
            <a:r>
              <a:t>Talking points</a:t>
            </a:r>
          </a:p>
          <a:p xmlns:a="http://schemas.openxmlformats.org/drawingml/2006/main">
            <a:r>
              <a:t>- Employment creates reciprocal obligations. Employers are responsible for lawful pay and conditions, safe and healthy systems of work, fair treatment and other duties that apply to the workplace. Employees are responsible for attendance and punctuality, conscientious and competent work, lawful and reasonable instructions, work health and safety requirements, anti-discrimination expectations and ethical conduct. These responsibilities support one another: a worker’s duty to work safely does not remove the organisation’s responsibility to provide and maintain safe systems.</a:t>
            </a:r>
          </a:p>
          <a:p xmlns:a="http://schemas.openxmlformats.org/drawingml/2006/main">
            <a:r>
              <a:t>- Conditions may be shaped by legislation, an award, an enterprise agreement or an individual contract. These sources are not interchangeable, and the correct source depends on the worker and situation. A sensible worker reads their own documents, keeps records and checks current official information when unsure. General learning materials can explain concepts but cannot determine a person’s exact pay, leave, trial period, dismissal process or entitlement. Those questions require current authoritative advice and, where appropriate, support from a trusted adult, workplace representative or official service.</a:t>
            </a:r>
          </a:p>
          <a:p xmlns:a="http://schemas.openxmlformats.org/drawingml/2006/main">
            <a:r>
              <a:t>- Safe participation includes noticing hazards, following confirmed controls, using equipment only as authorised, communicating concerns and seeking clarification before continuing an unsafe or unclear task. It also includes psychological and social safety: bullying, harassment and discrimination can damage people and work. A useful response records facts, avoids retaliation or public accusation, uses the confirmed reporting path and seeks appropriate support. The exact local procedure is Teacher to confirm; students should never be instructed to improvise legal or emergency processes from a course website.</a:t>
            </a:r>
          </a:p>
          <a:p xmlns:a="http://schemas.openxmlformats.org/drawingml/2006/main">
            <a:r>
              <a:t>- Worked example — An unclear instruction: A supervisor asks Priya to use unfamiliar equipment while the usual trained worker is absent. Priya has not been shown the task and is unsure of the controls. Priya does not guess or simply refuse without explanation. She pauses, states what she has and has not been trained to do, and asks for clarification through the confirmed workplace pathway. She follows any immediate safety direction and records relevant facts. The employer’s safe-system responsibility and Priya’s responsibility to work safely operate together; the website does not decide the workplace’s exact authorisation or procedure.</a:t>
            </a:r>
          </a:p>
          <a:p xmlns:a="http://schemas.openxmlformats.org/drawingml/2006/main">
            <a:r>
              <a:t>- Visual caption: Safe participation depends on people checking the setup, using suitable protection and raising concerns before the task starts.</a:t>
            </a:r>
          </a:p>
          <a:p xmlns:a="http://schemas.openxmlformats.org/drawingml/2006/main">
            <a:r>
              <a:t>- Visual notice: Notice the guard, boundary and protective equipment. What is being checked before anyone operates the machine?</a:t>
            </a:r>
          </a:p>
          <a:p xmlns:a="http://schemas.openxmlformats.org/drawingml/2006/main">
            <a:r>
              <a:t>- Applied evidence: Analyse three fictional workplace concerns. Separate verified facts, assumptions, employer responsibilities, employee responsibilities and the next source or support that should be checked. A five-column case table and one cautious response script.</a:t>
            </a:r>
          </a:p>
          <a:p xmlns:a="http://schemas.openxmlformats.org/drawingml/2006/main">
            <a:r>
              <a:t/>
            </a:r>
          </a:p>
          <a:p xmlns:a="http://schemas.openxmlformats.org/drawingml/2006/main">
            <a:r>
              <a:t>Prompt: Draft one sentence that raises the concern clearly and respectfully.</a:t>
            </a:r>
          </a:p>
          <a:p xmlns:a="http://schemas.openxmlformats.org/drawingml/2006/main">
            <a:r>
              <a:t/>
            </a:r>
          </a:p>
          <a:p xmlns:a="http://schemas.openxmlformats.org/drawingml/2006/main">
            <a:r>
              <a:t>Likely misconception or nuance</a:t>
            </a:r>
          </a:p>
          <a:p xmlns:a="http://schemas.openxmlformats.org/drawingml/2006/main">
            <a:r>
              <a:t>- If an employee has a safety responsibility, any workplace injury is automatically their fault. Correction: Safety duties are shared and contextual; organisations must provide safe systems while workers follow controls, communicate hazards and act within training and authority.</a:t>
            </a:r>
          </a:p>
          <a:p xmlns:a="http://schemas.openxmlformats.org/drawingml/2006/main">
            <a:r>
              <a:t/>
            </a:r>
          </a:p>
          <a:p xmlns:a="http://schemas.openxmlformats.org/drawingml/2006/main">
            <a:r>
              <a:t>Transition: Move to Workplace culture, performance and change.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1 -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specialists/visuals/web-ready/m01-s02.webp | original AI-generated raster | SHA-256 f9fedf845d0bb2291a72d0724dc214464ef397e476b6b7fafdc45293e5f1fbc0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Assess how culture, feedback, performance expectations and change influence workplace success.</a:t>
            </a:r>
          </a:p>
          <a:p xmlns:a="http://schemas.openxmlformats.org/drawingml/2006/main">
            <a:r>
              <a:t/>
            </a:r>
          </a:p>
          <a:p xmlns:a="http://schemas.openxmlformats.org/drawingml/2006/main">
            <a:r>
              <a:t>Talking points</a:t>
            </a:r>
          </a:p>
          <a:p xmlns:a="http://schemas.openxmlformats.org/drawingml/2006/main">
            <a:r>
              <a:t>- Workplace culture is the pattern of shared expectations and behaviour that develops through leadership, systems and everyday interactions. It can be seen in how people communicate, respond to mistakes, include colleagues, treat customers, share information and handle pressure. A slogan does not prove a culture. Strong evidence comes from repeated actions, incentives, decisions and whether stated values are applied consistently. Culture affects belonging, ethical behaviour, learning, teamwork and the willingness to raise problems.</a:t>
            </a:r>
          </a:p>
          <a:p xmlns:a="http://schemas.openxmlformats.org/drawingml/2006/main">
            <a:r>
              <a:t>- Performance is also broader than speed. Indicators can include the quantity and quality of work, customer or supervisor expectations, safe practice, reliability, self-management, teamwork, initiative, appropriate use of technology and progress towards a goal. Indicators can conflict: rushing may increase output while reducing quality or safety. Fair performance discussion uses expectations that were communicated, evidence from relevant work and feedback that explains both strengths and next steps. One observation should not automatically define a person’s whole capability.</a:t>
            </a:r>
          </a:p>
          <a:p xmlns:a="http://schemas.openxmlformats.org/drawingml/2006/main">
            <a:r>
              <a:t>- Change may involve new technology, work processes, team structures, regulations or customer needs. Workers can respond by clarifying the purpose, identifying what stays the same, learning the new requirement, seeking assistance and monitoring results. Constructive feedback helps when it is specific, focused on behaviour or work and linked to an achievable improvement. Workers also need to give feedback respectfully. Managing change does not mean accepting every decision without question; it means using evidence, communication and appropriate pathways to respond productively.</a:t>
            </a:r>
          </a:p>
          <a:p xmlns:a="http://schemas.openxmlformats.org/drawingml/2006/main">
            <a:r>
              <a:t>- Worked example — Quality falls after a rushed change: A delivery team adopts new scheduling software. Output rises for one week, but incorrect addresses and customer complaints also increase. A fair review does not call the change a success based only on delivery numbers. The team checks quality, error patterns, training, workload and customer feedback. It identifies that workers understood booking but not address validation. A short practice session, clearer checking step and review after another week address the cause. The response uses multiple performance indicators and treats mistakes as information for improvement.</a:t>
            </a:r>
          </a:p>
          <a:p xmlns:a="http://schemas.openxmlformats.org/drawingml/2006/main">
            <a:r>
              <a:t>- Visual caption: Change is easier to understand and improve when workers can examine the process and contribute ideas.</a:t>
            </a:r>
          </a:p>
          <a:p xmlns:a="http://schemas.openxmlformats.org/drawingml/2006/main">
            <a:r>
              <a:t>- Visual notice: Notice who is speaking, who is listening and what the group is examining. What does that suggest about the workplace culture?</a:t>
            </a:r>
          </a:p>
          <a:p xmlns:a="http://schemas.openxmlformats.org/drawingml/2006/main">
            <a:r>
              <a:t>- Applied evidence: Review a fictional workplace description. Identify evidence of culture, select four balanced performance indicators and design a feedback conversation about one improvement. An evidence audit, indicator set and 150-word feedback script.</a:t>
            </a:r>
          </a:p>
          <a:p xmlns:a="http://schemas.openxmlformats.org/drawingml/2006/main">
            <a:r>
              <a:t/>
            </a:r>
          </a:p>
          <a:p xmlns:a="http://schemas.openxmlformats.org/drawingml/2006/main">
            <a:r>
              <a:t>Prompt: Recommend one improvement and one review measure.</a:t>
            </a:r>
          </a:p>
          <a:p xmlns:a="http://schemas.openxmlformats.org/drawingml/2006/main">
            <a:r>
              <a:t/>
            </a:r>
          </a:p>
          <a:p xmlns:a="http://schemas.openxmlformats.org/drawingml/2006/main">
            <a:r>
              <a:t>Likely misconception or nuance</a:t>
            </a:r>
          </a:p>
          <a:p xmlns:a="http://schemas.openxmlformats.org/drawingml/2006/main">
            <a:r>
              <a:t>- The fastest worker is automatically the best performer. Correction: Performance may involve speed, but also quality, safety, reliability, teamwork, customer needs and role expectations.</a:t>
            </a:r>
          </a:p>
          <a:p xmlns:a="http://schemas.openxmlformats.org/drawingml/2006/main">
            <a:r>
              <a:t/>
            </a:r>
          </a:p>
          <a:p xmlns:a="http://schemas.openxmlformats.org/drawingml/2006/main">
            <a:r>
              <a:t>Transition: Move from the three teaching sections into retrieval.</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1 -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specialists/visuals/web-ready/m01-s03.webp | original AI-generated raster | SHA-256 e59fcbc315992dc37d11af17ae65846103134e9b56e0b76c1dc63ff96931b58e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Retrieve and repair reasoning across all three sections.</a:t>
            </a:r>
          </a:p>
          <a:p xmlns:a="http://schemas.openxmlformats.org/drawingml/2006/main">
            <a:r>
              <a:t/>
            </a:r>
          </a:p>
          <a:p xmlns:a="http://schemas.openxmlformats.org/drawingml/2006/main">
            <a:r>
              <a:t>Talking points</a:t>
            </a:r>
          </a:p>
          <a:p xmlns:a="http://schemas.openxmlformats.org/drawingml/2006/main">
            <a:r>
              <a:t>- Give quiet recall time before opening the discussion.</a:t>
            </a:r>
          </a:p>
          <a:p xmlns:a="http://schemas.openxmlformats.org/drawingml/2006/main">
            <a:r>
              <a:t>- Check 1: Check the workplace process and ask the relevant supervisor or authorised role. Rationale: Clarifying authority protects the customer, worker and organisation.</a:t>
            </a:r>
          </a:p>
          <a:p xmlns:a="http://schemas.openxmlformats.org/drawingml/2006/main">
            <a:r>
              <a:t>- Check 2: The organisation provides safe systems and the worker follows controls, communicates hazards and stays within training. Rationale: Work health and safety involves responsibilities at more than one level.</a:t>
            </a:r>
          </a:p>
          <a:p xmlns:a="http://schemas.openxmlformats.org/drawingml/2006/main">
            <a:r>
              <a:t>- Check 3: Repeated decisions and behaviours, especially when pressure or mistakes occur. Rationale: Culture is demonstrated through patterns of action rather than a slogan alone.</a:t>
            </a:r>
          </a:p>
          <a:p xmlns:a="http://schemas.openxmlformats.org/drawingml/2006/main">
            <a:r>
              <a:t/>
            </a:r>
          </a:p>
          <a:p xmlns:a="http://schemas.openxmlformats.org/drawingml/2006/main">
            <a:r>
              <a:t>Prompt: Ask students to justify an answer before checking the matching theory section.</a:t>
            </a:r>
          </a:p>
          <a:p xmlns:a="http://schemas.openxmlformats.org/drawingml/2006/main">
            <a:r>
              <a:t/>
            </a:r>
          </a:p>
          <a:p xmlns:a="http://schemas.openxmlformats.org/drawingml/2006/main">
            <a:r>
              <a:t>Transition: Use the retrieved ideas to construct one sustained evidence response.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1 -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Guide one higher-order response anchored in Workplace culture, performance and change.</a:t>
            </a:r>
          </a:p>
          <a:p xmlns:a="http://schemas.openxmlformats.org/drawingml/2006/main">
            <a:r>
              <a:t/>
            </a:r>
          </a:p>
          <a:p xmlns:a="http://schemas.openxmlformats.org/drawingml/2006/main">
            <a:r>
              <a:t>Talking points</a:t>
            </a:r>
          </a:p>
          <a:p xmlns:a="http://schemas.openxmlformats.org/drawingml/2006/main">
            <a:r>
              <a:t>- Prompt: Evaluate whether a workplace change has improved performance and culture, then recommend a next step.</a:t>
            </a:r>
          </a:p>
          <a:p xmlns:a="http://schemas.openxmlformats.org/drawingml/2006/main">
            <a:r>
              <a:t>- Identify the intended change and the evidence available.</a:t>
            </a:r>
          </a:p>
          <a:p xmlns:a="http://schemas.openxmlformats.org/drawingml/2006/main">
            <a:r>
              <a:t>- Assess output, quality, safety, relationships and customer impact.</a:t>
            </a:r>
          </a:p>
          <a:p xmlns:a="http://schemas.openxmlformats.org/drawingml/2006/main">
            <a:r>
              <a:t>- Explain what the response to mistakes reveals about culture.</a:t>
            </a:r>
          </a:p>
          <a:p xmlns:a="http://schemas.openxmlformats.org/drawingml/2006/main">
            <a:r>
              <a:t>- Recommend one improvement and a fair way to review it.</a:t>
            </a:r>
          </a:p>
          <a:p xmlns:a="http://schemas.openxmlformats.org/drawingml/2006/main">
            <a:r>
              <a:t>- Success criteria: Uses multiple relevant performance indicators.; Supports claims about culture with behaviour or decision evidence.; Provides a justified improvement and review method.</a:t>
            </a:r>
          </a:p>
          <a:p xmlns:a="http://schemas.openxmlformats.org/drawingml/2006/main">
            <a:r>
              <a:t>- Folio visual: A useful folio brings work samples, observations, records and reflection together so progress can be explained.</a:t>
            </a:r>
          </a:p>
          <a:p xmlns:a="http://schemas.openxmlformats.org/drawingml/2006/main">
            <a:r>
              <a:t/>
            </a:r>
          </a:p>
          <a:p xmlns:a="http://schemas.openxmlformats.org/drawingml/2006/main">
            <a:r>
              <a:t>Prompt: Ask students to state their judgement before selecting evidence, then test whether every claim is supported.</a:t>
            </a:r>
          </a:p>
          <a:p xmlns:a="http://schemas.openxmlformats.org/drawingml/2006/main">
            <a:r>
              <a:t/>
            </a:r>
          </a:p>
          <a:p xmlns:a="http://schemas.openxmlformats.org/drawingml/2006/main">
            <a:r>
              <a:t>Transition: Close with a three-part exit record and a clear evidence boundary.</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1 -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specialists/visuals/web-ready/folio-evidence.webp | original AI-generated raster | SHA-256 0d3e88f590077ba563b8f3dd06a0c2c9a2975bdd4b4a3b8294cdc877d6dd366d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Create a concrete learning record while keeping the assessment boundary explicit.</a:t>
            </a:r>
          </a:p>
          <a:p xmlns:a="http://schemas.openxmlformats.org/drawingml/2006/main">
            <a:r>
              <a:t/>
            </a:r>
          </a:p>
          <a:p xmlns:a="http://schemas.openxmlformats.org/drawingml/2006/main">
            <a:r>
              <a:t>Talking points</a:t>
            </a:r>
          </a:p>
          <a:p xmlns:a="http://schemas.openxmlformats.org/drawingml/2006/main">
            <a:r>
              <a:t>- Students complete all three exit prompts before discussion.</a:t>
            </a:r>
          </a:p>
          <a:p xmlns:a="http://schemas.openxmlformats.org/drawingml/2006/main">
            <a:r>
              <a:t>- The saved response is formative learning evidence, not a formal submission.</a:t>
            </a:r>
          </a:p>
          <a:p xmlns:a="http://schemas.openxmlformats.org/drawingml/2006/main">
            <a:r>
              <a:t>- Assessment-orientation visual: The task brief sets the requirements; work evidence and reflection show how those requirements were addressed.</a:t>
            </a:r>
          </a:p>
          <a:p xmlns:a="http://schemas.openxmlformats.org/drawingml/2006/main">
            <a:r>
              <a:t/>
            </a:r>
          </a:p>
          <a:p xmlns:a="http://schemas.openxmlformats.org/drawingml/2006/main">
            <a:r>
              <a:t>Prompt: Notice the three sources being compared. What could each contribute to a fair explanation of achievement?</a:t>
            </a:r>
          </a:p>
          <a:p xmlns:a="http://schemas.openxmlformats.org/drawingml/2006/main">
            <a:r>
              <a:t/>
            </a:r>
          </a:p>
          <a:p xmlns:a="http://schemas.openxmlformats.org/drawingml/2006/main">
            <a:r>
              <a:t>Likely misconception or nuance</a:t>
            </a:r>
          </a:p>
          <a:p xmlns:a="http://schemas.openxmlformats.org/drawingml/2006/main">
            <a:r>
              <a:t>- Saving learning evidence does not automatically submit it for assessment or prove achievement.</a:t>
            </a:r>
          </a:p>
          <a:p xmlns:a="http://schemas.openxmlformats.org/drawingml/2006/main">
            <a:r>
              <a:t/>
            </a:r>
          </a:p>
          <a:p xmlns:a="http://schemas.openxmlformats.org/drawingml/2006/main">
            <a:r>
              <a:t>Transition: End with each student's stated next question or action.</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1 -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specialists/visuals/web-ready/assessment-orientation.webp | original AI-generated raster | SHA-256 78b88ec22b90ac0135ac756df19012e62644e6174e0988f1df2848e74d2b2ce1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ab5e54f77141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804e5e279a4144" /><Relationship Type="http://schemas.openxmlformats.org/officeDocument/2006/relationships/slideLayout" Target="/ppt/slideLayouts/slideLayout1.xml" Id="R8c51a4339b4044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51a4339b4044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6ede985444458c" /><Relationship Type="http://schemas.openxmlformats.org/officeDocument/2006/relationships/image" Target="/ppt/media/image.bin" Id="Rf7bfdea8a79b4738" /><Relationship Type="http://schemas.openxmlformats.org/officeDocument/2006/relationships/notesSlide" Target="/ppt/notesSlides/notesSlide1.xml" Id="Raeca2b20d6f449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0bc869de2a4819" /><Relationship Type="http://schemas.openxmlformats.org/officeDocument/2006/relationships/notesSlide" Target="/ppt/notesSlides/notesSlide2.xml" Id="R3184307a627d49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adfe5ffd416422e" /><Relationship Type="http://schemas.openxmlformats.org/officeDocument/2006/relationships/image" Target="/ppt/media/image2.bin" Id="R810151a8bfcb4a71" /><Relationship Type="http://schemas.openxmlformats.org/officeDocument/2006/relationships/notesSlide" Target="/ppt/notesSlides/notesSlide3.xml" Id="R07ea4124a89643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06141b3edf54f07" /><Relationship Type="http://schemas.openxmlformats.org/officeDocument/2006/relationships/image" Target="/ppt/media/image3.bin" Id="Rfe55ddb1b12f4dac" /><Relationship Type="http://schemas.openxmlformats.org/officeDocument/2006/relationships/notesSlide" Target="/ppt/notesSlides/notesSlide4.xml" Id="R3840d5dcca7d4c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0b680ecfad4653" /><Relationship Type="http://schemas.openxmlformats.org/officeDocument/2006/relationships/image" Target="/ppt/media/image4.bin" Id="Ref52145b227e49a7" /><Relationship Type="http://schemas.openxmlformats.org/officeDocument/2006/relationships/notesSlide" Target="/ppt/notesSlides/notesSlide5.xml" Id="Rf77f5225c63849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6d18a55cd684c26" /><Relationship Type="http://schemas.openxmlformats.org/officeDocument/2006/relationships/notesSlide" Target="/ppt/notesSlides/notesSlide6.xml" Id="Rd97fe455d8154b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8815cc6e4a43d1" /><Relationship Type="http://schemas.openxmlformats.org/officeDocument/2006/relationships/image" Target="/ppt/media/image5.bin" Id="R8e14be707e954a6e" /><Relationship Type="http://schemas.openxmlformats.org/officeDocument/2006/relationships/notesSlide" Target="/ppt/notesSlides/notesSlide7.xml" Id="R0b2e241b09a046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2cc59ed20b74e72" /><Relationship Type="http://schemas.openxmlformats.org/officeDocument/2006/relationships/image" Target="/ppt/media/image6.bin" Id="R79001eb30a224fe2" /><Relationship Type="http://schemas.openxmlformats.org/officeDocument/2006/relationships/notesSlide" Target="/ppt/notesSlides/notesSlide8.xml" Id="Re6f095b2a99b4deb" /></Relationships>
</file>

<file path=ppt/slides/slide1.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7bfdea8a79b4738"/>
          <a:srcRect xmlns:a="http://schemas.openxmlformats.org/drawingml/2006/main" l="12639" t="0" r="12639" b="0"/>
          <a:stretch xmlns:a="http://schemas.openxmlformats.org/drawingml/2006/main">
            <a:fillRect l="0" t="0" r="0" b="0"/>
          </a:stretch>
        </p:blipFill>
        <p:spPr>
          <a:xfrm xmlns:a="http://schemas.openxmlformats.org/drawingml/2006/main">
            <a:off x="7067550" y="0"/>
            <a:ext cx="5124450" cy="6858000"/>
          </a:xfrm>
          <a:prstGeom xmlns:a="http://schemas.openxmlformats.org/drawingml/2006/main" prst="rect">
            <a:avLst/>
          </a:prstGeom>
        </p:spPr>
      </p:pic>
      <p:sp>
        <p:nvSpPr>
          <p:cNvPr id="2" name="purpose-accent">
            <a:extLst xmlns:a="http://schemas.openxmlformats.org/drawingml/2006/main">
              <a:ext uri="{FF2B5EF4-FFF2-40B4-BE49-F238E27FC236}">
                <a16:creationId xmlns:a16="http://schemas.microsoft.com/office/drawing/2014/main" id="{4EC820F5-F39B-4E27-9981-B1F0C5AFE0B1}"/>
              </a:ext>
            </a:extLst>
          </p:cNvPr>
          <p:cNvSpPr>
            <a:spLocks xmlns:a="http://schemas.openxmlformats.org/drawingml/2006/main" noGrp="1"/>
          </p:cNvSpPr>
          <p:nvPr/>
        </p:nvSpPr>
        <p:spPr>
          <a:xfrm xmlns:a="http://schemas.openxmlformats.org/drawingml/2006/main">
            <a:off x="6705600" y="628650"/>
            <a:ext cx="76200" cy="5486400"/>
          </a:xfrm>
          <a:prstGeom xmlns:a="http://schemas.openxmlformats.org/drawingml/2006/main" prst="rect">
            <a:avLst/>
          </a:prstGeom>
          <a:solidFill xmlns:a="http://schemas.openxmlformats.org/drawingml/2006/main">
            <a:srgbClr val="E6B64D"/>
          </a:solidFill>
          <a:ln xmlns:a="http://schemas.openxmlformats.org/drawingml/2006/main" w="0">
            <a:noFill/>
            <a:prstDash val="solid"/>
          </a:ln>
        </p:spPr>
      </p:sp>
      <p:sp>
        <p:nvSpPr>
          <p:cNvPr id="3" name="purpose-course-label">
            <a:extLst xmlns:a="http://schemas.openxmlformats.org/drawingml/2006/main">
              <a:ext uri="{FF2B5EF4-FFF2-40B4-BE49-F238E27FC236}">
                <a16:creationId xmlns:a16="http://schemas.microsoft.com/office/drawing/2014/main" id="{4D001C4B-914C-48C3-8CA8-7814BC17FD15}"/>
              </a:ext>
            </a:extLst>
          </p:cNvPr>
          <p:cNvSpPr>
            <a:spLocks xmlns:a="http://schemas.openxmlformats.org/drawingml/2006/main" noGrp="1"/>
          </p:cNvSpPr>
          <p:nvPr/>
        </p:nvSpPr>
        <p:spPr>
          <a:xfrm xmlns:a="http://schemas.openxmlformats.org/drawingml/2006/main">
            <a:off x="685800" y="7048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C6572F"/>
                </a:solidFill>
                <a:latin typeface="Aptos"/>
                <a:ea typeface="Aptos"/>
                <a:cs typeface="Aptos"/>
              </a:defRPr>
            </a:pPr>
            <a:r>
              <a:rPr sz="1125" b="1">
                <a:solidFill>
                  <a:srgbClr val="C6572F"/>
                </a:solidFill>
                <a:latin typeface="Aptos"/>
                <a:ea typeface="Aptos"/>
                <a:cs typeface="Aptos"/>
              </a:rPr>
              <a:t>YEARS 11–12 WORK STUDIES  ·  YEAR 11  ·  M01</a:t>
            </a:r>
          </a:p>
        </p:txBody>
      </p:sp>
      <p:sp>
        <p:nvSpPr>
          <p:cNvPr id="4" name="purpose-title">
            <a:extLst xmlns:a="http://schemas.openxmlformats.org/drawingml/2006/main">
              <a:ext uri="{FF2B5EF4-FFF2-40B4-BE49-F238E27FC236}">
                <a16:creationId xmlns:a16="http://schemas.microsoft.com/office/drawing/2014/main" id="{8F0BE094-DCD8-4543-A007-7F42D99421B3}"/>
              </a:ext>
            </a:extLst>
          </p:cNvPr>
          <p:cNvSpPr>
            <a:spLocks xmlns:a="http://schemas.openxmlformats.org/drawingml/2006/main" noGrp="1"/>
          </p:cNvSpPr>
          <p:nvPr/>
        </p:nvSpPr>
        <p:spPr>
          <a:xfrm xmlns:a="http://schemas.openxmlformats.org/drawingml/2006/main">
            <a:off x="685800" y="1257300"/>
            <a:ext cx="561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3000"/>
              </a:lnSpc>
              <a:buNone/>
              <a:defRPr sz="4650" b="1">
                <a:solidFill>
                  <a:srgbClr val="0B2637"/>
                </a:solidFill>
                <a:latin typeface="Aptos Display"/>
                <a:ea typeface="Aptos Display"/>
                <a:cs typeface="Aptos Display"/>
              </a:defRPr>
            </a:pPr>
            <a:r>
              <a:rPr sz="4650" b="1">
                <a:solidFill>
                  <a:srgbClr val="0B2637"/>
                </a:solidFill>
                <a:latin typeface="Aptos Display"/>
                <a:ea typeface="Aptos Display"/>
                <a:cs typeface="Aptos Display"/>
              </a:rPr>
              <a:t>In the Workplace</a:t>
            </a:r>
          </a:p>
        </p:txBody>
      </p:sp>
      <p:sp>
        <p:nvSpPr>
          <p:cNvPr id="5" name="purpose-summary">
            <a:extLst xmlns:a="http://schemas.openxmlformats.org/drawingml/2006/main">
              <a:ext uri="{FF2B5EF4-FFF2-40B4-BE49-F238E27FC236}">
                <a16:creationId xmlns:a16="http://schemas.microsoft.com/office/drawing/2014/main" id="{0797D1DA-3D5A-486F-9BC1-D1C7331E624A}"/>
              </a:ext>
            </a:extLst>
          </p:cNvPr>
          <p:cNvSpPr>
            <a:spLocks xmlns:a="http://schemas.openxmlformats.org/drawingml/2006/main" noGrp="1"/>
          </p:cNvSpPr>
          <p:nvPr/>
        </p:nvSpPr>
        <p:spPr>
          <a:xfrm xmlns:a="http://schemas.openxmlformats.org/drawingml/2006/main">
            <a:off x="685800" y="3124200"/>
            <a:ext cx="5581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875" b="0">
                <a:solidFill>
                  <a:srgbClr val="14232D"/>
                </a:solidFill>
                <a:latin typeface="Aptos"/>
                <a:ea typeface="Aptos"/>
                <a:cs typeface="Aptos"/>
              </a:defRPr>
            </a:pPr>
            <a:r>
              <a:rPr sz="1875" b="0">
                <a:solidFill>
                  <a:srgbClr val="14232D"/>
                </a:solidFill>
                <a:latin typeface="Aptos"/>
                <a:ea typeface="Aptos"/>
                <a:cs typeface="Aptos"/>
              </a:rPr>
              <a:t>Read workplace structures, participate safely and understand culture, performance and change.</a:t>
            </a:r>
          </a:p>
        </p:txBody>
      </p:sp>
      <p:sp>
        <p:nvSpPr>
          <p:cNvPr id="6" name="purpose-before-label">
            <a:extLst xmlns:a="http://schemas.openxmlformats.org/drawingml/2006/main">
              <a:ext uri="{FF2B5EF4-FFF2-40B4-BE49-F238E27FC236}">
                <a16:creationId xmlns:a16="http://schemas.microsoft.com/office/drawing/2014/main" id="{F0B53ECB-967E-4634-90EE-B8A6FA954A11}"/>
              </a:ext>
            </a:extLst>
          </p:cNvPr>
          <p:cNvSpPr>
            <a:spLocks xmlns:a="http://schemas.openxmlformats.org/drawingml/2006/main" noGrp="1"/>
          </p:cNvSpPr>
          <p:nvPr/>
        </p:nvSpPr>
        <p:spPr>
          <a:xfrm xmlns:a="http://schemas.openxmlformats.org/drawingml/2006/main">
            <a:off x="685800" y="46101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1F5141"/>
                </a:solidFill>
                <a:latin typeface="Aptos"/>
                <a:ea typeface="Aptos"/>
                <a:cs typeface="Aptos"/>
              </a:defRPr>
            </a:pPr>
            <a:r>
              <a:rPr sz="1125" b="1">
                <a:solidFill>
                  <a:srgbClr val="1F5141"/>
                </a:solidFill>
                <a:latin typeface="Aptos"/>
                <a:ea typeface="Aptos"/>
                <a:cs typeface="Aptos"/>
              </a:rPr>
              <a:t>BEFORE WE BEGIN</a:t>
            </a:r>
          </a:p>
        </p:txBody>
      </p:sp>
      <p:sp>
        <p:nvSpPr>
          <p:cNvPr id="7" name="purpose-question">
            <a:extLst xmlns:a="http://schemas.openxmlformats.org/drawingml/2006/main">
              <a:ext uri="{FF2B5EF4-FFF2-40B4-BE49-F238E27FC236}">
                <a16:creationId xmlns:a16="http://schemas.microsoft.com/office/drawing/2014/main" id="{F6180F51-8E4A-4C9B-B524-4B38FB8E0B23}"/>
              </a:ext>
            </a:extLst>
          </p:cNvPr>
          <p:cNvSpPr>
            <a:spLocks xmlns:a="http://schemas.openxmlformats.org/drawingml/2006/main" noGrp="1"/>
          </p:cNvSpPr>
          <p:nvPr/>
        </p:nvSpPr>
        <p:spPr>
          <a:xfrm xmlns:a="http://schemas.openxmlformats.org/drawingml/2006/main">
            <a:off x="685800" y="4953000"/>
            <a:ext cx="5543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800" b="1">
                <a:solidFill>
                  <a:srgbClr val="0B2637"/>
                </a:solidFill>
                <a:latin typeface="Aptos"/>
                <a:ea typeface="Aptos"/>
                <a:cs typeface="Aptos"/>
              </a:defRPr>
            </a:pPr>
            <a:r>
              <a:rPr sz="1800" b="1">
                <a:solidFill>
                  <a:srgbClr val="0B2637"/>
                </a:solidFill>
                <a:latin typeface="Aptos"/>
                <a:ea typeface="Aptos"/>
                <a:cs typeface="Aptos"/>
              </a:rPr>
              <a:t>Where might these ideas affect a real workplace, pathway or life decision?</a:t>
            </a:r>
          </a:p>
        </p:txBody>
      </p:sp>
      <p:sp>
        <p:nvSpPr>
          <p:cNvPr id="8" name="purpose-footer-rule">
            <a:extLst xmlns:a="http://schemas.openxmlformats.org/drawingml/2006/main">
              <a:ext uri="{FF2B5EF4-FFF2-40B4-BE49-F238E27FC236}">
                <a16:creationId xmlns:a16="http://schemas.microsoft.com/office/drawing/2014/main" id="{1E2F12E3-56DB-4098-BDB0-9567E1AF22BE}"/>
              </a:ext>
            </a:extLst>
          </p:cNvPr>
          <p:cNvSpPr>
            <a:spLocks xmlns:a="http://schemas.openxmlformats.org/drawingml/2006/main" noGrp="1"/>
          </p:cNvSpPr>
          <p:nvPr/>
        </p:nvSpPr>
        <p:spPr>
          <a:xfrm xmlns:a="http://schemas.openxmlformats.org/drawingml/2006/main">
            <a:off x="685800" y="6381750"/>
            <a:ext cx="561975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9" name="purpose-footer-module">
            <a:extLst xmlns:a="http://schemas.openxmlformats.org/drawingml/2006/main">
              <a:ext uri="{FF2B5EF4-FFF2-40B4-BE49-F238E27FC236}">
                <a16:creationId xmlns:a16="http://schemas.microsoft.com/office/drawing/2014/main" id="{6B2FAE5F-B486-49A2-AA17-4BFFB658B3E7}"/>
              </a:ext>
            </a:extLst>
          </p:cNvPr>
          <p:cNvSpPr>
            <a:spLocks xmlns:a="http://schemas.openxmlformats.org/drawingml/2006/main" noGrp="1"/>
          </p:cNvSpPr>
          <p:nvPr/>
        </p:nvSpPr>
        <p:spPr>
          <a:xfrm xmlns:a="http://schemas.openxmlformats.org/drawingml/2006/main">
            <a:off x="685800" y="6496050"/>
            <a:ext cx="462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M01  ·  In the Workplace</a:t>
            </a:r>
          </a:p>
        </p:txBody>
      </p:sp>
      <p:sp>
        <p:nvSpPr>
          <p:cNvPr id="10" name="purpose-footer-number">
            <a:extLst xmlns:a="http://schemas.openxmlformats.org/drawingml/2006/main">
              <a:ext uri="{FF2B5EF4-FFF2-40B4-BE49-F238E27FC236}">
                <a16:creationId xmlns:a16="http://schemas.microsoft.com/office/drawing/2014/main" id="{3F4BBB72-DEAB-4277-A3A8-06F78F50264F}"/>
              </a:ext>
            </a:extLst>
          </p:cNvPr>
          <p:cNvSpPr>
            <a:spLocks xmlns:a="http://schemas.openxmlformats.org/drawingml/2006/main" noGrp="1"/>
          </p:cNvSpPr>
          <p:nvPr/>
        </p:nvSpPr>
        <p:spPr>
          <a:xfrm xmlns:a="http://schemas.openxmlformats.org/drawingml/2006/main">
            <a:off x="57340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01</a:t>
            </a:r>
          </a:p>
        </p:txBody>
      </p:sp>
    </p:spTree>
    <p:extLst>
      <p:ext uri="{BB962C8B-B14F-4D97-AF65-F5344CB8AC3E}">
        <p14:creationId xmlns:p14="http://schemas.microsoft.com/office/powerpoint/2010/main" val="1285758300"/>
      </p:ext>
    </p:extLst>
  </p:cSld>
</p:sld>
</file>

<file path=ppt/slides/slide2.xml><?xml version="1.0" encoding="utf-8"?>
<p:sld xmlns:p="http://schemas.openxmlformats.org/presentationml/2006/main">
  <p:cSld>
    <p:bg>
      <p:bgPr>
        <a:solidFill xmlns:a="http://schemas.openxmlformats.org/drawingml/2006/main">
          <a:srgbClr val="0B2637"/>
        </a:solidFill>
      </p:bgPr>
    </p:bg>
    <p:spTree>
      <p:nvGrpSpPr>
        <p:cNvPr id="1" name=""/>
        <p:cNvGrpSpPr/>
        <p:nvPr/>
      </p:nvGrpSpPr>
      <p:grpSpPr>
        <a:xfrm xmlns:a="http://schemas.openxmlformats.org/drawingml/2006/main"/>
      </p:grpSpPr>
      <p:sp>
        <p:nvSpPr>
          <p:cNvPr id="19" name="module-label-2">
            <a:extLst xmlns:a="http://schemas.openxmlformats.org/drawingml/2006/main">
              <a:ext uri="{FF2B5EF4-FFF2-40B4-BE49-F238E27FC236}">
                <a16:creationId xmlns:a16="http://schemas.microsoft.com/office/drawing/2014/main" id="{883EC14A-BF5D-483E-916F-D10EE3763CA1}"/>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11  ·  M01</a:t>
            </a:r>
          </a:p>
        </p:txBody>
      </p:sp>
      <p:sp>
        <p:nvSpPr>
          <p:cNvPr id="2" name="slide-title-2">
            <a:extLst xmlns:a="http://schemas.openxmlformats.org/drawingml/2006/main">
              <a:ext uri="{FF2B5EF4-FFF2-40B4-BE49-F238E27FC236}">
                <a16:creationId xmlns:a16="http://schemas.microsoft.com/office/drawing/2014/main" id="{DA8393E2-0E95-42F5-A8AA-8F5D28B4107A}"/>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Three ideas build one practical understanding</a:t>
            </a:r>
          </a:p>
        </p:txBody>
      </p:sp>
      <p:sp>
        <p:nvSpPr>
          <p:cNvPr id="3" name="map-number-1">
            <a:extLst xmlns:a="http://schemas.openxmlformats.org/drawingml/2006/main">
              <a:ext uri="{FF2B5EF4-FFF2-40B4-BE49-F238E27FC236}">
                <a16:creationId xmlns:a16="http://schemas.microsoft.com/office/drawing/2014/main" id="{383F216D-2412-407B-8961-DD29DC0B972A}"/>
              </a:ext>
            </a:extLst>
          </p:cNvPr>
          <p:cNvSpPr>
            <a:spLocks xmlns:a="http://schemas.openxmlformats.org/drawingml/2006/main" noGrp="1"/>
          </p:cNvSpPr>
          <p:nvPr/>
        </p:nvSpPr>
        <p:spPr>
          <a:xfrm xmlns:a="http://schemas.openxmlformats.org/drawingml/2006/main">
            <a:off x="6858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01</a:t>
            </a:r>
          </a:p>
        </p:txBody>
      </p:sp>
      <p:sp>
        <p:nvSpPr>
          <p:cNvPr id="4" name="map-title-1">
            <a:extLst xmlns:a="http://schemas.openxmlformats.org/drawingml/2006/main">
              <a:ext uri="{FF2B5EF4-FFF2-40B4-BE49-F238E27FC236}">
                <a16:creationId xmlns:a16="http://schemas.microsoft.com/office/drawing/2014/main" id="{BE6E718C-8C5B-4169-A04C-3E25E866AD38}"/>
              </a:ext>
            </a:extLst>
          </p:cNvPr>
          <p:cNvSpPr>
            <a:spLocks xmlns:a="http://schemas.openxmlformats.org/drawingml/2006/main" noGrp="1"/>
          </p:cNvSpPr>
          <p:nvPr/>
        </p:nvSpPr>
        <p:spPr>
          <a:xfrm xmlns:a="http://schemas.openxmlformats.org/drawingml/2006/main">
            <a:off x="6858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Workplace structures, roles and relationships</a:t>
            </a:r>
          </a:p>
        </p:txBody>
      </p:sp>
      <p:sp>
        <p:nvSpPr>
          <p:cNvPr id="5" name="map-intention-1">
            <a:extLst xmlns:a="http://schemas.openxmlformats.org/drawingml/2006/main">
              <a:ext uri="{FF2B5EF4-FFF2-40B4-BE49-F238E27FC236}">
                <a16:creationId xmlns:a16="http://schemas.microsoft.com/office/drawing/2014/main" id="{C941DC20-1E89-4DE7-BEB6-D955A9486AAA}"/>
              </a:ext>
            </a:extLst>
          </p:cNvPr>
          <p:cNvSpPr>
            <a:spLocks xmlns:a="http://schemas.openxmlformats.org/drawingml/2006/main" noGrp="1"/>
          </p:cNvSpPr>
          <p:nvPr/>
        </p:nvSpPr>
        <p:spPr>
          <a:xfrm xmlns:a="http://schemas.openxmlformats.org/drawingml/2006/main">
            <a:off x="6858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Understand how structures, roles, employment arrangements and relationships coordinate workplace activity.</a:t>
            </a:r>
          </a:p>
        </p:txBody>
      </p:sp>
      <p:sp>
        <p:nvSpPr>
          <p:cNvPr id="6" name="map-divider-1">
            <a:extLst xmlns:a="http://schemas.openxmlformats.org/drawingml/2006/main">
              <a:ext uri="{FF2B5EF4-FFF2-40B4-BE49-F238E27FC236}">
                <a16:creationId xmlns:a16="http://schemas.microsoft.com/office/drawing/2014/main" id="{0B964E33-AF1B-409F-9CC9-6D4E02E949D6}"/>
              </a:ext>
            </a:extLst>
          </p:cNvPr>
          <p:cNvSpPr>
            <a:spLocks xmlns:a="http://schemas.openxmlformats.org/drawingml/2006/main" noGrp="1"/>
          </p:cNvSpPr>
          <p:nvPr/>
        </p:nvSpPr>
        <p:spPr>
          <a:xfrm xmlns:a="http://schemas.openxmlformats.org/drawingml/2006/main">
            <a:off x="403860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7" name="map-number-2">
            <a:extLst xmlns:a="http://schemas.openxmlformats.org/drawingml/2006/main">
              <a:ext uri="{FF2B5EF4-FFF2-40B4-BE49-F238E27FC236}">
                <a16:creationId xmlns:a16="http://schemas.microsoft.com/office/drawing/2014/main" id="{F16B1612-1723-4022-B04C-43EB75E5259E}"/>
              </a:ext>
            </a:extLst>
          </p:cNvPr>
          <p:cNvSpPr>
            <a:spLocks xmlns:a="http://schemas.openxmlformats.org/drawingml/2006/main" noGrp="1"/>
          </p:cNvSpPr>
          <p:nvPr/>
        </p:nvSpPr>
        <p:spPr>
          <a:xfrm xmlns:a="http://schemas.openxmlformats.org/drawingml/2006/main">
            <a:off x="428625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C6572F"/>
                </a:solidFill>
                <a:latin typeface="Aptos Display"/>
                <a:ea typeface="Aptos Display"/>
                <a:cs typeface="Aptos Display"/>
              </a:defRPr>
            </a:pPr>
            <a:r>
              <a:rPr sz="2850" b="1">
                <a:solidFill>
                  <a:srgbClr val="C6572F"/>
                </a:solidFill>
                <a:latin typeface="Aptos Display"/>
                <a:ea typeface="Aptos Display"/>
                <a:cs typeface="Aptos Display"/>
              </a:rPr>
              <a:t>02</a:t>
            </a:r>
          </a:p>
        </p:txBody>
      </p:sp>
      <p:sp>
        <p:nvSpPr>
          <p:cNvPr id="8" name="map-title-2">
            <a:extLst xmlns:a="http://schemas.openxmlformats.org/drawingml/2006/main">
              <a:ext uri="{FF2B5EF4-FFF2-40B4-BE49-F238E27FC236}">
                <a16:creationId xmlns:a16="http://schemas.microsoft.com/office/drawing/2014/main" id="{3EA1F7BB-B122-414C-8DD7-64DF809C3235}"/>
              </a:ext>
            </a:extLst>
          </p:cNvPr>
          <p:cNvSpPr>
            <a:spLocks xmlns:a="http://schemas.openxmlformats.org/drawingml/2006/main" noGrp="1"/>
          </p:cNvSpPr>
          <p:nvPr/>
        </p:nvSpPr>
        <p:spPr>
          <a:xfrm xmlns:a="http://schemas.openxmlformats.org/drawingml/2006/main">
            <a:off x="428625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Rights, responsibilities and safe participation</a:t>
            </a:r>
          </a:p>
        </p:txBody>
      </p:sp>
      <p:sp>
        <p:nvSpPr>
          <p:cNvPr id="9" name="map-intention-2">
            <a:extLst xmlns:a="http://schemas.openxmlformats.org/drawingml/2006/main">
              <a:ext uri="{FF2B5EF4-FFF2-40B4-BE49-F238E27FC236}">
                <a16:creationId xmlns:a16="http://schemas.microsoft.com/office/drawing/2014/main" id="{9AE295DE-CFAA-4433-825B-C39750F7DAC0}"/>
              </a:ext>
            </a:extLst>
          </p:cNvPr>
          <p:cNvSpPr>
            <a:spLocks xmlns:a="http://schemas.openxmlformats.org/drawingml/2006/main" noGrp="1"/>
          </p:cNvSpPr>
          <p:nvPr/>
        </p:nvSpPr>
        <p:spPr>
          <a:xfrm xmlns:a="http://schemas.openxmlformats.org/drawingml/2006/main">
            <a:off x="428625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Explain the reciprocal obligations that support lawful, fair and safe participation at work.</a:t>
            </a:r>
          </a:p>
        </p:txBody>
      </p:sp>
      <p:sp>
        <p:nvSpPr>
          <p:cNvPr id="10" name="map-divider-2">
            <a:extLst xmlns:a="http://schemas.openxmlformats.org/drawingml/2006/main">
              <a:ext uri="{FF2B5EF4-FFF2-40B4-BE49-F238E27FC236}">
                <a16:creationId xmlns:a16="http://schemas.microsoft.com/office/drawing/2014/main" id="{640C8C5E-80D9-4030-8D75-D20365DA2701}"/>
              </a:ext>
            </a:extLst>
          </p:cNvPr>
          <p:cNvSpPr>
            <a:spLocks xmlns:a="http://schemas.openxmlformats.org/drawingml/2006/main" noGrp="1"/>
          </p:cNvSpPr>
          <p:nvPr/>
        </p:nvSpPr>
        <p:spPr>
          <a:xfrm xmlns:a="http://schemas.openxmlformats.org/drawingml/2006/main">
            <a:off x="763905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11" name="map-number-3">
            <a:extLst xmlns:a="http://schemas.openxmlformats.org/drawingml/2006/main">
              <a:ext uri="{FF2B5EF4-FFF2-40B4-BE49-F238E27FC236}">
                <a16:creationId xmlns:a16="http://schemas.microsoft.com/office/drawing/2014/main" id="{D8293A33-33F9-45EF-91E0-822635B39E66}"/>
              </a:ext>
            </a:extLst>
          </p:cNvPr>
          <p:cNvSpPr>
            <a:spLocks xmlns:a="http://schemas.openxmlformats.org/drawingml/2006/main" noGrp="1"/>
          </p:cNvSpPr>
          <p:nvPr/>
        </p:nvSpPr>
        <p:spPr>
          <a:xfrm xmlns:a="http://schemas.openxmlformats.org/drawingml/2006/main">
            <a:off x="78867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03</a:t>
            </a:r>
          </a:p>
        </p:txBody>
      </p:sp>
      <p:sp>
        <p:nvSpPr>
          <p:cNvPr id="12" name="map-title-3">
            <a:extLst xmlns:a="http://schemas.openxmlformats.org/drawingml/2006/main">
              <a:ext uri="{FF2B5EF4-FFF2-40B4-BE49-F238E27FC236}">
                <a16:creationId xmlns:a16="http://schemas.microsoft.com/office/drawing/2014/main" id="{1B8DBCB7-1E51-4E19-B358-823680B7CFBB}"/>
              </a:ext>
            </a:extLst>
          </p:cNvPr>
          <p:cNvSpPr>
            <a:spLocks xmlns:a="http://schemas.openxmlformats.org/drawingml/2006/main" noGrp="1"/>
          </p:cNvSpPr>
          <p:nvPr/>
        </p:nvSpPr>
        <p:spPr>
          <a:xfrm xmlns:a="http://schemas.openxmlformats.org/drawingml/2006/main">
            <a:off x="78867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Workplace culture, performance and change</a:t>
            </a:r>
          </a:p>
        </p:txBody>
      </p:sp>
      <p:sp>
        <p:nvSpPr>
          <p:cNvPr id="13" name="map-intention-3">
            <a:extLst xmlns:a="http://schemas.openxmlformats.org/drawingml/2006/main">
              <a:ext uri="{FF2B5EF4-FFF2-40B4-BE49-F238E27FC236}">
                <a16:creationId xmlns:a16="http://schemas.microsoft.com/office/drawing/2014/main" id="{3E84757E-2027-48D8-9843-09FD13A7242A}"/>
              </a:ext>
            </a:extLst>
          </p:cNvPr>
          <p:cNvSpPr>
            <a:spLocks xmlns:a="http://schemas.openxmlformats.org/drawingml/2006/main" noGrp="1"/>
          </p:cNvSpPr>
          <p:nvPr/>
        </p:nvSpPr>
        <p:spPr>
          <a:xfrm xmlns:a="http://schemas.openxmlformats.org/drawingml/2006/main">
            <a:off x="78867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Assess how culture, feedback, performance expectations and change influence workplace success.</a:t>
            </a:r>
          </a:p>
        </p:txBody>
      </p:sp>
      <p:sp>
        <p:nvSpPr>
          <p:cNvPr id="14" name="map-prompt-band">
            <a:extLst xmlns:a="http://schemas.openxmlformats.org/drawingml/2006/main">
              <a:ext uri="{FF2B5EF4-FFF2-40B4-BE49-F238E27FC236}">
                <a16:creationId xmlns:a16="http://schemas.microsoft.com/office/drawing/2014/main" id="{279F390D-F20C-4D80-A38E-CF3F08CE63F7}"/>
              </a:ext>
            </a:extLst>
          </p:cNvPr>
          <p:cNvSpPr>
            <a:spLocks xmlns:a="http://schemas.openxmlformats.org/drawingml/2006/main" noGrp="1"/>
          </p:cNvSpPr>
          <p:nvPr/>
        </p:nvSpPr>
        <p:spPr>
          <a:xfrm xmlns:a="http://schemas.openxmlformats.org/drawingml/2006/main">
            <a:off x="685800" y="5200650"/>
            <a:ext cx="10820400" cy="895350"/>
          </a:xfrm>
          <a:prstGeom xmlns:a="http://schemas.openxmlformats.org/drawingml/2006/main" prst="roundRect">
            <a:avLst>
              <a:gd name="adj" fmla="val 14894"/>
            </a:avLst>
          </a:prstGeom>
          <a:solidFill xmlns:a="http://schemas.openxmlformats.org/drawingml/2006/main">
            <a:srgbClr val="173D50"/>
          </a:solidFill>
          <a:ln xmlns:a="http://schemas.openxmlformats.org/drawingml/2006/main" w="0">
            <a:noFill/>
            <a:prstDash val="solid"/>
          </a:ln>
        </p:spPr>
      </p:sp>
      <p:sp>
        <p:nvSpPr>
          <p:cNvPr id="15" name="map-retrieval-prompt">
            <a:extLst xmlns:a="http://schemas.openxmlformats.org/drawingml/2006/main">
              <a:ext uri="{FF2B5EF4-FFF2-40B4-BE49-F238E27FC236}">
                <a16:creationId xmlns:a16="http://schemas.microsoft.com/office/drawing/2014/main" id="{95E69CBF-A3B8-4CFA-B00A-B5AEF59F664F}"/>
              </a:ext>
            </a:extLst>
          </p:cNvPr>
          <p:cNvSpPr>
            <a:spLocks xmlns:a="http://schemas.openxmlformats.org/drawingml/2006/main" noGrp="1"/>
          </p:cNvSpPr>
          <p:nvPr/>
        </p:nvSpPr>
        <p:spPr>
          <a:xfrm xmlns:a="http://schemas.openxmlformats.org/drawingml/2006/main">
            <a:off x="971550" y="5372100"/>
            <a:ext cx="1024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Retrieval lens  ·  After each idea, explain what decision it improves and what evidence makes the explanation credible.</a:t>
            </a:r>
          </a:p>
        </p:txBody>
      </p:sp>
      <p:sp>
        <p:nvSpPr>
          <p:cNvPr id="16" name="footer-rule-2">
            <a:extLst xmlns:a="http://schemas.openxmlformats.org/drawingml/2006/main">
              <a:ext uri="{FF2B5EF4-FFF2-40B4-BE49-F238E27FC236}">
                <a16:creationId xmlns:a16="http://schemas.microsoft.com/office/drawing/2014/main" id="{1AC445D1-081A-4267-B85C-B5279F26A308}"/>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7" name="footer-module-2">
            <a:extLst xmlns:a="http://schemas.openxmlformats.org/drawingml/2006/main">
              <a:ext uri="{FF2B5EF4-FFF2-40B4-BE49-F238E27FC236}">
                <a16:creationId xmlns:a16="http://schemas.microsoft.com/office/drawing/2014/main" id="{10DDD726-3F89-40ED-85F4-222B12F6FC8E}"/>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M01  ·  In the Workplace</a:t>
            </a:r>
          </a:p>
        </p:txBody>
      </p:sp>
      <p:sp>
        <p:nvSpPr>
          <p:cNvPr id="18" name="footer-number-2">
            <a:extLst xmlns:a="http://schemas.openxmlformats.org/drawingml/2006/main">
              <a:ext uri="{FF2B5EF4-FFF2-40B4-BE49-F238E27FC236}">
                <a16:creationId xmlns:a16="http://schemas.microsoft.com/office/drawing/2014/main" id="{3FA83588-3398-4C53-A616-45A795A3270F}"/>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02</a:t>
            </a:r>
          </a:p>
        </p:txBody>
      </p:sp>
    </p:spTree>
    <p:extLst>
      <p:ext uri="{BB962C8B-B14F-4D97-AF65-F5344CB8AC3E}">
        <p14:creationId xmlns:p14="http://schemas.microsoft.com/office/powerpoint/2010/main" val="1923346731"/>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3">
            <a:extLst xmlns:a="http://schemas.openxmlformats.org/drawingml/2006/main">
              <a:ext uri="{FF2B5EF4-FFF2-40B4-BE49-F238E27FC236}">
                <a16:creationId xmlns:a16="http://schemas.microsoft.com/office/drawing/2014/main" id="{52625703-CF20-4191-BA92-75AC72CCCBB7}"/>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M01</a:t>
            </a:r>
          </a:p>
        </p:txBody>
      </p:sp>
      <p:sp>
        <p:nvSpPr>
          <p:cNvPr id="2" name="slide-title-3">
            <a:extLst xmlns:a="http://schemas.openxmlformats.org/drawingml/2006/main">
              <a:ext uri="{FF2B5EF4-FFF2-40B4-BE49-F238E27FC236}">
                <a16:creationId xmlns:a16="http://schemas.microsoft.com/office/drawing/2014/main" id="{10F4B8D6-A2CC-4C59-9116-D8B9106A1C0F}"/>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Workplace structures, roles and relationships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10151a8bfcb4a71"/>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1">
            <a:extLst xmlns:a="http://schemas.openxmlformats.org/drawingml/2006/main">
              <a:ext uri="{FF2B5EF4-FFF2-40B4-BE49-F238E27FC236}">
                <a16:creationId xmlns:a16="http://schemas.microsoft.com/office/drawing/2014/main" id="{9276DE91-93A7-4C88-8A70-1B2B55D24783}"/>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A workplace structure shows how responsibilities and authority are arranged. A role is the broad contribution expected from a position, while responsibilities are the particular duties and standards attached to it. Employment arrangements also shape workplace relationships.</a:t>
            </a:r>
          </a:p>
        </p:txBody>
      </p:sp>
      <p:sp>
        <p:nvSpPr>
          <p:cNvPr id="5" name="theory-evidence-surface-1">
            <a:extLst xmlns:a="http://schemas.openxmlformats.org/drawingml/2006/main">
              <a:ext uri="{FF2B5EF4-FFF2-40B4-BE49-F238E27FC236}">
                <a16:creationId xmlns:a16="http://schemas.microsoft.com/office/drawing/2014/main" id="{72AEF5FF-FFF2-48C7-8845-F549320EEEED}"/>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1">
            <a:extLst xmlns:a="http://schemas.openxmlformats.org/drawingml/2006/main">
              <a:ext uri="{FF2B5EF4-FFF2-40B4-BE49-F238E27FC236}">
                <a16:creationId xmlns:a16="http://schemas.microsoft.com/office/drawing/2014/main" id="{713E23E8-EB61-4F6A-9DCE-3D6E994424F2}"/>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1">
            <a:extLst xmlns:a="http://schemas.openxmlformats.org/drawingml/2006/main">
              <a:ext uri="{FF2B5EF4-FFF2-40B4-BE49-F238E27FC236}">
                <a16:creationId xmlns:a16="http://schemas.microsoft.com/office/drawing/2014/main" id="{B8013929-0CEB-42A1-943C-CF038DB583E7}"/>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Structure-to-action map. Analyse a fictional workplace chart and four short incidents. Evidence: An annotated organisational chart and four justified action notes.</a:t>
            </a:r>
          </a:p>
        </p:txBody>
      </p:sp>
      <p:sp>
        <p:nvSpPr>
          <p:cNvPr id="8" name="theory-notice-1">
            <a:extLst xmlns:a="http://schemas.openxmlformats.org/drawingml/2006/main">
              <a:ext uri="{FF2B5EF4-FFF2-40B4-BE49-F238E27FC236}">
                <a16:creationId xmlns:a16="http://schemas.microsoft.com/office/drawing/2014/main" id="{D067A599-5D66-4C48-8333-34FDD2E26969}"/>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role cues around the prototype. What information or action must pass between the workers?</a:t>
            </a:r>
          </a:p>
        </p:txBody>
      </p:sp>
      <p:sp>
        <p:nvSpPr>
          <p:cNvPr id="9" name="theory-success-1">
            <a:extLst xmlns:a="http://schemas.openxmlformats.org/drawingml/2006/main">
              <a:ext uri="{FF2B5EF4-FFF2-40B4-BE49-F238E27FC236}">
                <a16:creationId xmlns:a16="http://schemas.microsoft.com/office/drawing/2014/main" id="{F296C4EB-7B2E-4CCA-B326-1D1E8B1FB1D5}"/>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read a simple organisational structure.</a:t>
            </a:r>
          </a:p>
        </p:txBody>
      </p:sp>
      <p:sp>
        <p:nvSpPr>
          <p:cNvPr id="10" name="footer-rule-3">
            <a:extLst xmlns:a="http://schemas.openxmlformats.org/drawingml/2006/main">
              <a:ext uri="{FF2B5EF4-FFF2-40B4-BE49-F238E27FC236}">
                <a16:creationId xmlns:a16="http://schemas.microsoft.com/office/drawing/2014/main" id="{7BF8B074-FA90-42B0-9FF8-2FA6AB8D6748}"/>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3">
            <a:extLst xmlns:a="http://schemas.openxmlformats.org/drawingml/2006/main">
              <a:ext uri="{FF2B5EF4-FFF2-40B4-BE49-F238E27FC236}">
                <a16:creationId xmlns:a16="http://schemas.microsoft.com/office/drawing/2014/main" id="{56CFF0D7-EFEE-4238-B9BF-241908CB90DF}"/>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M01  ·  In the Workplace</a:t>
            </a:r>
          </a:p>
        </p:txBody>
      </p:sp>
      <p:sp>
        <p:nvSpPr>
          <p:cNvPr id="12" name="footer-number-3">
            <a:extLst xmlns:a="http://schemas.openxmlformats.org/drawingml/2006/main">
              <a:ext uri="{FF2B5EF4-FFF2-40B4-BE49-F238E27FC236}">
                <a16:creationId xmlns:a16="http://schemas.microsoft.com/office/drawing/2014/main" id="{95255D6C-86A2-4D66-8E85-F8849A2548F1}"/>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03</a:t>
            </a:r>
          </a:p>
        </p:txBody>
      </p:sp>
    </p:spTree>
    <p:extLst>
      <p:ext uri="{BB962C8B-B14F-4D97-AF65-F5344CB8AC3E}">
        <p14:creationId xmlns:p14="http://schemas.microsoft.com/office/powerpoint/2010/main" val="66944635"/>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4">
            <a:extLst xmlns:a="http://schemas.openxmlformats.org/drawingml/2006/main">
              <a:ext uri="{FF2B5EF4-FFF2-40B4-BE49-F238E27FC236}">
                <a16:creationId xmlns:a16="http://schemas.microsoft.com/office/drawing/2014/main" id="{3C3EECD7-9F9E-45B9-9F1F-28715FE38793}"/>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M01</a:t>
            </a:r>
          </a:p>
        </p:txBody>
      </p:sp>
      <p:sp>
        <p:nvSpPr>
          <p:cNvPr id="2" name="slide-title-4">
            <a:extLst xmlns:a="http://schemas.openxmlformats.org/drawingml/2006/main">
              <a:ext uri="{FF2B5EF4-FFF2-40B4-BE49-F238E27FC236}">
                <a16:creationId xmlns:a16="http://schemas.microsoft.com/office/drawing/2014/main" id="{461A625D-2996-422E-B758-1B7859A9D50F}"/>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Rights, responsibilities and safe participation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e55ddb1b12f4dac"/>
          <a:srcRect xmlns:a="http://schemas.openxmlformats.org/drawingml/2006/main" l="0" t="15121" r="0" b="15121"/>
          <a:stretch xmlns:a="http://schemas.openxmlformats.org/drawingml/2006/main">
            <a:fillRect l="0" t="0" r="0" b="0"/>
          </a:stretch>
        </p:blipFill>
        <p:spPr>
          <a:xfrm xmlns:a="http://schemas.openxmlformats.org/drawingml/2006/main">
            <a:off x="685800" y="1390650"/>
            <a:ext cx="4724400" cy="3295650"/>
          </a:xfrm>
          <a:prstGeom xmlns:a="http://schemas.openxmlformats.org/drawingml/2006/main" prst="roundRect">
            <a:avLst>
              <a:gd name="adj" fmla="val 6358"/>
            </a:avLst>
          </a:prstGeom>
        </p:spPr>
      </p:pic>
      <p:sp>
        <p:nvSpPr>
          <p:cNvPr id="4" name="theory-summary-2">
            <a:extLst xmlns:a="http://schemas.openxmlformats.org/drawingml/2006/main">
              <a:ext uri="{FF2B5EF4-FFF2-40B4-BE49-F238E27FC236}">
                <a16:creationId xmlns:a16="http://schemas.microsoft.com/office/drawing/2014/main" id="{5B324550-3167-4FEF-9A53-1D14DF06C985}"/>
              </a:ext>
            </a:extLst>
          </p:cNvPr>
          <p:cNvSpPr>
            <a:spLocks xmlns:a="http://schemas.openxmlformats.org/drawingml/2006/main" noGrp="1"/>
          </p:cNvSpPr>
          <p:nvPr/>
        </p:nvSpPr>
        <p:spPr>
          <a:xfrm xmlns:a="http://schemas.openxmlformats.org/drawingml/2006/main">
            <a:off x="58293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Employment creates reciprocal obligations. Conditions may be shaped by legislation, an award, an enterprise agreement or an individual contract. Safe participation includes noticing hazards, following confirmed controls, using equipment only as authorised, communicating concerns and seeking clarification before continuing an unsafe or unclear task.</a:t>
            </a:r>
          </a:p>
        </p:txBody>
      </p:sp>
      <p:sp>
        <p:nvSpPr>
          <p:cNvPr id="5" name="theory-evidence-surface-2">
            <a:extLst xmlns:a="http://schemas.openxmlformats.org/drawingml/2006/main">
              <a:ext uri="{FF2B5EF4-FFF2-40B4-BE49-F238E27FC236}">
                <a16:creationId xmlns:a16="http://schemas.microsoft.com/office/drawing/2014/main" id="{E02C15A8-F841-416F-AFCA-7ADD459D0E2C}"/>
              </a:ext>
            </a:extLst>
          </p:cNvPr>
          <p:cNvSpPr>
            <a:spLocks xmlns:a="http://schemas.openxmlformats.org/drawingml/2006/main" noGrp="1"/>
          </p:cNvSpPr>
          <p:nvPr/>
        </p:nvSpPr>
        <p:spPr>
          <a:xfrm xmlns:a="http://schemas.openxmlformats.org/drawingml/2006/main">
            <a:off x="5829300" y="3752850"/>
            <a:ext cx="5676900" cy="1581150"/>
          </a:xfrm>
          <a:prstGeom xmlns:a="http://schemas.openxmlformats.org/drawingml/2006/main" prst="roundRect">
            <a:avLst>
              <a:gd name="adj" fmla="val 8434"/>
            </a:avLst>
          </a:prstGeom>
          <a:solidFill xmlns:a="http://schemas.openxmlformats.org/drawingml/2006/main">
            <a:srgbClr val="F7E9C3"/>
          </a:solidFill>
          <a:ln xmlns:a="http://schemas.openxmlformats.org/drawingml/2006/main" w="0">
            <a:noFill/>
            <a:prstDash val="solid"/>
          </a:ln>
        </p:spPr>
      </p:sp>
      <p:sp>
        <p:nvSpPr>
          <p:cNvPr id="6" name="theory-evidence-label-2">
            <a:extLst xmlns:a="http://schemas.openxmlformats.org/drawingml/2006/main">
              <a:ext uri="{FF2B5EF4-FFF2-40B4-BE49-F238E27FC236}">
                <a16:creationId xmlns:a16="http://schemas.microsoft.com/office/drawing/2014/main" id="{1245A17C-6E53-461B-932A-5F5928B4DE78}"/>
              </a:ext>
            </a:extLst>
          </p:cNvPr>
          <p:cNvSpPr>
            <a:spLocks xmlns:a="http://schemas.openxmlformats.org/drawingml/2006/main" noGrp="1"/>
          </p:cNvSpPr>
          <p:nvPr/>
        </p:nvSpPr>
        <p:spPr>
          <a:xfrm xmlns:a="http://schemas.openxmlformats.org/drawingml/2006/main">
            <a:off x="60388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2">
            <a:extLst xmlns:a="http://schemas.openxmlformats.org/drawingml/2006/main">
              <a:ext uri="{FF2B5EF4-FFF2-40B4-BE49-F238E27FC236}">
                <a16:creationId xmlns:a16="http://schemas.microsoft.com/office/drawing/2014/main" id="{962ED570-BEFB-4D2E-9AD2-4B28B1097CED}"/>
              </a:ext>
            </a:extLst>
          </p:cNvPr>
          <p:cNvSpPr>
            <a:spLocks xmlns:a="http://schemas.openxmlformats.org/drawingml/2006/main" noGrp="1"/>
          </p:cNvSpPr>
          <p:nvPr/>
        </p:nvSpPr>
        <p:spPr>
          <a:xfrm xmlns:a="http://schemas.openxmlformats.org/drawingml/2006/main">
            <a:off x="60388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Rights and responsibilities case conference. Analyse three fictional workplace concerns. Evidence: A five-column case table and one cautious response script.</a:t>
            </a:r>
          </a:p>
        </p:txBody>
      </p:sp>
      <p:sp>
        <p:nvSpPr>
          <p:cNvPr id="8" name="theory-notice-2">
            <a:extLst xmlns:a="http://schemas.openxmlformats.org/drawingml/2006/main">
              <a:ext uri="{FF2B5EF4-FFF2-40B4-BE49-F238E27FC236}">
                <a16:creationId xmlns:a16="http://schemas.microsoft.com/office/drawing/2014/main" id="{187EAC34-DDFE-457F-9AAD-BA6906F75966}"/>
              </a:ext>
            </a:extLst>
          </p:cNvPr>
          <p:cNvSpPr>
            <a:spLocks xmlns:a="http://schemas.openxmlformats.org/drawingml/2006/main" noGrp="1"/>
          </p:cNvSpPr>
          <p:nvPr/>
        </p:nvSpPr>
        <p:spPr>
          <a:xfrm xmlns:a="http://schemas.openxmlformats.org/drawingml/2006/main">
            <a:off x="685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guard, boundary and protective equipment. What is being checked before anyone operates the machine?</a:t>
            </a:r>
          </a:p>
        </p:txBody>
      </p:sp>
      <p:sp>
        <p:nvSpPr>
          <p:cNvPr id="9" name="theory-success-2">
            <a:extLst xmlns:a="http://schemas.openxmlformats.org/drawingml/2006/main">
              <a:ext uri="{FF2B5EF4-FFF2-40B4-BE49-F238E27FC236}">
                <a16:creationId xmlns:a16="http://schemas.microsoft.com/office/drawing/2014/main" id="{84BFCFC3-123A-4C73-940B-16BC568151BE}"/>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distinguish employer and employee responsibilities.</a:t>
            </a:r>
          </a:p>
        </p:txBody>
      </p:sp>
      <p:sp>
        <p:nvSpPr>
          <p:cNvPr id="10" name="footer-rule-4">
            <a:extLst xmlns:a="http://schemas.openxmlformats.org/drawingml/2006/main">
              <a:ext uri="{FF2B5EF4-FFF2-40B4-BE49-F238E27FC236}">
                <a16:creationId xmlns:a16="http://schemas.microsoft.com/office/drawing/2014/main" id="{6EE99470-C821-4E17-86C9-96A6902745C1}"/>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4">
            <a:extLst xmlns:a="http://schemas.openxmlformats.org/drawingml/2006/main">
              <a:ext uri="{FF2B5EF4-FFF2-40B4-BE49-F238E27FC236}">
                <a16:creationId xmlns:a16="http://schemas.microsoft.com/office/drawing/2014/main" id="{98AF931E-FDAC-4A62-8D94-596A5762D950}"/>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M01  ·  In the Workplace</a:t>
            </a:r>
          </a:p>
        </p:txBody>
      </p:sp>
      <p:sp>
        <p:nvSpPr>
          <p:cNvPr id="12" name="footer-number-4">
            <a:extLst xmlns:a="http://schemas.openxmlformats.org/drawingml/2006/main">
              <a:ext uri="{FF2B5EF4-FFF2-40B4-BE49-F238E27FC236}">
                <a16:creationId xmlns:a16="http://schemas.microsoft.com/office/drawing/2014/main" id="{0064D12C-443E-445B-8BC5-02CE6F917C6F}"/>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04</a:t>
            </a:r>
          </a:p>
        </p:txBody>
      </p:sp>
    </p:spTree>
    <p:extLst>
      <p:ext uri="{BB962C8B-B14F-4D97-AF65-F5344CB8AC3E}">
        <p14:creationId xmlns:p14="http://schemas.microsoft.com/office/powerpoint/2010/main" val="1031004567"/>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5">
            <a:extLst xmlns:a="http://schemas.openxmlformats.org/drawingml/2006/main">
              <a:ext uri="{FF2B5EF4-FFF2-40B4-BE49-F238E27FC236}">
                <a16:creationId xmlns:a16="http://schemas.microsoft.com/office/drawing/2014/main" id="{69CE9F01-BE76-49B9-AA26-791138FACCDE}"/>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M01</a:t>
            </a:r>
          </a:p>
        </p:txBody>
      </p:sp>
      <p:sp>
        <p:nvSpPr>
          <p:cNvPr id="2" name="slide-title-5">
            <a:extLst xmlns:a="http://schemas.openxmlformats.org/drawingml/2006/main">
              <a:ext uri="{FF2B5EF4-FFF2-40B4-BE49-F238E27FC236}">
                <a16:creationId xmlns:a16="http://schemas.microsoft.com/office/drawing/2014/main" id="{C9B47BC1-A700-43B5-A9F7-D51BD712397B}"/>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Workplace culture, performance and change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f52145b227e49a7"/>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3">
            <a:extLst xmlns:a="http://schemas.openxmlformats.org/drawingml/2006/main">
              <a:ext uri="{FF2B5EF4-FFF2-40B4-BE49-F238E27FC236}">
                <a16:creationId xmlns:a16="http://schemas.microsoft.com/office/drawing/2014/main" id="{861CCA7E-085C-41F3-83AA-58A5F6DF22EE}"/>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Workplace culture is the pattern of shared expectations and behaviour that develops through leadership, systems and everyday interactions. Performance is also broader than speed. Change may involve new technology, work processes, team structures, regulations or customer needs.</a:t>
            </a:r>
          </a:p>
        </p:txBody>
      </p:sp>
      <p:sp>
        <p:nvSpPr>
          <p:cNvPr id="5" name="theory-evidence-surface-3">
            <a:extLst xmlns:a="http://schemas.openxmlformats.org/drawingml/2006/main">
              <a:ext uri="{FF2B5EF4-FFF2-40B4-BE49-F238E27FC236}">
                <a16:creationId xmlns:a16="http://schemas.microsoft.com/office/drawing/2014/main" id="{D51EEC82-F751-4955-9CF6-4FC74BF00628}"/>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3">
            <a:extLst xmlns:a="http://schemas.openxmlformats.org/drawingml/2006/main">
              <a:ext uri="{FF2B5EF4-FFF2-40B4-BE49-F238E27FC236}">
                <a16:creationId xmlns:a16="http://schemas.microsoft.com/office/drawing/2014/main" id="{21BCA2BF-491B-4B53-BCA2-68365F528156}"/>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3">
            <a:extLst xmlns:a="http://schemas.openxmlformats.org/drawingml/2006/main">
              <a:ext uri="{FF2B5EF4-FFF2-40B4-BE49-F238E27FC236}">
                <a16:creationId xmlns:a16="http://schemas.microsoft.com/office/drawing/2014/main" id="{0F441233-9277-4BE4-BFAD-EACF3AB4BB56}"/>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Culture and performance evidence audit. Review a fictional workplace description. Evidence: An evidence audit, indicator set and 150-word feedback script.</a:t>
            </a:r>
          </a:p>
        </p:txBody>
      </p:sp>
      <p:sp>
        <p:nvSpPr>
          <p:cNvPr id="8" name="theory-notice-3">
            <a:extLst xmlns:a="http://schemas.openxmlformats.org/drawingml/2006/main">
              <a:ext uri="{FF2B5EF4-FFF2-40B4-BE49-F238E27FC236}">
                <a16:creationId xmlns:a16="http://schemas.microsoft.com/office/drawing/2014/main" id="{41B71E2F-5E93-4FF2-A0E2-C1D4A7BAD5D0}"/>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who is speaking, who is listening and what the group is examining. What does that suggest about the workplace culture?</a:t>
            </a:r>
          </a:p>
        </p:txBody>
      </p:sp>
      <p:sp>
        <p:nvSpPr>
          <p:cNvPr id="9" name="theory-success-3">
            <a:extLst xmlns:a="http://schemas.openxmlformats.org/drawingml/2006/main">
              <a:ext uri="{FF2B5EF4-FFF2-40B4-BE49-F238E27FC236}">
                <a16:creationId xmlns:a16="http://schemas.microsoft.com/office/drawing/2014/main" id="{B6AD4AA7-5F33-48B0-BB66-EFD12A4F2558}"/>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identify visible evidence of workplace culture.</a:t>
            </a:r>
          </a:p>
        </p:txBody>
      </p:sp>
      <p:sp>
        <p:nvSpPr>
          <p:cNvPr id="10" name="footer-rule-5">
            <a:extLst xmlns:a="http://schemas.openxmlformats.org/drawingml/2006/main">
              <a:ext uri="{FF2B5EF4-FFF2-40B4-BE49-F238E27FC236}">
                <a16:creationId xmlns:a16="http://schemas.microsoft.com/office/drawing/2014/main" id="{B206A0E7-1B7F-419D-BAA0-4AEEA2EA8A44}"/>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5">
            <a:extLst xmlns:a="http://schemas.openxmlformats.org/drawingml/2006/main">
              <a:ext uri="{FF2B5EF4-FFF2-40B4-BE49-F238E27FC236}">
                <a16:creationId xmlns:a16="http://schemas.microsoft.com/office/drawing/2014/main" id="{52649C41-8302-40BA-8463-6A71DD7C7425}"/>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M01  ·  In the Workplace</a:t>
            </a:r>
          </a:p>
        </p:txBody>
      </p:sp>
      <p:sp>
        <p:nvSpPr>
          <p:cNvPr id="12" name="footer-number-5">
            <a:extLst xmlns:a="http://schemas.openxmlformats.org/drawingml/2006/main">
              <a:ext uri="{FF2B5EF4-FFF2-40B4-BE49-F238E27FC236}">
                <a16:creationId xmlns:a16="http://schemas.microsoft.com/office/drawing/2014/main" id="{A653011A-19DE-4269-952E-156E13036125}"/>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05</a:t>
            </a:r>
          </a:p>
        </p:txBody>
      </p:sp>
    </p:spTree>
    <p:extLst>
      <p:ext uri="{BB962C8B-B14F-4D97-AF65-F5344CB8AC3E}">
        <p14:creationId xmlns:p14="http://schemas.microsoft.com/office/powerpoint/2010/main" val="1045851393"/>
      </p:ext>
    </p:extLst>
  </p:cSld>
</p:sld>
</file>

<file path=ppt/slides/slide6.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sp>
        <p:nvSpPr>
          <p:cNvPr id="18" name="module-label-6">
            <a:extLst xmlns:a="http://schemas.openxmlformats.org/drawingml/2006/main">
              <a:ext uri="{FF2B5EF4-FFF2-40B4-BE49-F238E27FC236}">
                <a16:creationId xmlns:a16="http://schemas.microsoft.com/office/drawing/2014/main" id="{2E8586FE-3F2F-49B2-B05E-240ECF8A79D9}"/>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M01</a:t>
            </a:r>
          </a:p>
        </p:txBody>
      </p:sp>
      <p:sp>
        <p:nvSpPr>
          <p:cNvPr id="2" name="slide-title-6">
            <a:extLst xmlns:a="http://schemas.openxmlformats.org/drawingml/2006/main">
              <a:ext uri="{FF2B5EF4-FFF2-40B4-BE49-F238E27FC236}">
                <a16:creationId xmlns:a16="http://schemas.microsoft.com/office/drawing/2014/main" id="{2AC96ECB-9D04-4B57-971D-0FC1A2E73360}"/>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0B2637"/>
                </a:solidFill>
                <a:latin typeface="Aptos Display"/>
                <a:ea typeface="Aptos Display"/>
                <a:cs typeface="Aptos Display"/>
              </a:defRPr>
            </a:pPr>
            <a:r>
              <a:rPr sz="3150" b="1">
                <a:solidFill>
                  <a:srgbClr val="0B2637"/>
                </a:solidFill>
                <a:latin typeface="Aptos Display"/>
                <a:ea typeface="Aptos Display"/>
                <a:cs typeface="Aptos Display"/>
              </a:rPr>
              <a:t>Retrieve the idea, then explain the reason</a:t>
            </a:r>
          </a:p>
        </p:txBody>
      </p:sp>
      <p:sp>
        <p:nvSpPr>
          <p:cNvPr id="3" name="retrieval-instruction">
            <a:extLst xmlns:a="http://schemas.openxmlformats.org/drawingml/2006/main">
              <a:ext uri="{FF2B5EF4-FFF2-40B4-BE49-F238E27FC236}">
                <a16:creationId xmlns:a16="http://schemas.microsoft.com/office/drawing/2014/main" id="{DC8663E7-046E-4C76-8004-FF6940040AFA}"/>
              </a:ext>
            </a:extLst>
          </p:cNvPr>
          <p:cNvSpPr>
            <a:spLocks xmlns:a="http://schemas.openxmlformats.org/drawingml/2006/main" noGrp="1"/>
          </p:cNvSpPr>
          <p:nvPr/>
        </p:nvSpPr>
        <p:spPr>
          <a:xfrm xmlns:a="http://schemas.openxmlformats.org/drawingml/2006/main">
            <a:off x="685800" y="120015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1F5141"/>
                </a:solidFill>
                <a:latin typeface="Aptos"/>
                <a:ea typeface="Aptos"/>
                <a:cs typeface="Aptos"/>
              </a:defRPr>
            </a:pPr>
            <a:r>
              <a:rPr sz="1575" b="1">
                <a:solidFill>
                  <a:srgbClr val="1F5141"/>
                </a:solidFill>
                <a:latin typeface="Aptos"/>
                <a:ea typeface="Aptos"/>
                <a:cs typeface="Aptos"/>
              </a:rPr>
              <a:t>Answer without notes first. Use one precise evidence-based sentence for each check.</a:t>
            </a:r>
          </a:p>
        </p:txBody>
      </p:sp>
      <p:sp>
        <p:nvSpPr>
          <p:cNvPr id="4" name="retrieval-number-1">
            <a:extLst xmlns:a="http://schemas.openxmlformats.org/drawingml/2006/main">
              <a:ext uri="{FF2B5EF4-FFF2-40B4-BE49-F238E27FC236}">
                <a16:creationId xmlns:a16="http://schemas.microsoft.com/office/drawing/2014/main" id="{472A74C7-7473-405C-9654-B6C7A8584D8B}"/>
              </a:ext>
            </a:extLst>
          </p:cNvPr>
          <p:cNvSpPr>
            <a:spLocks xmlns:a="http://schemas.openxmlformats.org/drawingml/2006/main" noGrp="1"/>
          </p:cNvSpPr>
          <p:nvPr/>
        </p:nvSpPr>
        <p:spPr>
          <a:xfrm xmlns:a="http://schemas.openxmlformats.org/drawingml/2006/main">
            <a:off x="685800" y="18859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01</a:t>
            </a:r>
          </a:p>
        </p:txBody>
      </p:sp>
      <p:sp>
        <p:nvSpPr>
          <p:cNvPr id="5" name="retrieval-question-1">
            <a:extLst xmlns:a="http://schemas.openxmlformats.org/drawingml/2006/main">
              <a:ext uri="{FF2B5EF4-FFF2-40B4-BE49-F238E27FC236}">
                <a16:creationId xmlns:a16="http://schemas.microsoft.com/office/drawing/2014/main" id="{701B3285-0E99-463C-8D5B-088442D2507C}"/>
              </a:ext>
            </a:extLst>
          </p:cNvPr>
          <p:cNvSpPr>
            <a:spLocks xmlns:a="http://schemas.openxmlformats.org/drawingml/2006/main" noGrp="1"/>
          </p:cNvSpPr>
          <p:nvPr/>
        </p:nvSpPr>
        <p:spPr>
          <a:xfrm xmlns:a="http://schemas.openxmlformats.org/drawingml/2006/main">
            <a:off x="1466850" y="18859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A new worker is unsure who can approve a refund. What is the best action?</a:t>
            </a:r>
          </a:p>
        </p:txBody>
      </p:sp>
      <p:sp>
        <p:nvSpPr>
          <p:cNvPr id="6" name="retrieval-separator-1">
            <a:extLst xmlns:a="http://schemas.openxmlformats.org/drawingml/2006/main">
              <a:ext uri="{FF2B5EF4-FFF2-40B4-BE49-F238E27FC236}">
                <a16:creationId xmlns:a16="http://schemas.microsoft.com/office/drawing/2014/main" id="{2E25B7B3-1805-4955-AC51-62A81855458C}"/>
              </a:ext>
            </a:extLst>
          </p:cNvPr>
          <p:cNvSpPr>
            <a:spLocks xmlns:a="http://schemas.openxmlformats.org/drawingml/2006/main" noGrp="1"/>
          </p:cNvSpPr>
          <p:nvPr/>
        </p:nvSpPr>
        <p:spPr>
          <a:xfrm xmlns:a="http://schemas.openxmlformats.org/drawingml/2006/main">
            <a:off x="685800" y="289560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7" name="retrieval-number-2">
            <a:extLst xmlns:a="http://schemas.openxmlformats.org/drawingml/2006/main">
              <a:ext uri="{FF2B5EF4-FFF2-40B4-BE49-F238E27FC236}">
                <a16:creationId xmlns:a16="http://schemas.microsoft.com/office/drawing/2014/main" id="{E169B69F-DC9B-4ECF-AB5B-8C76C205F483}"/>
              </a:ext>
            </a:extLst>
          </p:cNvPr>
          <p:cNvSpPr>
            <a:spLocks xmlns:a="http://schemas.openxmlformats.org/drawingml/2006/main" noGrp="1"/>
          </p:cNvSpPr>
          <p:nvPr/>
        </p:nvSpPr>
        <p:spPr>
          <a:xfrm xmlns:a="http://schemas.openxmlformats.org/drawingml/2006/main">
            <a:off x="685800" y="316230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C6572F"/>
                </a:solidFill>
                <a:latin typeface="Aptos Display"/>
                <a:ea typeface="Aptos Display"/>
                <a:cs typeface="Aptos Display"/>
              </a:defRPr>
            </a:pPr>
            <a:r>
              <a:rPr sz="2325" b="1">
                <a:solidFill>
                  <a:srgbClr val="C6572F"/>
                </a:solidFill>
                <a:latin typeface="Aptos Display"/>
                <a:ea typeface="Aptos Display"/>
                <a:cs typeface="Aptos Display"/>
              </a:rPr>
              <a:t>02</a:t>
            </a:r>
          </a:p>
        </p:txBody>
      </p:sp>
      <p:sp>
        <p:nvSpPr>
          <p:cNvPr id="8" name="retrieval-question-2">
            <a:extLst xmlns:a="http://schemas.openxmlformats.org/drawingml/2006/main">
              <a:ext uri="{FF2B5EF4-FFF2-40B4-BE49-F238E27FC236}">
                <a16:creationId xmlns:a16="http://schemas.microsoft.com/office/drawing/2014/main" id="{F08165A5-348F-45F2-8615-FFC123230189}"/>
              </a:ext>
            </a:extLst>
          </p:cNvPr>
          <p:cNvSpPr>
            <a:spLocks xmlns:a="http://schemas.openxmlformats.org/drawingml/2006/main" noGrp="1"/>
          </p:cNvSpPr>
          <p:nvPr/>
        </p:nvSpPr>
        <p:spPr>
          <a:xfrm xmlns:a="http://schemas.openxmlformats.org/drawingml/2006/main">
            <a:off x="1466850" y="316230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Which statement best represents reciprocal safety responsibility?</a:t>
            </a:r>
          </a:p>
        </p:txBody>
      </p:sp>
      <p:sp>
        <p:nvSpPr>
          <p:cNvPr id="9" name="retrieval-separator-2">
            <a:extLst xmlns:a="http://schemas.openxmlformats.org/drawingml/2006/main">
              <a:ext uri="{FF2B5EF4-FFF2-40B4-BE49-F238E27FC236}">
                <a16:creationId xmlns:a16="http://schemas.microsoft.com/office/drawing/2014/main" id="{1B0B9CEF-E83B-4971-BE99-DE14438A7000}"/>
              </a:ext>
            </a:extLst>
          </p:cNvPr>
          <p:cNvSpPr>
            <a:spLocks xmlns:a="http://schemas.openxmlformats.org/drawingml/2006/main" noGrp="1"/>
          </p:cNvSpPr>
          <p:nvPr/>
        </p:nvSpPr>
        <p:spPr>
          <a:xfrm xmlns:a="http://schemas.openxmlformats.org/drawingml/2006/main">
            <a:off x="685800" y="417195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0" name="retrieval-number-3">
            <a:extLst xmlns:a="http://schemas.openxmlformats.org/drawingml/2006/main">
              <a:ext uri="{FF2B5EF4-FFF2-40B4-BE49-F238E27FC236}">
                <a16:creationId xmlns:a16="http://schemas.microsoft.com/office/drawing/2014/main" id="{0B4B8F13-5B2E-4A0B-9519-629E4BB47BF0}"/>
              </a:ext>
            </a:extLst>
          </p:cNvPr>
          <p:cNvSpPr>
            <a:spLocks xmlns:a="http://schemas.openxmlformats.org/drawingml/2006/main" noGrp="1"/>
          </p:cNvSpPr>
          <p:nvPr/>
        </p:nvSpPr>
        <p:spPr>
          <a:xfrm xmlns:a="http://schemas.openxmlformats.org/drawingml/2006/main">
            <a:off x="685800" y="44386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03</a:t>
            </a:r>
          </a:p>
        </p:txBody>
      </p:sp>
      <p:sp>
        <p:nvSpPr>
          <p:cNvPr id="11" name="retrieval-question-3">
            <a:extLst xmlns:a="http://schemas.openxmlformats.org/drawingml/2006/main">
              <a:ext uri="{FF2B5EF4-FFF2-40B4-BE49-F238E27FC236}">
                <a16:creationId xmlns:a16="http://schemas.microsoft.com/office/drawing/2014/main" id="{B3951FD7-BCA3-4ABD-AB8F-380AA182A6D7}"/>
              </a:ext>
            </a:extLst>
          </p:cNvPr>
          <p:cNvSpPr>
            <a:spLocks xmlns:a="http://schemas.openxmlformats.org/drawingml/2006/main" noGrp="1"/>
          </p:cNvSpPr>
          <p:nvPr/>
        </p:nvSpPr>
        <p:spPr>
          <a:xfrm xmlns:a="http://schemas.openxmlformats.org/drawingml/2006/main">
            <a:off x="1466850" y="44386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Which evidence says most about workplace culture?</a:t>
            </a:r>
          </a:p>
        </p:txBody>
      </p:sp>
      <p:sp>
        <p:nvSpPr>
          <p:cNvPr id="12" name="retrieval-cycle">
            <a:extLst xmlns:a="http://schemas.openxmlformats.org/drawingml/2006/main">
              <a:ext uri="{FF2B5EF4-FFF2-40B4-BE49-F238E27FC236}">
                <a16:creationId xmlns:a16="http://schemas.microsoft.com/office/drawing/2014/main" id="{0850B564-E77C-43AB-96FE-D1F208300171}"/>
              </a:ext>
            </a:extLst>
          </p:cNvPr>
          <p:cNvSpPr>
            <a:spLocks xmlns:a="http://schemas.openxmlformats.org/drawingml/2006/main" noGrp="1"/>
          </p:cNvSpPr>
          <p:nvPr/>
        </p:nvSpPr>
        <p:spPr>
          <a:xfrm xmlns:a="http://schemas.openxmlformats.org/drawingml/2006/main">
            <a:off x="8458200" y="1752600"/>
            <a:ext cx="3048000" cy="3714750"/>
          </a:xfrm>
          <a:prstGeom xmlns:a="http://schemas.openxmlformats.org/drawingml/2006/main" prst="roundRect">
            <a:avLst>
              <a:gd name="adj" fmla="val 5625"/>
            </a:avLst>
          </a:prstGeom>
          <a:solidFill xmlns:a="http://schemas.openxmlformats.org/drawingml/2006/main">
            <a:srgbClr val="0B2637"/>
          </a:solidFill>
          <a:ln xmlns:a="http://schemas.openxmlformats.org/drawingml/2006/main" w="0">
            <a:noFill/>
            <a:prstDash val="solid"/>
          </a:ln>
        </p:spPr>
      </p:sp>
      <p:sp>
        <p:nvSpPr>
          <p:cNvPr id="13" name="retrieval-cycle-title">
            <a:extLst xmlns:a="http://schemas.openxmlformats.org/drawingml/2006/main">
              <a:ext uri="{FF2B5EF4-FFF2-40B4-BE49-F238E27FC236}">
                <a16:creationId xmlns:a16="http://schemas.microsoft.com/office/drawing/2014/main" id="{86581326-F7AB-4DEF-8ACB-147D9E063204}"/>
              </a:ext>
            </a:extLst>
          </p:cNvPr>
          <p:cNvSpPr>
            <a:spLocks xmlns:a="http://schemas.openxmlformats.org/drawingml/2006/main" noGrp="1"/>
          </p:cNvSpPr>
          <p:nvPr/>
        </p:nvSpPr>
        <p:spPr>
          <a:xfrm xmlns:a="http://schemas.openxmlformats.org/drawingml/2006/main">
            <a:off x="8763000" y="20955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A calm checking cycle</a:t>
            </a:r>
          </a:p>
        </p:txBody>
      </p:sp>
      <p:sp>
        <p:nvSpPr>
          <p:cNvPr id="14" name="retrieval-cycle-body">
            <a:extLst xmlns:a="http://schemas.openxmlformats.org/drawingml/2006/main">
              <a:ext uri="{FF2B5EF4-FFF2-40B4-BE49-F238E27FC236}">
                <a16:creationId xmlns:a16="http://schemas.microsoft.com/office/drawing/2014/main" id="{200E6DB1-6E41-42BA-B137-BB24296854B8}"/>
              </a:ext>
            </a:extLst>
          </p:cNvPr>
          <p:cNvSpPr>
            <a:spLocks xmlns:a="http://schemas.openxmlformats.org/drawingml/2006/main" noGrp="1"/>
          </p:cNvSpPr>
          <p:nvPr/>
        </p:nvSpPr>
        <p:spPr>
          <a:xfrm xmlns:a="http://schemas.openxmlformats.org/drawingml/2006/main">
            <a:off x="8763000" y="2971800"/>
            <a:ext cx="24193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1  Recall from memory</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2  Check the matching section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3  Correct the reason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4  Try the question again</a:t>
            </a:r>
          </a:p>
        </p:txBody>
      </p:sp>
      <p:sp>
        <p:nvSpPr>
          <p:cNvPr id="15" name="footer-rule-6">
            <a:extLst xmlns:a="http://schemas.openxmlformats.org/drawingml/2006/main">
              <a:ext uri="{FF2B5EF4-FFF2-40B4-BE49-F238E27FC236}">
                <a16:creationId xmlns:a16="http://schemas.microsoft.com/office/drawing/2014/main" id="{EA655A5C-8A0C-4361-9B37-3F4B7AC7EBB9}"/>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6" name="footer-module-6">
            <a:extLst xmlns:a="http://schemas.openxmlformats.org/drawingml/2006/main">
              <a:ext uri="{FF2B5EF4-FFF2-40B4-BE49-F238E27FC236}">
                <a16:creationId xmlns:a16="http://schemas.microsoft.com/office/drawing/2014/main" id="{895E1BAB-39A3-4F43-AEAC-CF3CC35B159C}"/>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M01  ·  In the Workplace</a:t>
            </a:r>
          </a:p>
        </p:txBody>
      </p:sp>
      <p:sp>
        <p:nvSpPr>
          <p:cNvPr id="17" name="footer-number-6">
            <a:extLst xmlns:a="http://schemas.openxmlformats.org/drawingml/2006/main">
              <a:ext uri="{FF2B5EF4-FFF2-40B4-BE49-F238E27FC236}">
                <a16:creationId xmlns:a16="http://schemas.microsoft.com/office/drawing/2014/main" id="{FE4FF806-41F3-4118-A02D-FAB0FC321905}"/>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06</a:t>
            </a:r>
          </a:p>
        </p:txBody>
      </p:sp>
    </p:spTree>
    <p:extLst>
      <p:ext uri="{BB962C8B-B14F-4D97-AF65-F5344CB8AC3E}">
        <p14:creationId xmlns:p14="http://schemas.microsoft.com/office/powerpoint/2010/main" val="590461503"/>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7" name="module-label-7">
            <a:extLst xmlns:a="http://schemas.openxmlformats.org/drawingml/2006/main">
              <a:ext uri="{FF2B5EF4-FFF2-40B4-BE49-F238E27FC236}">
                <a16:creationId xmlns:a16="http://schemas.microsoft.com/office/drawing/2014/main" id="{E9EBA790-E10C-4F42-9C39-803128433CCD}"/>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M01</a:t>
            </a:r>
          </a:p>
        </p:txBody>
      </p:sp>
      <p:sp>
        <p:nvSpPr>
          <p:cNvPr id="2" name="slide-title-7">
            <a:extLst xmlns:a="http://schemas.openxmlformats.org/drawingml/2006/main">
              <a:ext uri="{FF2B5EF4-FFF2-40B4-BE49-F238E27FC236}">
                <a16:creationId xmlns:a16="http://schemas.microsoft.com/office/drawing/2014/main" id="{0AEE2DFA-8299-4433-8B30-4D54E91663AA}"/>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000" b="1">
                <a:solidFill>
                  <a:srgbClr val="0B2637"/>
                </a:solidFill>
                <a:latin typeface="Aptos Display"/>
                <a:ea typeface="Aptos Display"/>
                <a:cs typeface="Aptos Display"/>
              </a:defRPr>
            </a:pPr>
            <a:r>
              <a:rPr sz="3000" b="1">
                <a:solidFill>
                  <a:srgbClr val="0B2637"/>
                </a:solidFill>
                <a:latin typeface="Aptos Display"/>
                <a:ea typeface="Aptos Display"/>
                <a:cs typeface="Aptos Display"/>
              </a:rPr>
              <a:t>Build evidence that makes your reasoning visible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e14be707e954a6e"/>
          <a:srcRect xmlns:a="http://schemas.openxmlformats.org/drawingml/2006/main" l="1676" t="0" r="1676" b="0"/>
          <a:stretch xmlns:a="http://schemas.openxmlformats.org/drawingml/2006/main">
            <a:fillRect l="0" t="0" r="0" b="0"/>
          </a:stretch>
        </p:blipFill>
        <p:spPr>
          <a:xfrm xmlns:a="http://schemas.openxmlformats.org/drawingml/2006/main">
            <a:off x="8210550" y="1428750"/>
            <a:ext cx="3295650" cy="3409950"/>
          </a:xfrm>
          <a:prstGeom xmlns:a="http://schemas.openxmlformats.org/drawingml/2006/main" prst="roundRect">
            <a:avLst>
              <a:gd name="adj" fmla="val 6358"/>
            </a:avLst>
          </a:prstGeom>
        </p:spPr>
      </p:pic>
      <p:sp>
        <p:nvSpPr>
          <p:cNvPr id="4" name="guided-prompt">
            <a:extLst xmlns:a="http://schemas.openxmlformats.org/drawingml/2006/main">
              <a:ext uri="{FF2B5EF4-FFF2-40B4-BE49-F238E27FC236}">
                <a16:creationId xmlns:a16="http://schemas.microsoft.com/office/drawing/2014/main" id="{6D6CD3F1-7520-4E98-8C64-3276A01E7104}"/>
              </a:ext>
            </a:extLst>
          </p:cNvPr>
          <p:cNvSpPr>
            <a:spLocks xmlns:a="http://schemas.openxmlformats.org/drawingml/2006/main" noGrp="1"/>
          </p:cNvSpPr>
          <p:nvPr/>
        </p:nvSpPr>
        <p:spPr>
          <a:xfrm xmlns:a="http://schemas.openxmlformats.org/drawingml/2006/main">
            <a:off x="685800" y="1352550"/>
            <a:ext cx="7067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2025" b="1">
                <a:solidFill>
                  <a:srgbClr val="0B2637"/>
                </a:solidFill>
                <a:latin typeface="Aptos Display"/>
                <a:ea typeface="Aptos Display"/>
                <a:cs typeface="Aptos Display"/>
              </a:defRPr>
            </a:pPr>
            <a:r>
              <a:rPr sz="2025" b="1">
                <a:solidFill>
                  <a:srgbClr val="0B2637"/>
                </a:solidFill>
                <a:latin typeface="Aptos Display"/>
                <a:ea typeface="Aptos Display"/>
                <a:cs typeface="Aptos Display"/>
              </a:rPr>
              <a:t>Evaluate whether a workplace change has improved performance and culture, then recommend a next step.</a:t>
            </a:r>
          </a:p>
        </p:txBody>
      </p:sp>
      <p:sp>
        <p:nvSpPr>
          <p:cNvPr id="5" name="guided-step-number-1">
            <a:extLst xmlns:a="http://schemas.openxmlformats.org/drawingml/2006/main">
              <a:ext uri="{FF2B5EF4-FFF2-40B4-BE49-F238E27FC236}">
                <a16:creationId xmlns:a16="http://schemas.microsoft.com/office/drawing/2014/main" id="{494F5DD7-910D-49F9-8726-52BA05A487C3}"/>
              </a:ext>
            </a:extLst>
          </p:cNvPr>
          <p:cNvSpPr>
            <a:spLocks xmlns:a="http://schemas.openxmlformats.org/drawingml/2006/main" noGrp="1"/>
          </p:cNvSpPr>
          <p:nvPr/>
        </p:nvSpPr>
        <p:spPr>
          <a:xfrm xmlns:a="http://schemas.openxmlformats.org/drawingml/2006/main">
            <a:off x="6858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01</a:t>
            </a:r>
          </a:p>
        </p:txBody>
      </p:sp>
      <p:sp>
        <p:nvSpPr>
          <p:cNvPr id="6" name="guided-step-label-1">
            <a:extLst xmlns:a="http://schemas.openxmlformats.org/drawingml/2006/main">
              <a:ext uri="{FF2B5EF4-FFF2-40B4-BE49-F238E27FC236}">
                <a16:creationId xmlns:a16="http://schemas.microsoft.com/office/drawing/2014/main" id="{4C853ECA-B1FD-4C67-8A6C-0E068C4EFC5E}"/>
              </a:ext>
            </a:extLst>
          </p:cNvPr>
          <p:cNvSpPr>
            <a:spLocks xmlns:a="http://schemas.openxmlformats.org/drawingml/2006/main" noGrp="1"/>
          </p:cNvSpPr>
          <p:nvPr/>
        </p:nvSpPr>
        <p:spPr>
          <a:xfrm xmlns:a="http://schemas.openxmlformats.org/drawingml/2006/main">
            <a:off x="6858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READ</a:t>
            </a:r>
          </a:p>
        </p:txBody>
      </p:sp>
      <p:sp>
        <p:nvSpPr>
          <p:cNvPr id="7" name="guided-step-detail-1">
            <a:extLst xmlns:a="http://schemas.openxmlformats.org/drawingml/2006/main">
              <a:ext uri="{FF2B5EF4-FFF2-40B4-BE49-F238E27FC236}">
                <a16:creationId xmlns:a16="http://schemas.microsoft.com/office/drawing/2014/main" id="{4514F7B8-4677-4866-9511-AE3AB14E3DCC}"/>
              </a:ext>
            </a:extLst>
          </p:cNvPr>
          <p:cNvSpPr>
            <a:spLocks xmlns:a="http://schemas.openxmlformats.org/drawingml/2006/main" noGrp="1"/>
          </p:cNvSpPr>
          <p:nvPr/>
        </p:nvSpPr>
        <p:spPr>
          <a:xfrm xmlns:a="http://schemas.openxmlformats.org/drawingml/2006/main">
            <a:off x="6858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Identify the command verb and the relationship.</a:t>
            </a:r>
          </a:p>
        </p:txBody>
      </p:sp>
      <p:sp>
        <p:nvSpPr>
          <p:cNvPr id="8" name="guided-step-line-1">
            <a:extLst xmlns:a="http://schemas.openxmlformats.org/drawingml/2006/main">
              <a:ext uri="{FF2B5EF4-FFF2-40B4-BE49-F238E27FC236}">
                <a16:creationId xmlns:a16="http://schemas.microsoft.com/office/drawing/2014/main" id="{1C2F5973-7B93-4101-B9CE-24ABD37550C6}"/>
              </a:ext>
            </a:extLst>
          </p:cNvPr>
          <p:cNvSpPr>
            <a:spLocks xmlns:a="http://schemas.openxmlformats.org/drawingml/2006/main" noGrp="1"/>
          </p:cNvSpPr>
          <p:nvPr/>
        </p:nvSpPr>
        <p:spPr>
          <a:xfrm xmlns:a="http://schemas.openxmlformats.org/drawingml/2006/main">
            <a:off x="19812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9" name="guided-step-number-2">
            <a:extLst xmlns:a="http://schemas.openxmlformats.org/drawingml/2006/main">
              <a:ext uri="{FF2B5EF4-FFF2-40B4-BE49-F238E27FC236}">
                <a16:creationId xmlns:a16="http://schemas.microsoft.com/office/drawing/2014/main" id="{9090C768-3578-4ED3-BFD8-CFBBE2159F21}"/>
              </a:ext>
            </a:extLst>
          </p:cNvPr>
          <p:cNvSpPr>
            <a:spLocks xmlns:a="http://schemas.openxmlformats.org/drawingml/2006/main" noGrp="1"/>
          </p:cNvSpPr>
          <p:nvPr/>
        </p:nvSpPr>
        <p:spPr>
          <a:xfrm xmlns:a="http://schemas.openxmlformats.org/drawingml/2006/main">
            <a:off x="24384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02</a:t>
            </a:r>
          </a:p>
        </p:txBody>
      </p:sp>
      <p:sp>
        <p:nvSpPr>
          <p:cNvPr id="10" name="guided-step-label-2">
            <a:extLst xmlns:a="http://schemas.openxmlformats.org/drawingml/2006/main">
              <a:ext uri="{FF2B5EF4-FFF2-40B4-BE49-F238E27FC236}">
                <a16:creationId xmlns:a16="http://schemas.microsoft.com/office/drawing/2014/main" id="{669DA3C5-109E-4BF2-AE44-C1657FFAC1D0}"/>
              </a:ext>
            </a:extLst>
          </p:cNvPr>
          <p:cNvSpPr>
            <a:spLocks xmlns:a="http://schemas.openxmlformats.org/drawingml/2006/main" noGrp="1"/>
          </p:cNvSpPr>
          <p:nvPr/>
        </p:nvSpPr>
        <p:spPr>
          <a:xfrm xmlns:a="http://schemas.openxmlformats.org/drawingml/2006/main">
            <a:off x="24384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SELECT</a:t>
            </a:r>
          </a:p>
        </p:txBody>
      </p:sp>
      <p:sp>
        <p:nvSpPr>
          <p:cNvPr id="11" name="guided-step-detail-2">
            <a:extLst xmlns:a="http://schemas.openxmlformats.org/drawingml/2006/main">
              <a:ext uri="{FF2B5EF4-FFF2-40B4-BE49-F238E27FC236}">
                <a16:creationId xmlns:a16="http://schemas.microsoft.com/office/drawing/2014/main" id="{04179B44-743F-4C0B-A961-DEAAE17A31CC}"/>
              </a:ext>
            </a:extLst>
          </p:cNvPr>
          <p:cNvSpPr>
            <a:spLocks xmlns:a="http://schemas.openxmlformats.org/drawingml/2006/main" noGrp="1"/>
          </p:cNvSpPr>
          <p:nvPr/>
        </p:nvSpPr>
        <p:spPr>
          <a:xfrm xmlns:a="http://schemas.openxmlformats.org/drawingml/2006/main">
            <a:off x="24384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Choose relevant course evidence.</a:t>
            </a:r>
          </a:p>
        </p:txBody>
      </p:sp>
      <p:sp>
        <p:nvSpPr>
          <p:cNvPr id="12" name="guided-step-line-2">
            <a:extLst xmlns:a="http://schemas.openxmlformats.org/drawingml/2006/main">
              <a:ext uri="{FF2B5EF4-FFF2-40B4-BE49-F238E27FC236}">
                <a16:creationId xmlns:a16="http://schemas.microsoft.com/office/drawing/2014/main" id="{66D65259-499A-4A7C-B491-55364798091C}"/>
              </a:ext>
            </a:extLst>
          </p:cNvPr>
          <p:cNvSpPr>
            <a:spLocks xmlns:a="http://schemas.openxmlformats.org/drawingml/2006/main" noGrp="1"/>
          </p:cNvSpPr>
          <p:nvPr/>
        </p:nvSpPr>
        <p:spPr>
          <a:xfrm xmlns:a="http://schemas.openxmlformats.org/drawingml/2006/main">
            <a:off x="37338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3" name="guided-step-number-3">
            <a:extLst xmlns:a="http://schemas.openxmlformats.org/drawingml/2006/main">
              <a:ext uri="{FF2B5EF4-FFF2-40B4-BE49-F238E27FC236}">
                <a16:creationId xmlns:a16="http://schemas.microsoft.com/office/drawing/2014/main" id="{1AA98B25-5341-4394-83D7-C7DFE4E73385}"/>
              </a:ext>
            </a:extLst>
          </p:cNvPr>
          <p:cNvSpPr>
            <a:spLocks xmlns:a="http://schemas.openxmlformats.org/drawingml/2006/main" noGrp="1"/>
          </p:cNvSpPr>
          <p:nvPr/>
        </p:nvSpPr>
        <p:spPr>
          <a:xfrm xmlns:a="http://schemas.openxmlformats.org/drawingml/2006/main">
            <a:off x="41910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C6572F"/>
                </a:solidFill>
                <a:latin typeface="Aptos Display"/>
                <a:ea typeface="Aptos Display"/>
                <a:cs typeface="Aptos Display"/>
              </a:defRPr>
            </a:pPr>
            <a:r>
              <a:rPr sz="2025" b="1">
                <a:solidFill>
                  <a:srgbClr val="C6572F"/>
                </a:solidFill>
                <a:latin typeface="Aptos Display"/>
                <a:ea typeface="Aptos Display"/>
                <a:cs typeface="Aptos Display"/>
              </a:rPr>
              <a:t>03</a:t>
            </a:r>
          </a:p>
        </p:txBody>
      </p:sp>
      <p:sp>
        <p:nvSpPr>
          <p:cNvPr id="14" name="guided-step-label-3">
            <a:extLst xmlns:a="http://schemas.openxmlformats.org/drawingml/2006/main">
              <a:ext uri="{FF2B5EF4-FFF2-40B4-BE49-F238E27FC236}">
                <a16:creationId xmlns:a16="http://schemas.microsoft.com/office/drawing/2014/main" id="{7A7630A3-DEF6-4994-AE96-5C4C23B65D41}"/>
              </a:ext>
            </a:extLst>
          </p:cNvPr>
          <p:cNvSpPr>
            <a:spLocks xmlns:a="http://schemas.openxmlformats.org/drawingml/2006/main" noGrp="1"/>
          </p:cNvSpPr>
          <p:nvPr/>
        </p:nvSpPr>
        <p:spPr>
          <a:xfrm xmlns:a="http://schemas.openxmlformats.org/drawingml/2006/main">
            <a:off x="41910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EXPLAIN</a:t>
            </a:r>
          </a:p>
        </p:txBody>
      </p:sp>
      <p:sp>
        <p:nvSpPr>
          <p:cNvPr id="15" name="guided-step-detail-3">
            <a:extLst xmlns:a="http://schemas.openxmlformats.org/drawingml/2006/main">
              <a:ext uri="{FF2B5EF4-FFF2-40B4-BE49-F238E27FC236}">
                <a16:creationId xmlns:a16="http://schemas.microsoft.com/office/drawing/2014/main" id="{78D76AD0-CFE6-4131-B3B0-60D600568D9C}"/>
              </a:ext>
            </a:extLst>
          </p:cNvPr>
          <p:cNvSpPr>
            <a:spLocks xmlns:a="http://schemas.openxmlformats.org/drawingml/2006/main" noGrp="1"/>
          </p:cNvSpPr>
          <p:nvPr/>
        </p:nvSpPr>
        <p:spPr>
          <a:xfrm xmlns:a="http://schemas.openxmlformats.org/drawingml/2006/main">
            <a:off x="41910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Connect evidence to a supported judgement.</a:t>
            </a:r>
          </a:p>
        </p:txBody>
      </p:sp>
      <p:sp>
        <p:nvSpPr>
          <p:cNvPr id="16" name="guided-step-line-3">
            <a:extLst xmlns:a="http://schemas.openxmlformats.org/drawingml/2006/main">
              <a:ext uri="{FF2B5EF4-FFF2-40B4-BE49-F238E27FC236}">
                <a16:creationId xmlns:a16="http://schemas.microsoft.com/office/drawing/2014/main" id="{CA14C66A-65CF-407A-B383-23519EF84077}"/>
              </a:ext>
            </a:extLst>
          </p:cNvPr>
          <p:cNvSpPr>
            <a:spLocks xmlns:a="http://schemas.openxmlformats.org/drawingml/2006/main" noGrp="1"/>
          </p:cNvSpPr>
          <p:nvPr/>
        </p:nvSpPr>
        <p:spPr>
          <a:xfrm xmlns:a="http://schemas.openxmlformats.org/drawingml/2006/main">
            <a:off x="54864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7" name="guided-step-number-4">
            <a:extLst xmlns:a="http://schemas.openxmlformats.org/drawingml/2006/main">
              <a:ext uri="{FF2B5EF4-FFF2-40B4-BE49-F238E27FC236}">
                <a16:creationId xmlns:a16="http://schemas.microsoft.com/office/drawing/2014/main" id="{0CBBF0DA-8346-4564-8C7E-B0C62A35E499}"/>
              </a:ext>
            </a:extLst>
          </p:cNvPr>
          <p:cNvSpPr>
            <a:spLocks xmlns:a="http://schemas.openxmlformats.org/drawingml/2006/main" noGrp="1"/>
          </p:cNvSpPr>
          <p:nvPr/>
        </p:nvSpPr>
        <p:spPr>
          <a:xfrm xmlns:a="http://schemas.openxmlformats.org/drawingml/2006/main">
            <a:off x="59436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04</a:t>
            </a:r>
          </a:p>
        </p:txBody>
      </p:sp>
      <p:sp>
        <p:nvSpPr>
          <p:cNvPr id="18" name="guided-step-label-4">
            <a:extLst xmlns:a="http://schemas.openxmlformats.org/drawingml/2006/main">
              <a:ext uri="{FF2B5EF4-FFF2-40B4-BE49-F238E27FC236}">
                <a16:creationId xmlns:a16="http://schemas.microsoft.com/office/drawing/2014/main" id="{4110742E-0F92-4071-86F3-90C71F86B099}"/>
              </a:ext>
            </a:extLst>
          </p:cNvPr>
          <p:cNvSpPr>
            <a:spLocks xmlns:a="http://schemas.openxmlformats.org/drawingml/2006/main" noGrp="1"/>
          </p:cNvSpPr>
          <p:nvPr/>
        </p:nvSpPr>
        <p:spPr>
          <a:xfrm xmlns:a="http://schemas.openxmlformats.org/drawingml/2006/main">
            <a:off x="59436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CHECK</a:t>
            </a:r>
          </a:p>
        </p:txBody>
      </p:sp>
      <p:sp>
        <p:nvSpPr>
          <p:cNvPr id="19" name="guided-step-detail-4">
            <a:extLst xmlns:a="http://schemas.openxmlformats.org/drawingml/2006/main">
              <a:ext uri="{FF2B5EF4-FFF2-40B4-BE49-F238E27FC236}">
                <a16:creationId xmlns:a16="http://schemas.microsoft.com/office/drawing/2014/main" id="{D659DAFE-AEC5-4AC6-93E8-41CABDEE418F}"/>
              </a:ext>
            </a:extLst>
          </p:cNvPr>
          <p:cNvSpPr>
            <a:spLocks xmlns:a="http://schemas.openxmlformats.org/drawingml/2006/main" noGrp="1"/>
          </p:cNvSpPr>
          <p:nvPr/>
        </p:nvSpPr>
        <p:spPr>
          <a:xfrm xmlns:a="http://schemas.openxmlformats.org/drawingml/2006/main">
            <a:off x="59436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Answer every part and test the criteria.</a:t>
            </a:r>
          </a:p>
        </p:txBody>
      </p:sp>
      <p:sp>
        <p:nvSpPr>
          <p:cNvPr id="20" name="guided-success-band">
            <a:extLst xmlns:a="http://schemas.openxmlformats.org/drawingml/2006/main">
              <a:ext uri="{FF2B5EF4-FFF2-40B4-BE49-F238E27FC236}">
                <a16:creationId xmlns:a16="http://schemas.microsoft.com/office/drawing/2014/main" id="{92334258-593B-4B6D-AD0A-545317570943}"/>
              </a:ext>
            </a:extLst>
          </p:cNvPr>
          <p:cNvSpPr>
            <a:spLocks xmlns:a="http://schemas.openxmlformats.org/drawingml/2006/main" noGrp="1"/>
          </p:cNvSpPr>
          <p:nvPr/>
        </p:nvSpPr>
        <p:spPr>
          <a:xfrm xmlns:a="http://schemas.openxmlformats.org/drawingml/2006/main">
            <a:off x="685800" y="5410200"/>
            <a:ext cx="10820400" cy="742950"/>
          </a:xfrm>
          <a:prstGeom xmlns:a="http://schemas.openxmlformats.org/drawingml/2006/main" prst="roundRect">
            <a:avLst>
              <a:gd name="adj" fmla="val 17949"/>
            </a:avLst>
          </a:prstGeom>
          <a:solidFill xmlns:a="http://schemas.openxmlformats.org/drawingml/2006/main">
            <a:srgbClr val="E5EFEA"/>
          </a:solidFill>
          <a:ln xmlns:a="http://schemas.openxmlformats.org/drawingml/2006/main" w="0">
            <a:noFill/>
            <a:prstDash val="solid"/>
          </a:ln>
        </p:spPr>
      </p:sp>
      <p:sp>
        <p:nvSpPr>
          <p:cNvPr id="21" name="guided-success-label">
            <a:extLst xmlns:a="http://schemas.openxmlformats.org/drawingml/2006/main">
              <a:ext uri="{FF2B5EF4-FFF2-40B4-BE49-F238E27FC236}">
                <a16:creationId xmlns:a16="http://schemas.microsoft.com/office/drawing/2014/main" id="{E123979D-0B90-41FA-9021-7BC6AB55C160}"/>
              </a:ext>
            </a:extLst>
          </p:cNvPr>
          <p:cNvSpPr>
            <a:spLocks xmlns:a="http://schemas.openxmlformats.org/drawingml/2006/main" noGrp="1"/>
          </p:cNvSpPr>
          <p:nvPr/>
        </p:nvSpPr>
        <p:spPr>
          <a:xfrm xmlns:a="http://schemas.openxmlformats.org/drawingml/2006/main">
            <a:off x="933450" y="55054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CHECK YOUR RESPONSE</a:t>
            </a:r>
          </a:p>
        </p:txBody>
      </p:sp>
      <p:sp>
        <p:nvSpPr>
          <p:cNvPr id="22" name="guided-success-text">
            <a:extLst xmlns:a="http://schemas.openxmlformats.org/drawingml/2006/main">
              <a:ext uri="{FF2B5EF4-FFF2-40B4-BE49-F238E27FC236}">
                <a16:creationId xmlns:a16="http://schemas.microsoft.com/office/drawing/2014/main" id="{20A6D66D-C82A-4A26-9E3C-0CFE481866BF}"/>
              </a:ext>
            </a:extLst>
          </p:cNvPr>
          <p:cNvSpPr>
            <a:spLocks xmlns:a="http://schemas.openxmlformats.org/drawingml/2006/main" noGrp="1"/>
          </p:cNvSpPr>
          <p:nvPr/>
        </p:nvSpPr>
        <p:spPr>
          <a:xfrm xmlns:a="http://schemas.openxmlformats.org/drawingml/2006/main">
            <a:off x="933450" y="5715000"/>
            <a:ext cx="1032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Uses multiple relevant performance indicators.</a:t>
            </a:r>
          </a:p>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Supports claims about culture with behaviour or decision evidence.</a:t>
            </a:r>
          </a:p>
        </p:txBody>
      </p:sp>
      <p:sp>
        <p:nvSpPr>
          <p:cNvPr id="23" name="guided-visual-notice">
            <a:extLst xmlns:a="http://schemas.openxmlformats.org/drawingml/2006/main">
              <a:ext uri="{FF2B5EF4-FFF2-40B4-BE49-F238E27FC236}">
                <a16:creationId xmlns:a16="http://schemas.microsoft.com/office/drawing/2014/main" id="{4A2C7D69-878D-4CC1-9F83-91C027CFD164}"/>
              </a:ext>
            </a:extLst>
          </p:cNvPr>
          <p:cNvSpPr>
            <a:spLocks xmlns:a="http://schemas.openxmlformats.org/drawingml/2006/main" noGrp="1"/>
          </p:cNvSpPr>
          <p:nvPr/>
        </p:nvSpPr>
        <p:spPr>
          <a:xfrm xmlns:a="http://schemas.openxmlformats.org/drawingml/2006/main">
            <a:off x="8210550" y="4876800"/>
            <a:ext cx="329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0">
                <a:solidFill>
                  <a:srgbClr val="52616A"/>
                </a:solidFill>
                <a:latin typeface="Aptos"/>
                <a:ea typeface="Aptos"/>
                <a:cs typeface="Aptos"/>
              </a:defRPr>
            </a:pPr>
            <a:r>
              <a:rPr sz="1050" b="0">
                <a:solidFill>
                  <a:srgbClr val="52616A"/>
                </a:solidFill>
                <a:latin typeface="Aptos"/>
                <a:ea typeface="Aptos"/>
                <a:cs typeface="Aptos"/>
              </a:rPr>
              <a:t>Notice the different evidence types and how they are organised. Which item shows the work, and which item helps explain the learning?</a:t>
            </a:r>
          </a:p>
        </p:txBody>
      </p:sp>
      <p:sp>
        <p:nvSpPr>
          <p:cNvPr id="24" name="footer-rule-7">
            <a:extLst xmlns:a="http://schemas.openxmlformats.org/drawingml/2006/main">
              <a:ext uri="{FF2B5EF4-FFF2-40B4-BE49-F238E27FC236}">
                <a16:creationId xmlns:a16="http://schemas.microsoft.com/office/drawing/2014/main" id="{F4593239-3051-48F8-8D43-8D7D565915D0}"/>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25" name="footer-module-7">
            <a:extLst xmlns:a="http://schemas.openxmlformats.org/drawingml/2006/main">
              <a:ext uri="{FF2B5EF4-FFF2-40B4-BE49-F238E27FC236}">
                <a16:creationId xmlns:a16="http://schemas.microsoft.com/office/drawing/2014/main" id="{52FAC673-7E27-4052-95B2-22D21CAFBEF0}"/>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M01  ·  In the Workplace</a:t>
            </a:r>
          </a:p>
        </p:txBody>
      </p:sp>
      <p:sp>
        <p:nvSpPr>
          <p:cNvPr id="26" name="footer-number-7">
            <a:extLst xmlns:a="http://schemas.openxmlformats.org/drawingml/2006/main">
              <a:ext uri="{FF2B5EF4-FFF2-40B4-BE49-F238E27FC236}">
                <a16:creationId xmlns:a16="http://schemas.microsoft.com/office/drawing/2014/main" id="{810DABC2-5EE1-4B7F-99A9-E32D648095D9}"/>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07</a:t>
            </a:r>
          </a:p>
        </p:txBody>
      </p:sp>
    </p:spTree>
    <p:extLst>
      <p:ext uri="{BB962C8B-B14F-4D97-AF65-F5344CB8AC3E}">
        <p14:creationId xmlns:p14="http://schemas.microsoft.com/office/powerpoint/2010/main" val="1683188465"/>
      </p:ext>
    </p:extLst>
  </p:cSld>
</p:sld>
</file>

<file path=ppt/slides/slide8.xml><?xml version="1.0" encoding="utf-8"?>
<p:sld xmlns:p="http://schemas.openxmlformats.org/presentationml/2006/main">
  <p:cSld>
    <p:bg>
      <p:bgPr>
        <a:solidFill xmlns:a="http://schemas.openxmlformats.org/drawingml/2006/main">
          <a:srgbClr val="1F5141"/>
        </a:solidFill>
      </p:bgPr>
    </p:bg>
    <p:spTree>
      <p:nvGrpSpPr>
        <p:cNvPr id="1" name=""/>
        <p:cNvGrpSpPr/>
        <p:nvPr/>
      </p:nvGrpSpPr>
      <p:grpSpPr>
        <a:xfrm xmlns:a="http://schemas.openxmlformats.org/drawingml/2006/main"/>
      </p:grpSpPr>
      <p:sp>
        <p:nvSpPr>
          <p:cNvPr id="18" name="module-label-8">
            <a:extLst xmlns:a="http://schemas.openxmlformats.org/drawingml/2006/main">
              <a:ext uri="{FF2B5EF4-FFF2-40B4-BE49-F238E27FC236}">
                <a16:creationId xmlns:a16="http://schemas.microsoft.com/office/drawing/2014/main" id="{E9C4EAED-FC8C-4BDA-9AAA-0440A5CAD422}"/>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11  ·  M01</a:t>
            </a:r>
          </a:p>
        </p:txBody>
      </p:sp>
      <p:sp>
        <p:nvSpPr>
          <p:cNvPr id="2" name="slide-title-8">
            <a:extLst xmlns:a="http://schemas.openxmlformats.org/drawingml/2006/main">
              <a:ext uri="{FF2B5EF4-FFF2-40B4-BE49-F238E27FC236}">
                <a16:creationId xmlns:a16="http://schemas.microsoft.com/office/drawing/2014/main" id="{F3538D09-229D-4394-890F-F5B965A52B7B}"/>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Leave with evidence and one useful next step</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9001eb30a224fe2"/>
          <a:srcRect xmlns:a="http://schemas.openxmlformats.org/drawingml/2006/main" l="0" t="1263" r="0" b="1263"/>
          <a:stretch xmlns:a="http://schemas.openxmlformats.org/drawingml/2006/main">
            <a:fillRect l="0" t="0" r="0" b="0"/>
          </a:stretch>
        </p:blipFill>
        <p:spPr>
          <a:xfrm xmlns:a="http://schemas.openxmlformats.org/drawingml/2006/main">
            <a:off x="7734300" y="1333500"/>
            <a:ext cx="3771900" cy="3676650"/>
          </a:xfrm>
          <a:prstGeom xmlns:a="http://schemas.openxmlformats.org/drawingml/2006/main" prst="roundRect">
            <a:avLst>
              <a:gd name="adj" fmla="val 5699"/>
            </a:avLst>
          </a:prstGeom>
        </p:spPr>
      </p:pic>
      <p:sp>
        <p:nvSpPr>
          <p:cNvPr id="4" name="close-number-1">
            <a:extLst xmlns:a="http://schemas.openxmlformats.org/drawingml/2006/main">
              <a:ext uri="{FF2B5EF4-FFF2-40B4-BE49-F238E27FC236}">
                <a16:creationId xmlns:a16="http://schemas.microsoft.com/office/drawing/2014/main" id="{50C0D329-A502-45BE-9FE5-162BD7B740DF}"/>
              </a:ext>
            </a:extLst>
          </p:cNvPr>
          <p:cNvSpPr>
            <a:spLocks xmlns:a="http://schemas.openxmlformats.org/drawingml/2006/main" noGrp="1"/>
          </p:cNvSpPr>
          <p:nvPr/>
        </p:nvSpPr>
        <p:spPr>
          <a:xfrm xmlns:a="http://schemas.openxmlformats.org/drawingml/2006/main">
            <a:off x="685800" y="14859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01</a:t>
            </a:r>
          </a:p>
        </p:txBody>
      </p:sp>
      <p:sp>
        <p:nvSpPr>
          <p:cNvPr id="5" name="close-label-1">
            <a:extLst xmlns:a="http://schemas.openxmlformats.org/drawingml/2006/main">
              <a:ext uri="{FF2B5EF4-FFF2-40B4-BE49-F238E27FC236}">
                <a16:creationId xmlns:a16="http://schemas.microsoft.com/office/drawing/2014/main" id="{F064E12E-BC42-429A-A239-D09F1F50F290}"/>
              </a:ext>
            </a:extLst>
          </p:cNvPr>
          <p:cNvSpPr>
            <a:spLocks xmlns:a="http://schemas.openxmlformats.org/drawingml/2006/main" noGrp="1"/>
          </p:cNvSpPr>
          <p:nvPr/>
        </p:nvSpPr>
        <p:spPr>
          <a:xfrm xmlns:a="http://schemas.openxmlformats.org/drawingml/2006/main">
            <a:off x="1638300" y="15049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RECALL</a:t>
            </a:r>
          </a:p>
        </p:txBody>
      </p:sp>
      <p:sp>
        <p:nvSpPr>
          <p:cNvPr id="6" name="close-body-1">
            <a:extLst xmlns:a="http://schemas.openxmlformats.org/drawingml/2006/main">
              <a:ext uri="{FF2B5EF4-FFF2-40B4-BE49-F238E27FC236}">
                <a16:creationId xmlns:a16="http://schemas.microsoft.com/office/drawing/2014/main" id="{A9053FA4-21FD-4BA5-A1AD-3417963F5A17}"/>
              </a:ext>
            </a:extLst>
          </p:cNvPr>
          <p:cNvSpPr>
            <a:spLocks xmlns:a="http://schemas.openxmlformats.org/drawingml/2006/main" noGrp="1"/>
          </p:cNvSpPr>
          <p:nvPr/>
        </p:nvSpPr>
        <p:spPr>
          <a:xfrm xmlns:a="http://schemas.openxmlformats.org/drawingml/2006/main">
            <a:off x="1638300" y="18859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Name one idea you can now explain accurately.</a:t>
            </a:r>
          </a:p>
        </p:txBody>
      </p:sp>
      <p:sp>
        <p:nvSpPr>
          <p:cNvPr id="7" name="close-number-2">
            <a:extLst xmlns:a="http://schemas.openxmlformats.org/drawingml/2006/main">
              <a:ext uri="{FF2B5EF4-FFF2-40B4-BE49-F238E27FC236}">
                <a16:creationId xmlns:a16="http://schemas.microsoft.com/office/drawing/2014/main" id="{7A8688A8-48BC-4007-9222-9967B04BD195}"/>
              </a:ext>
            </a:extLst>
          </p:cNvPr>
          <p:cNvSpPr>
            <a:spLocks xmlns:a="http://schemas.openxmlformats.org/drawingml/2006/main" noGrp="1"/>
          </p:cNvSpPr>
          <p:nvPr/>
        </p:nvSpPr>
        <p:spPr>
          <a:xfrm xmlns:a="http://schemas.openxmlformats.org/drawingml/2006/main">
            <a:off x="685800" y="27051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02</a:t>
            </a:r>
          </a:p>
        </p:txBody>
      </p:sp>
      <p:sp>
        <p:nvSpPr>
          <p:cNvPr id="8" name="close-label-2">
            <a:extLst xmlns:a="http://schemas.openxmlformats.org/drawingml/2006/main">
              <a:ext uri="{FF2B5EF4-FFF2-40B4-BE49-F238E27FC236}">
                <a16:creationId xmlns:a16="http://schemas.microsoft.com/office/drawing/2014/main" id="{B803BE68-6FFF-47D0-8D38-A6A1970EB159}"/>
              </a:ext>
            </a:extLst>
          </p:cNvPr>
          <p:cNvSpPr>
            <a:spLocks xmlns:a="http://schemas.openxmlformats.org/drawingml/2006/main" noGrp="1"/>
          </p:cNvSpPr>
          <p:nvPr/>
        </p:nvSpPr>
        <p:spPr>
          <a:xfrm xmlns:a="http://schemas.openxmlformats.org/drawingml/2006/main">
            <a:off x="1638300" y="27241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EVIDENCE</a:t>
            </a:r>
          </a:p>
        </p:txBody>
      </p:sp>
      <p:sp>
        <p:nvSpPr>
          <p:cNvPr id="9" name="close-body-2">
            <a:extLst xmlns:a="http://schemas.openxmlformats.org/drawingml/2006/main">
              <a:ext uri="{FF2B5EF4-FFF2-40B4-BE49-F238E27FC236}">
                <a16:creationId xmlns:a16="http://schemas.microsoft.com/office/drawing/2014/main" id="{6BB9341B-3DB3-4C8A-A527-43752E066321}"/>
              </a:ext>
            </a:extLst>
          </p:cNvPr>
          <p:cNvSpPr>
            <a:spLocks xmlns:a="http://schemas.openxmlformats.org/drawingml/2006/main" noGrp="1"/>
          </p:cNvSpPr>
          <p:nvPr/>
        </p:nvSpPr>
        <p:spPr>
          <a:xfrm xmlns:a="http://schemas.openxmlformats.org/drawingml/2006/main">
            <a:off x="1638300" y="31051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Record the detail that makes your explanation convincing.</a:t>
            </a:r>
          </a:p>
        </p:txBody>
      </p:sp>
      <p:sp>
        <p:nvSpPr>
          <p:cNvPr id="10" name="close-number-3">
            <a:extLst xmlns:a="http://schemas.openxmlformats.org/drawingml/2006/main">
              <a:ext uri="{FF2B5EF4-FFF2-40B4-BE49-F238E27FC236}">
                <a16:creationId xmlns:a16="http://schemas.microsoft.com/office/drawing/2014/main" id="{FD637E83-3E6F-4760-9E82-D0C76882768E}"/>
              </a:ext>
            </a:extLst>
          </p:cNvPr>
          <p:cNvSpPr>
            <a:spLocks xmlns:a="http://schemas.openxmlformats.org/drawingml/2006/main" noGrp="1"/>
          </p:cNvSpPr>
          <p:nvPr/>
        </p:nvSpPr>
        <p:spPr>
          <a:xfrm xmlns:a="http://schemas.openxmlformats.org/drawingml/2006/main">
            <a:off x="685800" y="39243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03</a:t>
            </a:r>
          </a:p>
        </p:txBody>
      </p:sp>
      <p:sp>
        <p:nvSpPr>
          <p:cNvPr id="11" name="close-label-3">
            <a:extLst xmlns:a="http://schemas.openxmlformats.org/drawingml/2006/main">
              <a:ext uri="{FF2B5EF4-FFF2-40B4-BE49-F238E27FC236}">
                <a16:creationId xmlns:a16="http://schemas.microsoft.com/office/drawing/2014/main" id="{A1F9C13E-3233-43FB-B978-CAA12ACFFAE7}"/>
              </a:ext>
            </a:extLst>
          </p:cNvPr>
          <p:cNvSpPr>
            <a:spLocks xmlns:a="http://schemas.openxmlformats.org/drawingml/2006/main" noGrp="1"/>
          </p:cNvSpPr>
          <p:nvPr/>
        </p:nvSpPr>
        <p:spPr>
          <a:xfrm xmlns:a="http://schemas.openxmlformats.org/drawingml/2006/main">
            <a:off x="1638300" y="39433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NEXT</a:t>
            </a:r>
          </a:p>
        </p:txBody>
      </p:sp>
      <p:sp>
        <p:nvSpPr>
          <p:cNvPr id="12" name="close-body-3">
            <a:extLst xmlns:a="http://schemas.openxmlformats.org/drawingml/2006/main">
              <a:ext uri="{FF2B5EF4-FFF2-40B4-BE49-F238E27FC236}">
                <a16:creationId xmlns:a16="http://schemas.microsoft.com/office/drawing/2014/main" id="{40E4B6CF-A72D-4B6C-9AEC-4C7BB5BEE383}"/>
              </a:ext>
            </a:extLst>
          </p:cNvPr>
          <p:cNvSpPr>
            <a:spLocks xmlns:a="http://schemas.openxmlformats.org/drawingml/2006/main" noGrp="1"/>
          </p:cNvSpPr>
          <p:nvPr/>
        </p:nvSpPr>
        <p:spPr>
          <a:xfrm xmlns:a="http://schemas.openxmlformats.org/drawingml/2006/main">
            <a:off x="1638300" y="43243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Save the slide 7 response, then note one question about workplace culture, performance and change.</a:t>
            </a:r>
          </a:p>
        </p:txBody>
      </p:sp>
      <p:sp>
        <p:nvSpPr>
          <p:cNvPr id="13" name="close-boundary">
            <a:extLst xmlns:a="http://schemas.openxmlformats.org/drawingml/2006/main">
              <a:ext uri="{FF2B5EF4-FFF2-40B4-BE49-F238E27FC236}">
                <a16:creationId xmlns:a16="http://schemas.microsoft.com/office/drawing/2014/main" id="{FAF7901B-7B79-4F99-8931-059CDDDD5DA1}"/>
              </a:ext>
            </a:extLst>
          </p:cNvPr>
          <p:cNvSpPr>
            <a:spLocks xmlns:a="http://schemas.openxmlformats.org/drawingml/2006/main" noGrp="1"/>
          </p:cNvSpPr>
          <p:nvPr/>
        </p:nvSpPr>
        <p:spPr>
          <a:xfrm xmlns:a="http://schemas.openxmlformats.org/drawingml/2006/main">
            <a:off x="685800" y="5257800"/>
            <a:ext cx="10820400" cy="876300"/>
          </a:xfrm>
          <a:prstGeom xmlns:a="http://schemas.openxmlformats.org/drawingml/2006/main" prst="roundRect">
            <a:avLst>
              <a:gd name="adj" fmla="val 15217"/>
            </a:avLst>
          </a:prstGeom>
          <a:solidFill xmlns:a="http://schemas.openxmlformats.org/drawingml/2006/main">
            <a:srgbClr val="FFFDF8"/>
          </a:solidFill>
          <a:ln xmlns:a="http://schemas.openxmlformats.org/drawingml/2006/main" w="0">
            <a:noFill/>
            <a:prstDash val="solid"/>
          </a:ln>
        </p:spPr>
      </p:sp>
      <p:sp>
        <p:nvSpPr>
          <p:cNvPr id="14" name="close-boundary-text">
            <a:extLst xmlns:a="http://schemas.openxmlformats.org/drawingml/2006/main">
              <a:ext uri="{FF2B5EF4-FFF2-40B4-BE49-F238E27FC236}">
                <a16:creationId xmlns:a16="http://schemas.microsoft.com/office/drawing/2014/main" id="{6D4CF9DC-B939-40D0-A306-A4F7FF2B93C6}"/>
              </a:ext>
            </a:extLst>
          </p:cNvPr>
          <p:cNvSpPr>
            <a:spLocks xmlns:a="http://schemas.openxmlformats.org/drawingml/2006/main" noGrp="1"/>
          </p:cNvSpPr>
          <p:nvPr/>
        </p:nvSpPr>
        <p:spPr>
          <a:xfrm xmlns:a="http://schemas.openxmlformats.org/drawingml/2006/main">
            <a:off x="990600" y="5495925"/>
            <a:ext cx="1021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575" b="1">
                <a:solidFill>
                  <a:srgbClr val="0B2637"/>
                </a:solidFill>
                <a:latin typeface="Aptos"/>
                <a:ea typeface="Aptos"/>
                <a:cs typeface="Aptos"/>
              </a:defRPr>
            </a:pPr>
            <a:r>
              <a:rPr sz="1575" b="1">
                <a:solidFill>
                  <a:srgbClr val="0B2637"/>
                </a:solidFill>
                <a:latin typeface="Aptos"/>
                <a:ea typeface="Aptos"/>
                <a:cs typeface="Aptos"/>
              </a:rPr>
              <a:t>Save this as formative learning evidence. It is not an assessment submission. Follow the current teacher notice for any formal task.</a:t>
            </a:r>
          </a:p>
        </p:txBody>
      </p:sp>
      <p:sp>
        <p:nvSpPr>
          <p:cNvPr id="15" name="footer-rule-8">
            <a:extLst xmlns:a="http://schemas.openxmlformats.org/drawingml/2006/main">
              <a:ext uri="{FF2B5EF4-FFF2-40B4-BE49-F238E27FC236}">
                <a16:creationId xmlns:a16="http://schemas.microsoft.com/office/drawing/2014/main" id="{D934E89C-EAAC-4EAF-BC51-027F6CE854F4}"/>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6" name="footer-module-8">
            <a:extLst xmlns:a="http://schemas.openxmlformats.org/drawingml/2006/main">
              <a:ext uri="{FF2B5EF4-FFF2-40B4-BE49-F238E27FC236}">
                <a16:creationId xmlns:a16="http://schemas.microsoft.com/office/drawing/2014/main" id="{EEF71BA6-6CDD-4F21-93A3-9CE8C4FE2365}"/>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M01  ·  In the Workplace</a:t>
            </a:r>
          </a:p>
        </p:txBody>
      </p:sp>
      <p:sp>
        <p:nvSpPr>
          <p:cNvPr id="17" name="footer-number-8">
            <a:extLst xmlns:a="http://schemas.openxmlformats.org/drawingml/2006/main">
              <a:ext uri="{FF2B5EF4-FFF2-40B4-BE49-F238E27FC236}">
                <a16:creationId xmlns:a16="http://schemas.microsoft.com/office/drawing/2014/main" id="{3B81B4D6-7C06-4F72-A2A1-A8EA4A72C2C7}"/>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08</a:t>
            </a:r>
          </a:p>
        </p:txBody>
      </p:sp>
    </p:spTree>
    <p:extLst>
      <p:ext uri="{BB962C8B-B14F-4D97-AF65-F5344CB8AC3E}">
        <p14:creationId xmlns:p14="http://schemas.microsoft.com/office/powerpoint/2010/main" val="134783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2026-08-31T09:25:26.1740000Z</dcterms:created>
  <dcterms:modified xsi:type="dcterms:W3CDTF">2026-08-31T09:25:26.1740000Z</dcterms:modified>
</coreProperties>
</file>