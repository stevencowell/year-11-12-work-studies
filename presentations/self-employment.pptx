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eeea2d30ec475d" /><Relationship Type="http://schemas.openxmlformats.org/officeDocument/2006/relationships/extended-properties" Target="/docProps/app.xml" Id="Rea11efb7c23e4b81" /><Relationship Type="http://schemas.openxmlformats.org/officeDocument/2006/relationships/officeDocument" Target="/ppt/presentation.xml" Id="R12290b2935ab4673" /></Relationships>
</file>

<file path=ppt/presentation.xml><?xml version="1.0" encoding="utf-8"?>
<p:presentation xmlns:p="http://schemas.openxmlformats.org/presentationml/2006/main">
  <p:sldMasterIdLst>
    <p:sldMasterId xmlns:r="http://schemas.openxmlformats.org/officeDocument/2006/relationships" id="2147483648" r:id="Rfc4e48235e914e7f"/>
  </p:sldMasterIdLst>
  <p:notesMasterIdLst>
    <p:notesMasterId xmlns:r="http://schemas.openxmlformats.org/officeDocument/2006/relationships" r:id="Reacc564e9a944996"/>
  </p:notesMasterIdLst>
  <p:sldIdLst>
    <p:sldId xmlns:r="http://schemas.openxmlformats.org/officeDocument/2006/relationships" id="256" r:id="R945bc19760734c71"/>
    <p:sldId xmlns:r="http://schemas.openxmlformats.org/officeDocument/2006/relationships" id="257" r:id="R6c6a039ecbf84006"/>
    <p:sldId xmlns:r="http://schemas.openxmlformats.org/officeDocument/2006/relationships" id="258" r:id="R5c74771f2bea4aa6"/>
    <p:sldId xmlns:r="http://schemas.openxmlformats.org/officeDocument/2006/relationships" id="259" r:id="R2daede41e3bd489b"/>
    <p:sldId xmlns:r="http://schemas.openxmlformats.org/officeDocument/2006/relationships" id="260" r:id="R4bc633dba97843e4"/>
    <p:sldId xmlns:r="http://schemas.openxmlformats.org/officeDocument/2006/relationships" id="261" r:id="R5bbe2191d0114de3"/>
    <p:sldId xmlns:r="http://schemas.openxmlformats.org/officeDocument/2006/relationships" id="262" r:id="R1f456c7ca0d3491c"/>
    <p:sldId xmlns:r="http://schemas.openxmlformats.org/officeDocument/2006/relationships" id="263" r:id="R60d5cd31dc9945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39826551134608" /><Relationship Type="http://schemas.openxmlformats.org/officeDocument/2006/relationships/slideMaster" Target="/ppt/slideMasters/slideMaster1.xml" Id="Rfc4e48235e914e7f" /><Relationship Type="http://schemas.openxmlformats.org/officeDocument/2006/relationships/notesMaster" Target="/ppt/notesMasters/notesMaster1.xml" Id="Reacc564e9a944996" /><Relationship Type="http://schemas.openxmlformats.org/officeDocument/2006/relationships/presProps" Target="/ppt/presProps.xml" Id="R5f0f4abfd3da48e8" /><Relationship Type="http://schemas.openxmlformats.org/officeDocument/2006/relationships/tableStyles" Target="/ppt/tableStyles.xml" Id="R27a644920b2b46a7" /><Relationship Type="http://schemas.openxmlformats.org/officeDocument/2006/relationships/slide" Target="/ppt/slides/slide1.xml" Id="R945bc19760734c71" /><Relationship Type="http://schemas.openxmlformats.org/officeDocument/2006/relationships/slide" Target="/ppt/slides/slide2.xml" Id="R6c6a039ecbf84006" /><Relationship Type="http://schemas.openxmlformats.org/officeDocument/2006/relationships/slide" Target="/ppt/slides/slide3.xml" Id="R5c74771f2bea4aa6" /><Relationship Type="http://schemas.openxmlformats.org/officeDocument/2006/relationships/slide" Target="/ppt/slides/slide4.xml" Id="R2daede41e3bd489b" /><Relationship Type="http://schemas.openxmlformats.org/officeDocument/2006/relationships/slide" Target="/ppt/slides/slide5.xml" Id="R4bc633dba97843e4" /><Relationship Type="http://schemas.openxmlformats.org/officeDocument/2006/relationships/slide" Target="/ppt/slides/slide6.xml" Id="R5bbe2191d0114de3" /><Relationship Type="http://schemas.openxmlformats.org/officeDocument/2006/relationships/slide" Target="/ppt/slides/slide7.xml" Id="R1f456c7ca0d3491c" /><Relationship Type="http://schemas.openxmlformats.org/officeDocument/2006/relationships/slide" Target="/ppt/slides/slide8.xml" Id="R60d5cd31dc9945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9a39511d7340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3236af83d64472" /><Relationship Type="http://schemas.openxmlformats.org/officeDocument/2006/relationships/notesMaster" Target="/ppt/notesMasters/notesMaster1.xml" Id="R778a6ead0ca542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5cf5b7b1204eea" /><Relationship Type="http://schemas.openxmlformats.org/officeDocument/2006/relationships/notesMaster" Target="/ppt/notesMasters/notesMaster1.xml" Id="R8162ee540a8448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6ba4ef5b7a4083" /><Relationship Type="http://schemas.openxmlformats.org/officeDocument/2006/relationships/notesMaster" Target="/ppt/notesMasters/notesMaster1.xml" Id="R81d877bac34749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cc059bb2234dc5" /><Relationship Type="http://schemas.openxmlformats.org/officeDocument/2006/relationships/notesMaster" Target="/ppt/notesMasters/notesMaster1.xml" Id="R4231ce4ec1c741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f24b3b7e5b427e" /><Relationship Type="http://schemas.openxmlformats.org/officeDocument/2006/relationships/notesMaster" Target="/ppt/notesMasters/notesMaster1.xml" Id="R4e20cd2abcb84f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d4181595994a6a" /><Relationship Type="http://schemas.openxmlformats.org/officeDocument/2006/relationships/notesMaster" Target="/ppt/notesMasters/notesMaster1.xml" Id="R12c73414ba214b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49710cd08346eb" /><Relationship Type="http://schemas.openxmlformats.org/officeDocument/2006/relationships/notesMaster" Target="/ppt/notesMasters/notesMaster1.xml" Id="Radcc30930eef47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75ab9816f64483" /><Relationship Type="http://schemas.openxmlformats.org/officeDocument/2006/relationships/notesMaster" Target="/ppt/notesMasters/notesMaster1.xml" Id="Rcfe26bee309a4b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Establish the purpose of Self-Employment.</a:t>
            </a:r>
          </a:p>
          <a:p xmlns:a="http://schemas.openxmlformats.org/drawingml/2006/main">
            <a:r>
              <a:t/>
            </a:r>
          </a:p>
          <a:p xmlns:a="http://schemas.openxmlformats.org/drawingml/2006/main">
            <a:r>
              <a:t>Talking points</a:t>
            </a:r>
          </a:p>
          <a:p xmlns:a="http://schemas.openxmlformats.org/drawingml/2006/main">
            <a:r>
              <a:t>- Test a useful idea, understand obligations and plan a small enterprise.</a:t>
            </a:r>
          </a:p>
          <a:p xmlns:a="http://schemas.openxmlformats.org/drawingml/2006/main">
            <a:r>
              <a:t>- Name the three learning areas without teaching them yet: From strengths and needs to a viable idea; Business models, obligations and risk; Planning, communicating and reviewing a micro-enterprise.</a:t>
            </a:r>
          </a:p>
          <a:p xmlns:a="http://schemas.openxmlformats.org/drawingml/2006/main">
            <a:r>
              <a:t>- This deck supports learning and formative evidence. It does not replace current teacher directions or assessment notices.</a:t>
            </a:r>
          </a:p>
          <a:p xmlns:a="http://schemas.openxmlformats.org/drawingml/2006/main">
            <a:r>
              <a:t>- Visual notice: Notice how each path leads to a different work context. What would you need to learn about yourself and the setting before choosing?</a:t>
            </a:r>
          </a:p>
          <a:p xmlns:a="http://schemas.openxmlformats.org/drawingml/2006/main">
            <a:r>
              <a:t/>
            </a:r>
          </a:p>
          <a:p xmlns:a="http://schemas.openxmlformats.org/drawingml/2006/main">
            <a:r>
              <a:t>Prompt: Ask students where the module could affect a real decision, then collect two or three examples.</a:t>
            </a:r>
          </a:p>
          <a:p xmlns:a="http://schemas.openxmlformats.org/drawingml/2006/main">
            <a:r>
              <a:t/>
            </a:r>
          </a:p>
          <a:p xmlns:a="http://schemas.openxmlformats.org/drawingml/2006/main">
            <a:r>
              <a:t>Transition: Move from the purpose to the three-part learning map.</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8 -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Australian Government business structures: https://business.gov.au/planning/business-structures-and-types/business-structures/choose-your-business-structure</a:t>
            </a:r>
          </a:p>
          <a:p xmlns:a="http://schemas.openxmlformats.org/drawingml/2006/main">
            <a:r>
              <a:t>- Australian Government starting a business guide: https://business.gov.au/Guide/Starting</a:t>
            </a:r>
          </a:p>
          <a:p xmlns:a="http://schemas.openxmlformats.org/drawingml/2006/main">
            <a:r>
              <a:t>- Visual: specialists/visuals/web-ready/course-orientation.webp | original AI-generated raster | SHA-256 60539a909cbb5bb58ab0a9b03d8b22631666fa97c9f417ed06dcdd419d8c5605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Preview the three named sections as a connected learning sequence.</a:t>
            </a:r>
          </a:p>
          <a:p xmlns:a="http://schemas.openxmlformats.org/drawingml/2006/main">
            <a:r>
              <a:t/>
            </a:r>
          </a:p>
          <a:p xmlns:a="http://schemas.openxmlformats.org/drawingml/2006/main">
            <a:r>
              <a:t>Talking points</a:t>
            </a:r>
          </a:p>
          <a:p xmlns:a="http://schemas.openxmlformats.org/drawingml/2006/main">
            <a:r>
              <a:t>- 1. From strengths and needs to a viable idea: Develop a self-employment idea by connecting personal capabilities with evidence of a customer or community need.</a:t>
            </a:r>
          </a:p>
          <a:p xmlns:a="http://schemas.openxmlformats.org/drawingml/2006/main">
            <a:r>
              <a:t>- 2. Business models, obligations and risk: Compare ways of organising self-employment and identify the obligations and risks that must be verified before operating.</a:t>
            </a:r>
          </a:p>
          <a:p xmlns:a="http://schemas.openxmlformats.org/drawingml/2006/main">
            <a:r>
              <a:t>- 3. Planning, communicating and reviewing a micro-enterprise: Build and review an evidence-based micro-enterprise plan that connects operations, finance, customers and ethical communication.</a:t>
            </a:r>
          </a:p>
          <a:p xmlns:a="http://schemas.openxmlformats.org/drawingml/2006/main">
            <a:r>
              <a:t/>
            </a:r>
          </a:p>
          <a:p xmlns:a="http://schemas.openxmlformats.org/drawingml/2006/main">
            <a:r>
              <a:t>Prompt: Ask students to predict which section will be most useful in the next year and explain why.</a:t>
            </a:r>
          </a:p>
          <a:p xmlns:a="http://schemas.openxmlformats.org/drawingml/2006/main">
            <a:r>
              <a:t/>
            </a:r>
          </a:p>
          <a:p xmlns:a="http://schemas.openxmlformats.org/drawingml/2006/main">
            <a:r>
              <a:t>Transition: Begin with From strengths and needs to a viable idea.</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8 -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Australian Government business structures: https://business.gov.au/planning/business-structures-and-types/business-structures/choose-your-business-structure</a:t>
            </a:r>
          </a:p>
          <a:p xmlns:a="http://schemas.openxmlformats.org/drawingml/2006/main">
            <a:r>
              <a:t>- Australian Government starting a business guide: https://business.gov.au/Guide/Starting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Develop a self-employment idea by connecting personal capabilities with evidence of a customer or community need.</a:t>
            </a:r>
          </a:p>
          <a:p xmlns:a="http://schemas.openxmlformats.org/drawingml/2006/main">
            <a:r>
              <a:t/>
            </a:r>
          </a:p>
          <a:p xmlns:a="http://schemas.openxmlformats.org/drawingml/2006/main">
            <a:r>
              <a:t>Talking points</a:t>
            </a:r>
          </a:p>
          <a:p xmlns:a="http://schemas.openxmlformats.org/drawingml/2006/main">
            <a:r>
              <a:t>- Self-employment involves creating and managing work rather than receiving every task, system and customer from an employer. The official module links it to personal attributes, management skills and possible forms of business activity. Useful capabilities can include initiative, communication, persistence, organisation, problem-solving and willingness to learn. These qualities do not guarantee success, and a person does not need to fit an entrepreneurial stereotype. Capabilities can be developed, combined with other people's expertise and matched to a manageable scale.</a:t>
            </a:r>
          </a:p>
          <a:p xmlns:a="http://schemas.openxmlformats.org/drawingml/2006/main">
            <a:r>
              <a:t>- A viable idea begins with a clearly described need. A customer group may need a task completed, a problem reduced, an experience improved or access made easier. A value proposition explains who the idea serves, what useful outcome it creates and why the proposed approach is different or credible. Evidence can come from ethical observation, de-identified interviews, competitor analysis, a small prototype or a test of willingness to engage. Praise from friends is encouraging but is not the same as evidence of demand.</a:t>
            </a:r>
          </a:p>
          <a:p xmlns:a="http://schemas.openxmlformats.org/drawingml/2006/main">
            <a:r>
              <a:t>- A feasibility study tests whether the idea can work with available time, skills, resources, cost, location and risk. It estimates demand and costs conservatively, identifies competitors and alternatives, and names assumptions that still require testing. Personal fit matters as well: a financially possible idea may be unsuitable if the hours, physical demands or customer contact conflict with the person's goals and commitments. Classroom work should remain hypothetical or teacher-approved; it does not authorise trading, collecting personal data or approaching businesses.</a:t>
            </a:r>
          </a:p>
          <a:p xmlns:a="http://schemas.openxmlformats.org/drawingml/2006/main">
            <a:r>
              <a:t>- Worked example — Testing a school-community repair idea: Eli enjoys maintaining bicycles and proposes a low-cost weekend safety-check service for local students. Friends say it is a great idea, but no demand or operating conditions have been confirmed. Eli defines the intended customer and the limited outcome of a basic check, then uses a teacher-approved anonymous survey and competitor scan to test need. He lists skills and resources he already has, gaps requiring supervision or training, time and cost assumptions, and safety and liability questions requiring current authoritative advice. The idea remains a feasibility study until the school approves any next step; positive comments alone do not authorise or prove a viable service.</a:t>
            </a:r>
          </a:p>
          <a:p xmlns:a="http://schemas.openxmlformats.org/drawingml/2006/main">
            <a:r>
              <a:t>- Visual caption: A useful micro-enterprise idea begins with a real problem and a practical response the owner can develop.</a:t>
            </a:r>
          </a:p>
          <a:p xmlns:a="http://schemas.openxmlformats.org/drawingml/2006/main">
            <a:r>
              <a:t>- Visual notice: Notice the bicycle-area problem and the organiser prototype. What would need testing before calling the idea viable?</a:t>
            </a:r>
          </a:p>
          <a:p xmlns:a="http://schemas.openxmlformats.org/drawingml/2006/main">
            <a:r>
              <a:t>- Applied evidence: Choose a fictional or teacher-approved community need. Define the target customer and value proposition, map capabilities and constraints, design one privacy-safe demand test, and state three assumptions that could disprove the idea. A feasibility canvas, prototype sketch and 180-word go, revise or stop recommendation.</a:t>
            </a:r>
          </a:p>
          <a:p xmlns:a="http://schemas.openxmlformats.org/drawingml/2006/main">
            <a:r>
              <a:t/>
            </a:r>
          </a:p>
          <a:p xmlns:a="http://schemas.openxmlformats.org/drawingml/2006/main">
            <a:r>
              <a:t>Prompt: Decide whether to proceed, revise or stop and justify why.</a:t>
            </a:r>
          </a:p>
          <a:p xmlns:a="http://schemas.openxmlformats.org/drawingml/2006/main">
            <a:r>
              <a:t/>
            </a:r>
          </a:p>
          <a:p xmlns:a="http://schemas.openxmlformats.org/drawingml/2006/main">
            <a:r>
              <a:t>Likely misconception or nuance</a:t>
            </a:r>
          </a:p>
          <a:p xmlns:a="http://schemas.openxmlformats.org/drawingml/2006/main">
            <a:r>
              <a:t>- A creative idea is viable as soon as people say they like it. Correction: Viability requires evidence about need, willingness to engage, costs, capability, competition, constraints and risk; positive reactions test only a small part of the idea.</a:t>
            </a:r>
          </a:p>
          <a:p xmlns:a="http://schemas.openxmlformats.org/drawingml/2006/main">
            <a:r>
              <a:t/>
            </a:r>
          </a:p>
          <a:p xmlns:a="http://schemas.openxmlformats.org/drawingml/2006/main">
            <a:r>
              <a:t>Transition: Move to Business models, obligations and risk.</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8 -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Australian Government business structures: https://business.gov.au/planning/business-structures-and-types/business-structures/choose-your-business-structure</a:t>
            </a:r>
          </a:p>
          <a:p xmlns:a="http://schemas.openxmlformats.org/drawingml/2006/main">
            <a:r>
              <a:t>- Australian Government starting a business guide: https://business.gov.au/Guide/Starting</a:t>
            </a:r>
          </a:p>
          <a:p xmlns:a="http://schemas.openxmlformats.org/drawingml/2006/main">
            <a:r>
              <a:t>- Visual: specialists/visuals/web-ready/m08-s01.webp | original AI-generated raster | SHA-256 cc105ac599d6db246fb6ac74e93b6f3311ded2f86ce993bd7062b74b5ed43b48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Compare ways of organising self-employment and identify the obligations and risks that must be verified before operating.</a:t>
            </a:r>
          </a:p>
          <a:p xmlns:a="http://schemas.openxmlformats.org/drawingml/2006/main">
            <a:r>
              <a:t/>
            </a:r>
          </a:p>
          <a:p xmlns:a="http://schemas.openxmlformats.org/drawingml/2006/main">
            <a:r>
              <a:t>Talking points</a:t>
            </a:r>
          </a:p>
          <a:p xmlns:a="http://schemas.openxmlformats.org/drawingml/2006/main">
            <a:r>
              <a:t>- A business model explains how an activity creates value, reaches customers, uses resources and receives revenue while meeting costs. A business structure is the legal and administrative form through which it operates. Australian Government guidance identifies common structures including sole trader, partnership, company and trust, while the local module also explores contracting and franchising as ways work may be organised. These categories are not interchangeable: they can differ in control, liability, ownership, tax, reporting and setup. No structure is automatically best for every idea.</a:t>
            </a:r>
          </a:p>
          <a:p xmlns:a="http://schemas.openxmlformats.org/drawingml/2006/main">
            <a:r>
              <a:t>- Operating responsibilities depend on the activity, location, structure and whether other people are engaged. Potential areas include registrations, licences, tax, records, consumer requirements, contracts, intellectual property, privacy, insurance, employment and work health and safety. The exact requirements must be checked through current Australian Government, state or territory, local and industry sources, with qualified advice where needed. A classroom comparison teaches decision criteria; it is not legal, tax or business advice and does not authorise an enterprise.</a:t>
            </a:r>
          </a:p>
          <a:p xmlns:a="http://schemas.openxmlformats.org/drawingml/2006/main">
            <a:r>
              <a:t>- Risk management starts by identifying what could prevent the objective or cause harm, then considering likelihood, consequence and existing controls. Responses may avoid, reduce, transfer or accept a risk, but controls can introduce cost or new risks. Financial risk includes cash-flow shortfalls and unexpected costs; operational risk includes supply or equipment failure; people risk includes capability and safety; reputational risk includes unmet promises. A residual risk remains after controls and should be monitored against a clear tolerance and review point.</a:t>
            </a:r>
          </a:p>
          <a:p xmlns:a="http://schemas.openxmlformats.org/drawingml/2006/main">
            <a:r>
              <a:t>- Worked example — Choosing a structure for a fictional design service: Two graduates want to offer small digital-design jobs. They are comparing operating separately, forming a partnership or investigating a company, but have not defined ownership, decision rights or risk. They compare who controls decisions, who owns work and equipment, how income and losses are treated, personal liability, setup and ongoing administration, and how disagreement or exit would be managed. They use current business.gov.au and ATO guidance and flag legal and accounting questions for qualified advice. The analysis may identify a provisional best fit, but it does not establish or register the business.</a:t>
            </a:r>
          </a:p>
          <a:p xmlns:a="http://schemas.openxmlformats.org/drawingml/2006/main">
            <a:r>
              <a:t>- Visual caption: A useful idea needs a workable system around it; delivery, resources, obligations and risk must connect.</a:t>
            </a:r>
          </a:p>
          <a:p xmlns:a="http://schemas.openxmlformats.org/drawingml/2006/main">
            <a:r>
              <a:t>- Visual notice: Notice the service map, customer item, payment device and risk tokens. Which connection would you test first?</a:t>
            </a:r>
          </a:p>
          <a:p xmlns:a="http://schemas.openxmlformats.org/drawingml/2006/main">
            <a:r>
              <a:t>- Applied evidence: For a fictional micro-enterprise, compare sole trader, partnership and company structures using control, responsibility, complexity, cost and risk. Build a five-category risk register and label each legal, tax or local requirement for current verification. A comparison matrix, risk register and conditional structure recommendation.</a:t>
            </a:r>
          </a:p>
          <a:p xmlns:a="http://schemas.openxmlformats.org/drawingml/2006/main">
            <a:r>
              <a:t/>
            </a:r>
          </a:p>
          <a:p xmlns:a="http://schemas.openxmlformats.org/drawingml/2006/main">
            <a:r>
              <a:t>Prompt: Identify what remains unknown and where current advice is required.</a:t>
            </a:r>
          </a:p>
          <a:p xmlns:a="http://schemas.openxmlformats.org/drawingml/2006/main">
            <a:r>
              <a:t/>
            </a:r>
          </a:p>
          <a:p xmlns:a="http://schemas.openxmlformats.org/drawingml/2006/main">
            <a:r>
              <a:t>Likely misconception or nuance</a:t>
            </a:r>
          </a:p>
          <a:p xmlns:a="http://schemas.openxmlformats.org/drawingml/2006/main">
            <a:r>
              <a:t>- Choosing a company structure removes every personal and business risk. Correction: A company is a separate legal entity, but obligations, director responsibilities, guarantees, operational failures and other risks can remain; current professional advice may be needed.</a:t>
            </a:r>
          </a:p>
          <a:p xmlns:a="http://schemas.openxmlformats.org/drawingml/2006/main">
            <a:r>
              <a:t/>
            </a:r>
          </a:p>
          <a:p xmlns:a="http://schemas.openxmlformats.org/drawingml/2006/main">
            <a:r>
              <a:t>Transition: Move to Planning, communicating and reviewing a micro-enterprise.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8 -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Australian Government business structures: https://business.gov.au/planning/business-structures-and-types/business-structures/choose-your-business-structure</a:t>
            </a:r>
          </a:p>
          <a:p xmlns:a="http://schemas.openxmlformats.org/drawingml/2006/main">
            <a:r>
              <a:t>- Australian Government starting a business guide: https://business.gov.au/Guide/Starting</a:t>
            </a:r>
          </a:p>
          <a:p xmlns:a="http://schemas.openxmlformats.org/drawingml/2006/main">
            <a:r>
              <a:t>- Visual: specialists/visuals/web-ready/m08-s02.webp | original AI-generated raster | SHA-256 517075fe85be5a4a1bac9a9bc76996ecf01aaa381d24d80383466abd4d0f6dd3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Build and review an evidence-based micro-enterprise plan that connects operations, finance, customers and ethical communication.</a:t>
            </a:r>
          </a:p>
          <a:p xmlns:a="http://schemas.openxmlformats.org/drawingml/2006/main">
            <a:r>
              <a:t/>
            </a:r>
          </a:p>
          <a:p xmlns:a="http://schemas.openxmlformats.org/drawingml/2006/main">
            <a:r>
              <a:t>Talking points</a:t>
            </a:r>
          </a:p>
          <a:p xmlns:a="http://schemas.openxmlformats.org/drawingml/2006/main">
            <a:r>
              <a:t>- A useful business plan is a decision tool, not a decorative promise. It connects the problem and value proposition with customer evidence, operations, resources, roles, timing, costs, revenue assumptions, risk and measures of progress. Assumptions should be visible so they can be tested. A sales forecast is not income already earned, and revenue is not profit: costs and timing affect whether an activity is financially sustainable. A small test can provide better evidence than a confident large forecast.</a:t>
            </a:r>
          </a:p>
          <a:p xmlns:a="http://schemas.openxmlformats.org/drawingml/2006/main">
            <a:r>
              <a:t>- Enterprise communication should be accurate, audience-appropriate and consistent with what can actually be delivered. A name, message, image and channel create expectations about the offer. Ethical marketing explains relevant benefits and conditions without fabricated testimonials, hidden costs or pressure that exploits a person's vulnerability. Accessibility, privacy and cultural respect affect who can understand and respond. Any use of a school identity, public platform, personal data or external customer contact requires explicit approval and confirmed conditions.</a:t>
            </a:r>
          </a:p>
          <a:p xmlns:a="http://schemas.openxmlformats.org/drawingml/2006/main">
            <a:r>
              <a:t>- Review compares planned indicators with actual evidence. Financial indicators might include revenue, direct cost or cash timing; customer indicators might include enquiries, repeat use or feedback; operational indicators might include time, quality and rework; personal indicators might include workload and wellbeing. A decision gate asks whether the evidence supports continuing, revising, pausing or stopping. Stopping a weak idea after a careful test is not failure—it protects resources and demonstrates enterprise judgement.</a:t>
            </a:r>
          </a:p>
          <a:p xmlns:a="http://schemas.openxmlformats.org/drawingml/2006/main">
            <a:r>
              <a:t>- Worked example — Reviewing a prototype tutoring offer: Sienna designs a fictional small-group study-skills service. Her plan assumes ten customers each week, but a teacher-approved expression-of-interest test produces three responses and strong requests for shorter sessions. Sienna separates projected revenue from actual evidence and recalculates time and cost at three customers. She reviews whether shorter sessions still deliver the promised value, changes the message and runs one bounded second test. She does not invent testimonials or launch publicly. The decision gate will compare demand, delivery quality, cost and workload before recommending revise, pause or stop.</a:t>
            </a:r>
          </a:p>
          <a:p xmlns:a="http://schemas.openxmlformats.org/drawingml/2006/main">
            <a:r>
              <a:t>- Visual caption: A plan becomes more credible when others can understand it, question it and influence the next version.</a:t>
            </a:r>
          </a:p>
          <a:p xmlns:a="http://schemas.openxmlformats.org/drawingml/2006/main">
            <a:r>
              <a:t>- Visual notice: Notice the prototype, visual plan and feedback cards. What evidence would justify changing the plan?</a:t>
            </a:r>
          </a:p>
          <a:p xmlns:a="http://schemas.openxmlformats.org/drawingml/2006/main">
            <a:r>
              <a:t>- Applied evidence: Build a hypothetical one-page plan, truthful customer message, simple forecast and decision dashboard for an approved idea. Apply one changed-demand scenario and recommend continue, revise, pause or stop. A privacy-safe plan, communication sample, forecast, indicator dashboard and review decision.</a:t>
            </a:r>
          </a:p>
          <a:p xmlns:a="http://schemas.openxmlformats.org/drawingml/2006/main">
            <a:r>
              <a:t/>
            </a:r>
          </a:p>
          <a:p xmlns:a="http://schemas.openxmlformats.org/drawingml/2006/main">
            <a:r>
              <a:t>Prompt: Choose continue, revise, pause or stop and defend the gate decision.</a:t>
            </a:r>
          </a:p>
          <a:p xmlns:a="http://schemas.openxmlformats.org/drawingml/2006/main">
            <a:r>
              <a:t/>
            </a:r>
          </a:p>
          <a:p xmlns:a="http://schemas.openxmlformats.org/drawingml/2006/main">
            <a:r>
              <a:t>Likely misconception or nuance</a:t>
            </a:r>
          </a:p>
          <a:p xmlns:a="http://schemas.openxmlformats.org/drawingml/2006/main">
            <a:r>
              <a:t>- A detailed business plan proves the enterprise will succeed. Correction: A plan organises assumptions and decisions; only testing, operation and review provide evidence about performance, and uncertainty always remains.</a:t>
            </a:r>
          </a:p>
          <a:p xmlns:a="http://schemas.openxmlformats.org/drawingml/2006/main">
            <a:r>
              <a:t/>
            </a:r>
          </a:p>
          <a:p xmlns:a="http://schemas.openxmlformats.org/drawingml/2006/main">
            <a:r>
              <a:t>Transition: Move from the three teaching sections into retrieval.</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8 -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Australian Government business structures: https://business.gov.au/planning/business-structures-and-types/business-structures/choose-your-business-structure</a:t>
            </a:r>
          </a:p>
          <a:p xmlns:a="http://schemas.openxmlformats.org/drawingml/2006/main">
            <a:r>
              <a:t>- Australian Government starting a business guide: https://business.gov.au/Guide/Starting</a:t>
            </a:r>
          </a:p>
          <a:p xmlns:a="http://schemas.openxmlformats.org/drawingml/2006/main">
            <a:r>
              <a:t>- Visual: specialists/visuals/web-ready/m08-s03.webp | original AI-generated raster | SHA-256 fdb66fb3eac323c07e43b7af19445650b2932ab3aed4951b9909991af4ddd05f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Retrieve and repair reasoning across all three sections.</a:t>
            </a:r>
          </a:p>
          <a:p xmlns:a="http://schemas.openxmlformats.org/drawingml/2006/main">
            <a:r>
              <a:t/>
            </a:r>
          </a:p>
          <a:p xmlns:a="http://schemas.openxmlformats.org/drawingml/2006/main">
            <a:r>
              <a:t>Talking points</a:t>
            </a:r>
          </a:p>
          <a:p xmlns:a="http://schemas.openxmlformats.org/drawingml/2006/main">
            <a:r>
              <a:t>- Give quiet recall time before opening the discussion.</a:t>
            </a:r>
          </a:p>
          <a:p xmlns:a="http://schemas.openxmlformats.org/drawingml/2006/main">
            <a:r>
              <a:t>- Check 1: It connects a defined customer with a useful outcome and a credible reason to choose the approach. Rationale: A value proposition links need, customer and distinctive value.</a:t>
            </a:r>
          </a:p>
          <a:p xmlns:a="http://schemas.openxmlformats.org/drawingml/2006/main">
            <a:r>
              <a:t>- Check 2: The model explains how value and revenue are created; the structure defines the legal and administrative form. Rationale: The two decisions interact but answer different questions.</a:t>
            </a:r>
          </a:p>
          <a:p xmlns:a="http://schemas.openxmlformats.org/drawingml/2006/main">
            <a:r>
              <a:t>- Check 3: Revenue is money received before relevant expenses; profit is what remains after them. Rationale: An enterprise can receive revenue while still failing to cover its costs.</a:t>
            </a:r>
          </a:p>
          <a:p xmlns:a="http://schemas.openxmlformats.org/drawingml/2006/main">
            <a:r>
              <a:t/>
            </a:r>
          </a:p>
          <a:p xmlns:a="http://schemas.openxmlformats.org/drawingml/2006/main">
            <a:r>
              <a:t>Prompt: Ask students to justify an answer before checking the matching theory section.</a:t>
            </a:r>
          </a:p>
          <a:p xmlns:a="http://schemas.openxmlformats.org/drawingml/2006/main">
            <a:r>
              <a:t/>
            </a:r>
          </a:p>
          <a:p xmlns:a="http://schemas.openxmlformats.org/drawingml/2006/main">
            <a:r>
              <a:t>Transition: Use the retrieved ideas to construct one sustained evidence response.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8 -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Australian Government business structures: https://business.gov.au/planning/business-structures-and-types/business-structures/choose-your-business-structure</a:t>
            </a:r>
          </a:p>
          <a:p xmlns:a="http://schemas.openxmlformats.org/drawingml/2006/main">
            <a:r>
              <a:t>- Australian Government starting a business guide: https://business.gov.au/Guide/Starting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Guide one higher-order response anchored in Planning, communicating and reviewing a micro-enterprise.</a:t>
            </a:r>
          </a:p>
          <a:p xmlns:a="http://schemas.openxmlformats.org/drawingml/2006/main">
            <a:r>
              <a:t/>
            </a:r>
          </a:p>
          <a:p xmlns:a="http://schemas.openxmlformats.org/drawingml/2006/main">
            <a:r>
              <a:t>Talking points</a:t>
            </a:r>
          </a:p>
          <a:p xmlns:a="http://schemas.openxmlformats.org/drawingml/2006/main">
            <a:r>
              <a:t>- Prompt: Evaluate a hypothetical micro-enterprise after its first bounded test and recommend whether it should continue, revise, pause or stop.</a:t>
            </a:r>
          </a:p>
          <a:p xmlns:a="http://schemas.openxmlformats.org/drawingml/2006/main">
            <a:r>
              <a:t>- Compare customer, financial, operational and personal evidence with the original assumptions.</a:t>
            </a:r>
          </a:p>
          <a:p xmlns:a="http://schemas.openxmlformats.org/drawingml/2006/main">
            <a:r>
              <a:t>- Assess whether the communication remained truthful, accessible and deliverable.</a:t>
            </a:r>
          </a:p>
          <a:p xmlns:a="http://schemas.openxmlformats.org/drawingml/2006/main">
            <a:r>
              <a:t>- Explain significant variances, risks and new information.</a:t>
            </a:r>
          </a:p>
          <a:p xmlns:a="http://schemas.openxmlformats.org/drawingml/2006/main">
            <a:r>
              <a:t>- Make and justify a gate decision with a next test or closure action.</a:t>
            </a:r>
          </a:p>
          <a:p xmlns:a="http://schemas.openxmlformats.org/drawingml/2006/main">
            <a:r>
              <a:t>- Success criteria: Separates forecast, revenue, cost and profit accurately.; Uses multiple indicators and acknowledges evidence limits.; Keeps external activity conditional on explicit approval and current requirements.</a:t>
            </a:r>
          </a:p>
          <a:p xmlns:a="http://schemas.openxmlformats.org/drawingml/2006/main">
            <a:r>
              <a:t>- Folio visual: A useful folio brings work samples, observations, records and reflection together so progress can be explained.</a:t>
            </a:r>
          </a:p>
          <a:p xmlns:a="http://schemas.openxmlformats.org/drawingml/2006/main">
            <a:r>
              <a:t/>
            </a:r>
          </a:p>
          <a:p xmlns:a="http://schemas.openxmlformats.org/drawingml/2006/main">
            <a:r>
              <a:t>Prompt: Ask students to state their judgement before selecting evidence, then test whether every claim is supported.</a:t>
            </a:r>
          </a:p>
          <a:p xmlns:a="http://schemas.openxmlformats.org/drawingml/2006/main">
            <a:r>
              <a:t/>
            </a:r>
          </a:p>
          <a:p xmlns:a="http://schemas.openxmlformats.org/drawingml/2006/main">
            <a:r>
              <a:t>Transition: Close with a three-part exit record and a clear evidence boundary.</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8 -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Australian Government business structures: https://business.gov.au/planning/business-structures-and-types/business-structures/choose-your-business-structure</a:t>
            </a:r>
          </a:p>
          <a:p xmlns:a="http://schemas.openxmlformats.org/drawingml/2006/main">
            <a:r>
              <a:t>- Australian Government starting a business guide: https://business.gov.au/Guide/Starting</a:t>
            </a:r>
          </a:p>
          <a:p xmlns:a="http://schemas.openxmlformats.org/drawingml/2006/main">
            <a:r>
              <a:t>- Visual: specialists/visuals/web-ready/folio-evidence.webp | original AI-generated raster | SHA-256 0d3e88f590077ba563b8f3dd06a0c2c9a2975bdd4b4a3b8294cdc877d6dd366d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 concrete learning record while keeping the assessment boundary explicit.</a:t>
            </a:r>
          </a:p>
          <a:p xmlns:a="http://schemas.openxmlformats.org/drawingml/2006/main">
            <a:r>
              <a:t/>
            </a:r>
          </a:p>
          <a:p xmlns:a="http://schemas.openxmlformats.org/drawingml/2006/main">
            <a:r>
              <a:t>Talking points</a:t>
            </a:r>
          </a:p>
          <a:p xmlns:a="http://schemas.openxmlformats.org/drawingml/2006/main">
            <a:r>
              <a:t>- Students complete all three exit prompts before discussion.</a:t>
            </a:r>
          </a:p>
          <a:p xmlns:a="http://schemas.openxmlformats.org/drawingml/2006/main">
            <a:r>
              <a:t>- The saved response is formative learning evidence, not a formal submission. The current Year 12 assessment schedule is Teacher to confirm.</a:t>
            </a:r>
          </a:p>
          <a:p xmlns:a="http://schemas.openxmlformats.org/drawingml/2006/main">
            <a:r>
              <a:t>- Assessment-orientation visual: The task brief sets the requirements; work evidence and reflection show how those requirements were addressed.</a:t>
            </a:r>
          </a:p>
          <a:p xmlns:a="http://schemas.openxmlformats.org/drawingml/2006/main">
            <a:r>
              <a:t/>
            </a:r>
          </a:p>
          <a:p xmlns:a="http://schemas.openxmlformats.org/drawingml/2006/main">
            <a:r>
              <a:t>Prompt: Notice the three sources being compared. What could each contribute to a fair explanation of achievement?</a:t>
            </a:r>
          </a:p>
          <a:p xmlns:a="http://schemas.openxmlformats.org/drawingml/2006/main">
            <a:r>
              <a:t/>
            </a:r>
          </a:p>
          <a:p xmlns:a="http://schemas.openxmlformats.org/drawingml/2006/main">
            <a:r>
              <a:t>Likely misconception or nuance</a:t>
            </a:r>
          </a:p>
          <a:p xmlns:a="http://schemas.openxmlformats.org/drawingml/2006/main">
            <a:r>
              <a:t>- Saving learning evidence does not automatically submit it for assessment or prove achievement.</a:t>
            </a:r>
          </a:p>
          <a:p xmlns:a="http://schemas.openxmlformats.org/drawingml/2006/main">
            <a:r>
              <a:t/>
            </a:r>
          </a:p>
          <a:p xmlns:a="http://schemas.openxmlformats.org/drawingml/2006/main">
            <a:r>
              <a:t>Transition: End with each student's stated next question or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8 -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Australian Government business structures: https://business.gov.au/planning/business-structures-and-types/business-structures/choose-your-business-structure</a:t>
            </a:r>
          </a:p>
          <a:p xmlns:a="http://schemas.openxmlformats.org/drawingml/2006/main">
            <a:r>
              <a:t>- Australian Government starting a business guide: https://business.gov.au/Guide/Starting</a:t>
            </a:r>
          </a:p>
          <a:p xmlns:a="http://schemas.openxmlformats.org/drawingml/2006/main">
            <a:r>
              <a:t>- Visual: specialists/visuals/web-ready/assessment-orientation.webp | original AI-generated raster | SHA-256 78b88ec22b90ac0135ac756df19012e62644e6174e0988f1df2848e74d2b2ce1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dad5daa7ea43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79fab7211e4c71" /><Relationship Type="http://schemas.openxmlformats.org/officeDocument/2006/relationships/slideLayout" Target="/ppt/slideLayouts/slideLayout1.xml" Id="Rfb0a7409fae846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0a7409fae846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1739513ce742aa" /><Relationship Type="http://schemas.openxmlformats.org/officeDocument/2006/relationships/image" Target="/ppt/media/image.bin" Id="Rce01d5baf0ba4b26" /><Relationship Type="http://schemas.openxmlformats.org/officeDocument/2006/relationships/notesSlide" Target="/ppt/notesSlides/notesSlide1.xml" Id="R327fa18386fe4a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2096370c80410d" /><Relationship Type="http://schemas.openxmlformats.org/officeDocument/2006/relationships/notesSlide" Target="/ppt/notesSlides/notesSlide2.xml" Id="R2fc797e5c54b4c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8974801b274d96" /><Relationship Type="http://schemas.openxmlformats.org/officeDocument/2006/relationships/image" Target="/ppt/media/image2.bin" Id="R9fa1587788f84f6a" /><Relationship Type="http://schemas.openxmlformats.org/officeDocument/2006/relationships/notesSlide" Target="/ppt/notesSlides/notesSlide3.xml" Id="Re81ac690127145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e6c59db161496c" /><Relationship Type="http://schemas.openxmlformats.org/officeDocument/2006/relationships/image" Target="/ppt/media/image3.bin" Id="Rb3ebbb8535d44b38" /><Relationship Type="http://schemas.openxmlformats.org/officeDocument/2006/relationships/notesSlide" Target="/ppt/notesSlides/notesSlide4.xml" Id="R8c10f038cfac42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7f395e92b34eac" /><Relationship Type="http://schemas.openxmlformats.org/officeDocument/2006/relationships/image" Target="/ppt/media/image4.bin" Id="R1acda03a675346a1" /><Relationship Type="http://schemas.openxmlformats.org/officeDocument/2006/relationships/notesSlide" Target="/ppt/notesSlides/notesSlide5.xml" Id="R4296d955a8d14b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72a59a3efc4deb" /><Relationship Type="http://schemas.openxmlformats.org/officeDocument/2006/relationships/notesSlide" Target="/ppt/notesSlides/notesSlide6.xml" Id="R49e6e125ddd34e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9b9f24f40f4d72" /><Relationship Type="http://schemas.openxmlformats.org/officeDocument/2006/relationships/image" Target="/ppt/media/image5.bin" Id="R3401e23ab6144c01" /><Relationship Type="http://schemas.openxmlformats.org/officeDocument/2006/relationships/notesSlide" Target="/ppt/notesSlides/notesSlide7.xml" Id="R1acc4045924048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91c464613f432f" /><Relationship Type="http://schemas.openxmlformats.org/officeDocument/2006/relationships/image" Target="/ppt/media/image6.bin" Id="R496ffdf0d3f443a8" /><Relationship Type="http://schemas.openxmlformats.org/officeDocument/2006/relationships/notesSlide" Target="/ppt/notesSlides/notesSlide8.xml" Id="R4bab6a0bfe6e4cb4" /></Relationships>
</file>

<file path=ppt/slides/slide1.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e01d5baf0ba4b26"/>
          <a:srcRect xmlns:a="http://schemas.openxmlformats.org/drawingml/2006/main" l="12639" t="0" r="12639"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ect">
            <a:avLst/>
          </a:prstGeom>
        </p:spPr>
      </p:pic>
      <p:sp>
        <p:nvSpPr>
          <p:cNvPr id="2" name="purpose-accent">
            <a:extLst xmlns:a="http://schemas.openxmlformats.org/drawingml/2006/main">
              <a:ext uri="{FF2B5EF4-FFF2-40B4-BE49-F238E27FC236}">
                <a16:creationId xmlns:a16="http://schemas.microsoft.com/office/drawing/2014/main" id="{5B3C640D-6EFF-4493-A47A-DE26E6F6AD26}"/>
              </a:ext>
            </a:extLst>
          </p:cNvPr>
          <p:cNvSpPr>
            <a:spLocks xmlns:a="http://schemas.openxmlformats.org/drawingml/2006/main" noGrp="1"/>
          </p:cNvSpPr>
          <p:nvPr/>
        </p:nvSpPr>
        <p:spPr>
          <a:xfrm xmlns:a="http://schemas.openxmlformats.org/drawingml/2006/main">
            <a:off x="6705600" y="628650"/>
            <a:ext cx="76200" cy="5486400"/>
          </a:xfrm>
          <a:prstGeom xmlns:a="http://schemas.openxmlformats.org/drawingml/2006/main" prst="rect">
            <a:avLst/>
          </a:prstGeom>
          <a:solidFill xmlns:a="http://schemas.openxmlformats.org/drawingml/2006/main">
            <a:srgbClr val="E6B64D"/>
          </a:solidFill>
          <a:ln xmlns:a="http://schemas.openxmlformats.org/drawingml/2006/main" w="0">
            <a:noFill/>
            <a:prstDash val="solid"/>
          </a:ln>
        </p:spPr>
      </p:sp>
      <p:sp>
        <p:nvSpPr>
          <p:cNvPr id="3" name="purpose-course-label">
            <a:extLst xmlns:a="http://schemas.openxmlformats.org/drawingml/2006/main">
              <a:ext uri="{FF2B5EF4-FFF2-40B4-BE49-F238E27FC236}">
                <a16:creationId xmlns:a16="http://schemas.microsoft.com/office/drawing/2014/main" id="{083B7FEF-BC0C-4F8F-84BD-2803982DFE51}"/>
              </a:ext>
            </a:extLst>
          </p:cNvPr>
          <p:cNvSpPr>
            <a:spLocks xmlns:a="http://schemas.openxmlformats.org/drawingml/2006/main" noGrp="1"/>
          </p:cNvSpPr>
          <p:nvPr/>
        </p:nvSpPr>
        <p:spPr>
          <a:xfrm xmlns:a="http://schemas.openxmlformats.org/drawingml/2006/main">
            <a:off x="685800" y="7048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C6572F"/>
                </a:solidFill>
                <a:latin typeface="Aptos"/>
                <a:ea typeface="Aptos"/>
                <a:cs typeface="Aptos"/>
              </a:defRPr>
            </a:pPr>
            <a:r>
              <a:rPr sz="1125" b="1">
                <a:solidFill>
                  <a:srgbClr val="C6572F"/>
                </a:solidFill>
                <a:latin typeface="Aptos"/>
                <a:ea typeface="Aptos"/>
                <a:cs typeface="Aptos"/>
              </a:rPr>
              <a:t>YEARS 11–12 WORK STUDIES  ·  YEAR 12  ·  M08</a:t>
            </a:r>
          </a:p>
        </p:txBody>
      </p:sp>
      <p:sp>
        <p:nvSpPr>
          <p:cNvPr id="4" name="purpose-title">
            <a:extLst xmlns:a="http://schemas.openxmlformats.org/drawingml/2006/main">
              <a:ext uri="{FF2B5EF4-FFF2-40B4-BE49-F238E27FC236}">
                <a16:creationId xmlns:a16="http://schemas.microsoft.com/office/drawing/2014/main" id="{CCF11CEC-72CC-4A06-AE6A-D49C7B309D31}"/>
              </a:ext>
            </a:extLst>
          </p:cNvPr>
          <p:cNvSpPr>
            <a:spLocks xmlns:a="http://schemas.openxmlformats.org/drawingml/2006/main" noGrp="1"/>
          </p:cNvSpPr>
          <p:nvPr/>
        </p:nvSpPr>
        <p:spPr>
          <a:xfrm xmlns:a="http://schemas.openxmlformats.org/drawingml/2006/main">
            <a:off x="685800" y="12573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3000"/>
              </a:lnSpc>
              <a:buNone/>
              <a:defRPr sz="4650" b="1">
                <a:solidFill>
                  <a:srgbClr val="0B2637"/>
                </a:solidFill>
                <a:latin typeface="Aptos Display"/>
                <a:ea typeface="Aptos Display"/>
                <a:cs typeface="Aptos Display"/>
              </a:defRPr>
            </a:pPr>
            <a:r>
              <a:rPr sz="4650" b="1">
                <a:solidFill>
                  <a:srgbClr val="0B2637"/>
                </a:solidFill>
                <a:latin typeface="Aptos Display"/>
                <a:ea typeface="Aptos Display"/>
                <a:cs typeface="Aptos Display"/>
              </a:rPr>
              <a:t>Self-Employment</a:t>
            </a:r>
          </a:p>
        </p:txBody>
      </p:sp>
      <p:sp>
        <p:nvSpPr>
          <p:cNvPr id="5" name="purpose-summary">
            <a:extLst xmlns:a="http://schemas.openxmlformats.org/drawingml/2006/main">
              <a:ext uri="{FF2B5EF4-FFF2-40B4-BE49-F238E27FC236}">
                <a16:creationId xmlns:a16="http://schemas.microsoft.com/office/drawing/2014/main" id="{D8A1AEBD-60C1-4F09-9FDA-03490FE2455F}"/>
              </a:ext>
            </a:extLst>
          </p:cNvPr>
          <p:cNvSpPr>
            <a:spLocks xmlns:a="http://schemas.openxmlformats.org/drawingml/2006/main" noGrp="1"/>
          </p:cNvSpPr>
          <p:nvPr/>
        </p:nvSpPr>
        <p:spPr>
          <a:xfrm xmlns:a="http://schemas.openxmlformats.org/drawingml/2006/main">
            <a:off x="685800" y="3124200"/>
            <a:ext cx="5581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0">
                <a:solidFill>
                  <a:srgbClr val="14232D"/>
                </a:solidFill>
                <a:latin typeface="Aptos"/>
                <a:ea typeface="Aptos"/>
                <a:cs typeface="Aptos"/>
              </a:defRPr>
            </a:pPr>
            <a:r>
              <a:rPr sz="1875" b="0">
                <a:solidFill>
                  <a:srgbClr val="14232D"/>
                </a:solidFill>
                <a:latin typeface="Aptos"/>
                <a:ea typeface="Aptos"/>
                <a:cs typeface="Aptos"/>
              </a:rPr>
              <a:t>Test a useful idea, understand obligations and plan a small enterprise.</a:t>
            </a:r>
          </a:p>
        </p:txBody>
      </p:sp>
      <p:sp>
        <p:nvSpPr>
          <p:cNvPr id="6" name="purpose-before-label">
            <a:extLst xmlns:a="http://schemas.openxmlformats.org/drawingml/2006/main">
              <a:ext uri="{FF2B5EF4-FFF2-40B4-BE49-F238E27FC236}">
                <a16:creationId xmlns:a16="http://schemas.microsoft.com/office/drawing/2014/main" id="{1380C9B6-FCBA-46EE-9123-4DBEB0EE6131}"/>
              </a:ext>
            </a:extLst>
          </p:cNvPr>
          <p:cNvSpPr>
            <a:spLocks xmlns:a="http://schemas.openxmlformats.org/drawingml/2006/main" noGrp="1"/>
          </p:cNvSpPr>
          <p:nvPr/>
        </p:nvSpPr>
        <p:spPr>
          <a:xfrm xmlns:a="http://schemas.openxmlformats.org/drawingml/2006/main">
            <a:off x="685800" y="4610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1F5141"/>
                </a:solidFill>
                <a:latin typeface="Aptos"/>
                <a:ea typeface="Aptos"/>
                <a:cs typeface="Aptos"/>
              </a:defRPr>
            </a:pPr>
            <a:r>
              <a:rPr sz="1125" b="1">
                <a:solidFill>
                  <a:srgbClr val="1F5141"/>
                </a:solidFill>
                <a:latin typeface="Aptos"/>
                <a:ea typeface="Aptos"/>
                <a:cs typeface="Aptos"/>
              </a:rPr>
              <a:t>BEFORE WE BEGIN</a:t>
            </a:r>
          </a:p>
        </p:txBody>
      </p:sp>
      <p:sp>
        <p:nvSpPr>
          <p:cNvPr id="7" name="purpose-question">
            <a:extLst xmlns:a="http://schemas.openxmlformats.org/drawingml/2006/main">
              <a:ext uri="{FF2B5EF4-FFF2-40B4-BE49-F238E27FC236}">
                <a16:creationId xmlns:a16="http://schemas.microsoft.com/office/drawing/2014/main" id="{57A89D95-7B75-4B5B-B68F-82E2BCDC3D20}"/>
              </a:ext>
            </a:extLst>
          </p:cNvPr>
          <p:cNvSpPr>
            <a:spLocks xmlns:a="http://schemas.openxmlformats.org/drawingml/2006/main" noGrp="1"/>
          </p:cNvSpPr>
          <p:nvPr/>
        </p:nvSpPr>
        <p:spPr>
          <a:xfrm xmlns:a="http://schemas.openxmlformats.org/drawingml/2006/main">
            <a:off x="685800" y="4953000"/>
            <a:ext cx="554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800" b="1">
                <a:solidFill>
                  <a:srgbClr val="0B2637"/>
                </a:solidFill>
                <a:latin typeface="Aptos"/>
                <a:ea typeface="Aptos"/>
                <a:cs typeface="Aptos"/>
              </a:defRPr>
            </a:pPr>
            <a:r>
              <a:rPr sz="1800" b="1">
                <a:solidFill>
                  <a:srgbClr val="0B2637"/>
                </a:solidFill>
                <a:latin typeface="Aptos"/>
                <a:ea typeface="Aptos"/>
                <a:cs typeface="Aptos"/>
              </a:rPr>
              <a:t>Where might these ideas affect a real workplace, pathway or life decision?</a:t>
            </a:r>
          </a:p>
        </p:txBody>
      </p:sp>
      <p:sp>
        <p:nvSpPr>
          <p:cNvPr id="8" name="purpose-footer-rule">
            <a:extLst xmlns:a="http://schemas.openxmlformats.org/drawingml/2006/main">
              <a:ext uri="{FF2B5EF4-FFF2-40B4-BE49-F238E27FC236}">
                <a16:creationId xmlns:a16="http://schemas.microsoft.com/office/drawing/2014/main" id="{4C1AD226-5C5E-4892-A887-3ABF172AA81F}"/>
              </a:ext>
            </a:extLst>
          </p:cNvPr>
          <p:cNvSpPr>
            <a:spLocks xmlns:a="http://schemas.openxmlformats.org/drawingml/2006/main" noGrp="1"/>
          </p:cNvSpPr>
          <p:nvPr/>
        </p:nvSpPr>
        <p:spPr>
          <a:xfrm xmlns:a="http://schemas.openxmlformats.org/drawingml/2006/main">
            <a:off x="685800" y="6381750"/>
            <a:ext cx="561975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9" name="purpose-footer-module">
            <a:extLst xmlns:a="http://schemas.openxmlformats.org/drawingml/2006/main">
              <a:ext uri="{FF2B5EF4-FFF2-40B4-BE49-F238E27FC236}">
                <a16:creationId xmlns:a16="http://schemas.microsoft.com/office/drawing/2014/main" id="{8D5C0206-4074-43B4-AB0B-6ED180005825}"/>
              </a:ext>
            </a:extLst>
          </p:cNvPr>
          <p:cNvSpPr>
            <a:spLocks xmlns:a="http://schemas.openxmlformats.org/drawingml/2006/main" noGrp="1"/>
          </p:cNvSpPr>
          <p:nvPr/>
        </p:nvSpPr>
        <p:spPr>
          <a:xfrm xmlns:a="http://schemas.openxmlformats.org/drawingml/2006/main">
            <a:off x="685800" y="649605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M08  ·  Self-Employment</a:t>
            </a:r>
          </a:p>
        </p:txBody>
      </p:sp>
      <p:sp>
        <p:nvSpPr>
          <p:cNvPr id="10" name="purpose-footer-number">
            <a:extLst xmlns:a="http://schemas.openxmlformats.org/drawingml/2006/main">
              <a:ext uri="{FF2B5EF4-FFF2-40B4-BE49-F238E27FC236}">
                <a16:creationId xmlns:a16="http://schemas.microsoft.com/office/drawing/2014/main" id="{21A3FA5C-1706-43C5-8999-34F806170E5B}"/>
              </a:ext>
            </a:extLst>
          </p:cNvPr>
          <p:cNvSpPr>
            <a:spLocks xmlns:a="http://schemas.openxmlformats.org/drawingml/2006/main" noGrp="1"/>
          </p:cNvSpPr>
          <p:nvPr/>
        </p:nvSpPr>
        <p:spPr>
          <a:xfrm xmlns:a="http://schemas.openxmlformats.org/drawingml/2006/main">
            <a:off x="57340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01</a:t>
            </a:r>
          </a:p>
        </p:txBody>
      </p:sp>
    </p:spTree>
    <p:extLst>
      <p:ext uri="{BB962C8B-B14F-4D97-AF65-F5344CB8AC3E}">
        <p14:creationId xmlns:p14="http://schemas.microsoft.com/office/powerpoint/2010/main" val="1796210477"/>
      </p:ext>
    </p:extLst>
  </p:cSld>
</p:sld>
</file>

<file path=ppt/slides/slide2.xml><?xml version="1.0" encoding="utf-8"?>
<p:sld xmlns:p="http://schemas.openxmlformats.org/presentationml/2006/main">
  <p:cSld>
    <p:bg>
      <p:bgPr>
        <a:solidFill xmlns:a="http://schemas.openxmlformats.org/drawingml/2006/main">
          <a:srgbClr val="0B2637"/>
        </a:solidFill>
      </p:bgPr>
    </p:bg>
    <p:spTree>
      <p:nvGrpSpPr>
        <p:cNvPr id="1" name=""/>
        <p:cNvGrpSpPr/>
        <p:nvPr/>
      </p:nvGrpSpPr>
      <p:grpSpPr>
        <a:xfrm xmlns:a="http://schemas.openxmlformats.org/drawingml/2006/main"/>
      </p:grpSpPr>
      <p:sp>
        <p:nvSpPr>
          <p:cNvPr id="19" name="module-label-2">
            <a:extLst xmlns:a="http://schemas.openxmlformats.org/drawingml/2006/main">
              <a:ext uri="{FF2B5EF4-FFF2-40B4-BE49-F238E27FC236}">
                <a16:creationId xmlns:a16="http://schemas.microsoft.com/office/drawing/2014/main" id="{79525E9B-163D-49D8-A5E4-B5F3FD707161}"/>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12  ·  M08</a:t>
            </a:r>
          </a:p>
        </p:txBody>
      </p:sp>
      <p:sp>
        <p:nvSpPr>
          <p:cNvPr id="2" name="slide-title-2">
            <a:extLst xmlns:a="http://schemas.openxmlformats.org/drawingml/2006/main">
              <a:ext uri="{FF2B5EF4-FFF2-40B4-BE49-F238E27FC236}">
                <a16:creationId xmlns:a16="http://schemas.microsoft.com/office/drawing/2014/main" id="{167C199C-AFF7-439A-93FF-6CB59E9D0586}"/>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Three ideas build one practical understanding</a:t>
            </a:r>
          </a:p>
        </p:txBody>
      </p:sp>
      <p:sp>
        <p:nvSpPr>
          <p:cNvPr id="3" name="map-number-1">
            <a:extLst xmlns:a="http://schemas.openxmlformats.org/drawingml/2006/main">
              <a:ext uri="{FF2B5EF4-FFF2-40B4-BE49-F238E27FC236}">
                <a16:creationId xmlns:a16="http://schemas.microsoft.com/office/drawing/2014/main" id="{C0AC20AA-2695-430A-BE58-66FDA9D4C1B8}"/>
              </a:ext>
            </a:extLst>
          </p:cNvPr>
          <p:cNvSpPr>
            <a:spLocks xmlns:a="http://schemas.openxmlformats.org/drawingml/2006/main" noGrp="1"/>
          </p:cNvSpPr>
          <p:nvPr/>
        </p:nvSpPr>
        <p:spPr>
          <a:xfrm xmlns:a="http://schemas.openxmlformats.org/drawingml/2006/main">
            <a:off x="6858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01</a:t>
            </a:r>
          </a:p>
        </p:txBody>
      </p:sp>
      <p:sp>
        <p:nvSpPr>
          <p:cNvPr id="4" name="map-title-1">
            <a:extLst xmlns:a="http://schemas.openxmlformats.org/drawingml/2006/main">
              <a:ext uri="{FF2B5EF4-FFF2-40B4-BE49-F238E27FC236}">
                <a16:creationId xmlns:a16="http://schemas.microsoft.com/office/drawing/2014/main" id="{48E5AF2A-EBD1-40FE-94BF-E64382DC619A}"/>
              </a:ext>
            </a:extLst>
          </p:cNvPr>
          <p:cNvSpPr>
            <a:spLocks xmlns:a="http://schemas.openxmlformats.org/drawingml/2006/main" noGrp="1"/>
          </p:cNvSpPr>
          <p:nvPr/>
        </p:nvSpPr>
        <p:spPr>
          <a:xfrm xmlns:a="http://schemas.openxmlformats.org/drawingml/2006/main">
            <a:off x="6858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From strengths and needs to a viable idea</a:t>
            </a:r>
          </a:p>
        </p:txBody>
      </p:sp>
      <p:sp>
        <p:nvSpPr>
          <p:cNvPr id="5" name="map-intention-1">
            <a:extLst xmlns:a="http://schemas.openxmlformats.org/drawingml/2006/main">
              <a:ext uri="{FF2B5EF4-FFF2-40B4-BE49-F238E27FC236}">
                <a16:creationId xmlns:a16="http://schemas.microsoft.com/office/drawing/2014/main" id="{8A7BB033-16ED-41DD-9D2E-0A01392A5BF8}"/>
              </a:ext>
            </a:extLst>
          </p:cNvPr>
          <p:cNvSpPr>
            <a:spLocks xmlns:a="http://schemas.openxmlformats.org/drawingml/2006/main" noGrp="1"/>
          </p:cNvSpPr>
          <p:nvPr/>
        </p:nvSpPr>
        <p:spPr>
          <a:xfrm xmlns:a="http://schemas.openxmlformats.org/drawingml/2006/main">
            <a:off x="6858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Develop a self-employment idea by connecting personal capabilities with evidence of a customer or community need.</a:t>
            </a:r>
          </a:p>
        </p:txBody>
      </p:sp>
      <p:sp>
        <p:nvSpPr>
          <p:cNvPr id="6" name="map-divider-1">
            <a:extLst xmlns:a="http://schemas.openxmlformats.org/drawingml/2006/main">
              <a:ext uri="{FF2B5EF4-FFF2-40B4-BE49-F238E27FC236}">
                <a16:creationId xmlns:a16="http://schemas.microsoft.com/office/drawing/2014/main" id="{12CD2A67-45FD-4113-8843-F57C687DA673}"/>
              </a:ext>
            </a:extLst>
          </p:cNvPr>
          <p:cNvSpPr>
            <a:spLocks xmlns:a="http://schemas.openxmlformats.org/drawingml/2006/main" noGrp="1"/>
          </p:cNvSpPr>
          <p:nvPr/>
        </p:nvSpPr>
        <p:spPr>
          <a:xfrm xmlns:a="http://schemas.openxmlformats.org/drawingml/2006/main">
            <a:off x="403860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7" name="map-number-2">
            <a:extLst xmlns:a="http://schemas.openxmlformats.org/drawingml/2006/main">
              <a:ext uri="{FF2B5EF4-FFF2-40B4-BE49-F238E27FC236}">
                <a16:creationId xmlns:a16="http://schemas.microsoft.com/office/drawing/2014/main" id="{4187BA5D-6143-4705-A403-81A3E4DA8BAC}"/>
              </a:ext>
            </a:extLst>
          </p:cNvPr>
          <p:cNvSpPr>
            <a:spLocks xmlns:a="http://schemas.openxmlformats.org/drawingml/2006/main" noGrp="1"/>
          </p:cNvSpPr>
          <p:nvPr/>
        </p:nvSpPr>
        <p:spPr>
          <a:xfrm xmlns:a="http://schemas.openxmlformats.org/drawingml/2006/main">
            <a:off x="428625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C6572F"/>
                </a:solidFill>
                <a:latin typeface="Aptos Display"/>
                <a:ea typeface="Aptos Display"/>
                <a:cs typeface="Aptos Display"/>
              </a:defRPr>
            </a:pPr>
            <a:r>
              <a:rPr sz="2850" b="1">
                <a:solidFill>
                  <a:srgbClr val="C6572F"/>
                </a:solidFill>
                <a:latin typeface="Aptos Display"/>
                <a:ea typeface="Aptos Display"/>
                <a:cs typeface="Aptos Display"/>
              </a:rPr>
              <a:t>02</a:t>
            </a:r>
          </a:p>
        </p:txBody>
      </p:sp>
      <p:sp>
        <p:nvSpPr>
          <p:cNvPr id="8" name="map-title-2">
            <a:extLst xmlns:a="http://schemas.openxmlformats.org/drawingml/2006/main">
              <a:ext uri="{FF2B5EF4-FFF2-40B4-BE49-F238E27FC236}">
                <a16:creationId xmlns:a16="http://schemas.microsoft.com/office/drawing/2014/main" id="{309391C8-93AD-4424-BFB7-1D1E6A0F3D4B}"/>
              </a:ext>
            </a:extLst>
          </p:cNvPr>
          <p:cNvSpPr>
            <a:spLocks xmlns:a="http://schemas.openxmlformats.org/drawingml/2006/main" noGrp="1"/>
          </p:cNvSpPr>
          <p:nvPr/>
        </p:nvSpPr>
        <p:spPr>
          <a:xfrm xmlns:a="http://schemas.openxmlformats.org/drawingml/2006/main">
            <a:off x="428625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Business models, obligations and risk</a:t>
            </a:r>
          </a:p>
        </p:txBody>
      </p:sp>
      <p:sp>
        <p:nvSpPr>
          <p:cNvPr id="9" name="map-intention-2">
            <a:extLst xmlns:a="http://schemas.openxmlformats.org/drawingml/2006/main">
              <a:ext uri="{FF2B5EF4-FFF2-40B4-BE49-F238E27FC236}">
                <a16:creationId xmlns:a16="http://schemas.microsoft.com/office/drawing/2014/main" id="{2DF6EF6A-0B59-4519-95D8-101EC627A3EB}"/>
              </a:ext>
            </a:extLst>
          </p:cNvPr>
          <p:cNvSpPr>
            <a:spLocks xmlns:a="http://schemas.openxmlformats.org/drawingml/2006/main" noGrp="1"/>
          </p:cNvSpPr>
          <p:nvPr/>
        </p:nvSpPr>
        <p:spPr>
          <a:xfrm xmlns:a="http://schemas.openxmlformats.org/drawingml/2006/main">
            <a:off x="428625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Compare ways of organising self-employment and identify the obligations and risks that must be verified before operating.</a:t>
            </a:r>
          </a:p>
        </p:txBody>
      </p:sp>
      <p:sp>
        <p:nvSpPr>
          <p:cNvPr id="10" name="map-divider-2">
            <a:extLst xmlns:a="http://schemas.openxmlformats.org/drawingml/2006/main">
              <a:ext uri="{FF2B5EF4-FFF2-40B4-BE49-F238E27FC236}">
                <a16:creationId xmlns:a16="http://schemas.microsoft.com/office/drawing/2014/main" id="{6274C24F-6559-48A1-A694-1B2AA28D04DF}"/>
              </a:ext>
            </a:extLst>
          </p:cNvPr>
          <p:cNvSpPr>
            <a:spLocks xmlns:a="http://schemas.openxmlformats.org/drawingml/2006/main" noGrp="1"/>
          </p:cNvSpPr>
          <p:nvPr/>
        </p:nvSpPr>
        <p:spPr>
          <a:xfrm xmlns:a="http://schemas.openxmlformats.org/drawingml/2006/main">
            <a:off x="763905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11" name="map-number-3">
            <a:extLst xmlns:a="http://schemas.openxmlformats.org/drawingml/2006/main">
              <a:ext uri="{FF2B5EF4-FFF2-40B4-BE49-F238E27FC236}">
                <a16:creationId xmlns:a16="http://schemas.microsoft.com/office/drawing/2014/main" id="{91AFF014-3E0D-43C7-898D-B78B88E783C9}"/>
              </a:ext>
            </a:extLst>
          </p:cNvPr>
          <p:cNvSpPr>
            <a:spLocks xmlns:a="http://schemas.openxmlformats.org/drawingml/2006/main" noGrp="1"/>
          </p:cNvSpPr>
          <p:nvPr/>
        </p:nvSpPr>
        <p:spPr>
          <a:xfrm xmlns:a="http://schemas.openxmlformats.org/drawingml/2006/main">
            <a:off x="78867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03</a:t>
            </a:r>
          </a:p>
        </p:txBody>
      </p:sp>
      <p:sp>
        <p:nvSpPr>
          <p:cNvPr id="12" name="map-title-3">
            <a:extLst xmlns:a="http://schemas.openxmlformats.org/drawingml/2006/main">
              <a:ext uri="{FF2B5EF4-FFF2-40B4-BE49-F238E27FC236}">
                <a16:creationId xmlns:a16="http://schemas.microsoft.com/office/drawing/2014/main" id="{8127D54F-A2FB-479D-A444-021D5B181EDF}"/>
              </a:ext>
            </a:extLst>
          </p:cNvPr>
          <p:cNvSpPr>
            <a:spLocks xmlns:a="http://schemas.openxmlformats.org/drawingml/2006/main" noGrp="1"/>
          </p:cNvSpPr>
          <p:nvPr/>
        </p:nvSpPr>
        <p:spPr>
          <a:xfrm xmlns:a="http://schemas.openxmlformats.org/drawingml/2006/main">
            <a:off x="78867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Planning, communicating and reviewing a micro-enterprise</a:t>
            </a:r>
          </a:p>
        </p:txBody>
      </p:sp>
      <p:sp>
        <p:nvSpPr>
          <p:cNvPr id="13" name="map-intention-3">
            <a:extLst xmlns:a="http://schemas.openxmlformats.org/drawingml/2006/main">
              <a:ext uri="{FF2B5EF4-FFF2-40B4-BE49-F238E27FC236}">
                <a16:creationId xmlns:a16="http://schemas.microsoft.com/office/drawing/2014/main" id="{8A19FB05-380E-4522-99D4-612DA4E1B446}"/>
              </a:ext>
            </a:extLst>
          </p:cNvPr>
          <p:cNvSpPr>
            <a:spLocks xmlns:a="http://schemas.openxmlformats.org/drawingml/2006/main" noGrp="1"/>
          </p:cNvSpPr>
          <p:nvPr/>
        </p:nvSpPr>
        <p:spPr>
          <a:xfrm xmlns:a="http://schemas.openxmlformats.org/drawingml/2006/main">
            <a:off x="78867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Build and review an evidence-based micro-enterprise plan that connects operations, finance, customers and ethical communication.</a:t>
            </a:r>
          </a:p>
        </p:txBody>
      </p:sp>
      <p:sp>
        <p:nvSpPr>
          <p:cNvPr id="14" name="map-prompt-band">
            <a:extLst xmlns:a="http://schemas.openxmlformats.org/drawingml/2006/main">
              <a:ext uri="{FF2B5EF4-FFF2-40B4-BE49-F238E27FC236}">
                <a16:creationId xmlns:a16="http://schemas.microsoft.com/office/drawing/2014/main" id="{794E24E3-41FB-4151-8233-C0045513DA37}"/>
              </a:ext>
            </a:extLst>
          </p:cNvPr>
          <p:cNvSpPr>
            <a:spLocks xmlns:a="http://schemas.openxmlformats.org/drawingml/2006/main" noGrp="1"/>
          </p:cNvSpPr>
          <p:nvPr/>
        </p:nvSpPr>
        <p:spPr>
          <a:xfrm xmlns:a="http://schemas.openxmlformats.org/drawingml/2006/main">
            <a:off x="685800" y="5200650"/>
            <a:ext cx="10820400" cy="895350"/>
          </a:xfrm>
          <a:prstGeom xmlns:a="http://schemas.openxmlformats.org/drawingml/2006/main" prst="roundRect">
            <a:avLst>
              <a:gd name="adj" fmla="val 14894"/>
            </a:avLst>
          </a:prstGeom>
          <a:solidFill xmlns:a="http://schemas.openxmlformats.org/drawingml/2006/main">
            <a:srgbClr val="173D50"/>
          </a:solidFill>
          <a:ln xmlns:a="http://schemas.openxmlformats.org/drawingml/2006/main" w="0">
            <a:noFill/>
            <a:prstDash val="solid"/>
          </a:ln>
        </p:spPr>
      </p:sp>
      <p:sp>
        <p:nvSpPr>
          <p:cNvPr id="15" name="map-retrieval-prompt">
            <a:extLst xmlns:a="http://schemas.openxmlformats.org/drawingml/2006/main">
              <a:ext uri="{FF2B5EF4-FFF2-40B4-BE49-F238E27FC236}">
                <a16:creationId xmlns:a16="http://schemas.microsoft.com/office/drawing/2014/main" id="{E9F72CE8-F5CD-44A0-A659-682448A0F70D}"/>
              </a:ext>
            </a:extLst>
          </p:cNvPr>
          <p:cNvSpPr>
            <a:spLocks xmlns:a="http://schemas.openxmlformats.org/drawingml/2006/main" noGrp="1"/>
          </p:cNvSpPr>
          <p:nvPr/>
        </p:nvSpPr>
        <p:spPr>
          <a:xfrm xmlns:a="http://schemas.openxmlformats.org/drawingml/2006/main">
            <a:off x="971550" y="5372100"/>
            <a:ext cx="1024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Retrieval lens  ·  After each idea, explain what decision it improves and what evidence makes the explanation credible.</a:t>
            </a:r>
          </a:p>
        </p:txBody>
      </p:sp>
      <p:sp>
        <p:nvSpPr>
          <p:cNvPr id="16" name="footer-rule-2">
            <a:extLst xmlns:a="http://schemas.openxmlformats.org/drawingml/2006/main">
              <a:ext uri="{FF2B5EF4-FFF2-40B4-BE49-F238E27FC236}">
                <a16:creationId xmlns:a16="http://schemas.microsoft.com/office/drawing/2014/main" id="{598931F9-B7F1-43B4-9458-6531CC5F368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7" name="footer-module-2">
            <a:extLst xmlns:a="http://schemas.openxmlformats.org/drawingml/2006/main">
              <a:ext uri="{FF2B5EF4-FFF2-40B4-BE49-F238E27FC236}">
                <a16:creationId xmlns:a16="http://schemas.microsoft.com/office/drawing/2014/main" id="{2F651C7E-F5A1-4E90-B6D2-96D4C1833649}"/>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M08  ·  Self-Employment</a:t>
            </a:r>
          </a:p>
        </p:txBody>
      </p:sp>
      <p:sp>
        <p:nvSpPr>
          <p:cNvPr id="18" name="footer-number-2">
            <a:extLst xmlns:a="http://schemas.openxmlformats.org/drawingml/2006/main">
              <a:ext uri="{FF2B5EF4-FFF2-40B4-BE49-F238E27FC236}">
                <a16:creationId xmlns:a16="http://schemas.microsoft.com/office/drawing/2014/main" id="{F55DAEB4-9CE6-42DB-900F-B0208D777A81}"/>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02</a:t>
            </a:r>
          </a:p>
        </p:txBody>
      </p:sp>
    </p:spTree>
    <p:extLst>
      <p:ext uri="{BB962C8B-B14F-4D97-AF65-F5344CB8AC3E}">
        <p14:creationId xmlns:p14="http://schemas.microsoft.com/office/powerpoint/2010/main" val="2033024861"/>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3">
            <a:extLst xmlns:a="http://schemas.openxmlformats.org/drawingml/2006/main">
              <a:ext uri="{FF2B5EF4-FFF2-40B4-BE49-F238E27FC236}">
                <a16:creationId xmlns:a16="http://schemas.microsoft.com/office/drawing/2014/main" id="{689FEAB5-9348-4469-87FD-83C96B97E531}"/>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M08</a:t>
            </a:r>
          </a:p>
        </p:txBody>
      </p:sp>
      <p:sp>
        <p:nvSpPr>
          <p:cNvPr id="2" name="slide-title-3">
            <a:extLst xmlns:a="http://schemas.openxmlformats.org/drawingml/2006/main">
              <a:ext uri="{FF2B5EF4-FFF2-40B4-BE49-F238E27FC236}">
                <a16:creationId xmlns:a16="http://schemas.microsoft.com/office/drawing/2014/main" id="{461F38F0-E465-4AD4-BE01-82DF867DB2B4}"/>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From strengths and needs to a viable idea</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fa1587788f84f6a"/>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1">
            <a:extLst xmlns:a="http://schemas.openxmlformats.org/drawingml/2006/main">
              <a:ext uri="{FF2B5EF4-FFF2-40B4-BE49-F238E27FC236}">
                <a16:creationId xmlns:a16="http://schemas.microsoft.com/office/drawing/2014/main" id="{D9867516-53FE-489A-AC31-1E8E714B8FCB}"/>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Self-employment involves creating and managing work rather than receiving every task, system and customer from an employer. A viable idea begins with a clearly described need. A feasibility study tests whether the idea can work with available time, skills, resources, cost, location and risk.</a:t>
            </a:r>
          </a:p>
        </p:txBody>
      </p:sp>
      <p:sp>
        <p:nvSpPr>
          <p:cNvPr id="5" name="theory-evidence-surface-1">
            <a:extLst xmlns:a="http://schemas.openxmlformats.org/drawingml/2006/main">
              <a:ext uri="{FF2B5EF4-FFF2-40B4-BE49-F238E27FC236}">
                <a16:creationId xmlns:a16="http://schemas.microsoft.com/office/drawing/2014/main" id="{62EB74C9-6681-4DB3-AC39-3316BD5103D6}"/>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1">
            <a:extLst xmlns:a="http://schemas.openxmlformats.org/drawingml/2006/main">
              <a:ext uri="{FF2B5EF4-FFF2-40B4-BE49-F238E27FC236}">
                <a16:creationId xmlns:a16="http://schemas.microsoft.com/office/drawing/2014/main" id="{DAE8F434-C3B4-4AB2-923A-E92A82277B40}"/>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1">
            <a:extLst xmlns:a="http://schemas.openxmlformats.org/drawingml/2006/main">
              <a:ext uri="{FF2B5EF4-FFF2-40B4-BE49-F238E27FC236}">
                <a16:creationId xmlns:a16="http://schemas.microsoft.com/office/drawing/2014/main" id="{312B0594-00B3-45EF-8D24-1E3679F812A1}"/>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Need-to-idea feasibility canvas. Choose a fictional or teacher-approved community need. Evidence: A feasibility canvas, prototype sketch and 180-word go, revise or stop recommendation.</a:t>
            </a:r>
          </a:p>
        </p:txBody>
      </p:sp>
      <p:sp>
        <p:nvSpPr>
          <p:cNvPr id="8" name="theory-notice-1">
            <a:extLst xmlns:a="http://schemas.openxmlformats.org/drawingml/2006/main">
              <a:ext uri="{FF2B5EF4-FFF2-40B4-BE49-F238E27FC236}">
                <a16:creationId xmlns:a16="http://schemas.microsoft.com/office/drawing/2014/main" id="{A9994145-261D-419F-8A11-2C515DCF86FB}"/>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bicycle-area problem and the organiser prototype. What would need testing before calling the idea viable?</a:t>
            </a:r>
          </a:p>
        </p:txBody>
      </p:sp>
      <p:sp>
        <p:nvSpPr>
          <p:cNvPr id="9" name="theory-success-1">
            <a:extLst xmlns:a="http://schemas.openxmlformats.org/drawingml/2006/main">
              <a:ext uri="{FF2B5EF4-FFF2-40B4-BE49-F238E27FC236}">
                <a16:creationId xmlns:a16="http://schemas.microsoft.com/office/drawing/2014/main" id="{8786772D-D452-4752-9F38-43F4308E4EDC}"/>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define a specific customer problem rather than begin with a product alone.</a:t>
            </a:r>
          </a:p>
        </p:txBody>
      </p:sp>
      <p:sp>
        <p:nvSpPr>
          <p:cNvPr id="10" name="footer-rule-3">
            <a:extLst xmlns:a="http://schemas.openxmlformats.org/drawingml/2006/main">
              <a:ext uri="{FF2B5EF4-FFF2-40B4-BE49-F238E27FC236}">
                <a16:creationId xmlns:a16="http://schemas.microsoft.com/office/drawing/2014/main" id="{C6C6A004-AA30-4BE2-9FD3-F2C2D474A188}"/>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3">
            <a:extLst xmlns:a="http://schemas.openxmlformats.org/drawingml/2006/main">
              <a:ext uri="{FF2B5EF4-FFF2-40B4-BE49-F238E27FC236}">
                <a16:creationId xmlns:a16="http://schemas.microsoft.com/office/drawing/2014/main" id="{E798884C-5315-4F11-B8BC-697B65DBA078}"/>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M08  ·  Self-Employment</a:t>
            </a:r>
          </a:p>
        </p:txBody>
      </p:sp>
      <p:sp>
        <p:nvSpPr>
          <p:cNvPr id="12" name="footer-number-3">
            <a:extLst xmlns:a="http://schemas.openxmlformats.org/drawingml/2006/main">
              <a:ext uri="{FF2B5EF4-FFF2-40B4-BE49-F238E27FC236}">
                <a16:creationId xmlns:a16="http://schemas.microsoft.com/office/drawing/2014/main" id="{BF52805D-AADA-47BE-AAFC-6DFDCDC5EB6D}"/>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03</a:t>
            </a:r>
          </a:p>
        </p:txBody>
      </p:sp>
    </p:spTree>
    <p:extLst>
      <p:ext uri="{BB962C8B-B14F-4D97-AF65-F5344CB8AC3E}">
        <p14:creationId xmlns:p14="http://schemas.microsoft.com/office/powerpoint/2010/main" val="2116475095"/>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4">
            <a:extLst xmlns:a="http://schemas.openxmlformats.org/drawingml/2006/main">
              <a:ext uri="{FF2B5EF4-FFF2-40B4-BE49-F238E27FC236}">
                <a16:creationId xmlns:a16="http://schemas.microsoft.com/office/drawing/2014/main" id="{3A26F44D-3E55-4CE1-955F-6279E51BC5E1}"/>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M08</a:t>
            </a:r>
          </a:p>
        </p:txBody>
      </p:sp>
      <p:sp>
        <p:nvSpPr>
          <p:cNvPr id="2" name="slide-title-4">
            <a:extLst xmlns:a="http://schemas.openxmlformats.org/drawingml/2006/main">
              <a:ext uri="{FF2B5EF4-FFF2-40B4-BE49-F238E27FC236}">
                <a16:creationId xmlns:a16="http://schemas.microsoft.com/office/drawing/2014/main" id="{A70C682C-EFDD-4DF9-B06F-3E6ED0F870B1}"/>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Business models, obligations and risk</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3ebbb8535d44b38"/>
          <a:srcRect xmlns:a="http://schemas.openxmlformats.org/drawingml/2006/main" l="0" t="15121" r="0" b="15121"/>
          <a:stretch xmlns:a="http://schemas.openxmlformats.org/drawingml/2006/main">
            <a:fillRect l="0" t="0" r="0" b="0"/>
          </a:stretch>
        </p:blipFill>
        <p:spPr>
          <a:xfrm xmlns:a="http://schemas.openxmlformats.org/drawingml/2006/main">
            <a:off x="685800" y="1390650"/>
            <a:ext cx="4724400" cy="3295650"/>
          </a:xfrm>
          <a:prstGeom xmlns:a="http://schemas.openxmlformats.org/drawingml/2006/main" prst="roundRect">
            <a:avLst>
              <a:gd name="adj" fmla="val 6358"/>
            </a:avLst>
          </a:prstGeom>
        </p:spPr>
      </p:pic>
      <p:sp>
        <p:nvSpPr>
          <p:cNvPr id="4" name="theory-summary-2">
            <a:extLst xmlns:a="http://schemas.openxmlformats.org/drawingml/2006/main">
              <a:ext uri="{FF2B5EF4-FFF2-40B4-BE49-F238E27FC236}">
                <a16:creationId xmlns:a16="http://schemas.microsoft.com/office/drawing/2014/main" id="{13092243-AD38-499F-A715-33E2761B532A}"/>
              </a:ext>
            </a:extLst>
          </p:cNvPr>
          <p:cNvSpPr>
            <a:spLocks xmlns:a="http://schemas.openxmlformats.org/drawingml/2006/main" noGrp="1"/>
          </p:cNvSpPr>
          <p:nvPr/>
        </p:nvSpPr>
        <p:spPr>
          <a:xfrm xmlns:a="http://schemas.openxmlformats.org/drawingml/2006/main">
            <a:off x="58293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A business model explains how an activity creates value, reaches customers, uses resources and receives revenue while meeting costs. Operating responsibilities depend on the activity, location, structure and whether other people are engaged. Risk management starts by identifying what could prevent the objective or cause harm, then considering likelihood, consequence and existing controls.</a:t>
            </a:r>
          </a:p>
        </p:txBody>
      </p:sp>
      <p:sp>
        <p:nvSpPr>
          <p:cNvPr id="5" name="theory-evidence-surface-2">
            <a:extLst xmlns:a="http://schemas.openxmlformats.org/drawingml/2006/main">
              <a:ext uri="{FF2B5EF4-FFF2-40B4-BE49-F238E27FC236}">
                <a16:creationId xmlns:a16="http://schemas.microsoft.com/office/drawing/2014/main" id="{F7D5D163-B7BB-49EE-88C7-217AC6F011E1}"/>
              </a:ext>
            </a:extLst>
          </p:cNvPr>
          <p:cNvSpPr>
            <a:spLocks xmlns:a="http://schemas.openxmlformats.org/drawingml/2006/main" noGrp="1"/>
          </p:cNvSpPr>
          <p:nvPr/>
        </p:nvSpPr>
        <p:spPr>
          <a:xfrm xmlns:a="http://schemas.openxmlformats.org/drawingml/2006/main">
            <a:off x="5829300" y="3752850"/>
            <a:ext cx="5676900" cy="1581150"/>
          </a:xfrm>
          <a:prstGeom xmlns:a="http://schemas.openxmlformats.org/drawingml/2006/main" prst="roundRect">
            <a:avLst>
              <a:gd name="adj" fmla="val 8434"/>
            </a:avLst>
          </a:prstGeom>
          <a:solidFill xmlns:a="http://schemas.openxmlformats.org/drawingml/2006/main">
            <a:srgbClr val="F7E9C3"/>
          </a:solidFill>
          <a:ln xmlns:a="http://schemas.openxmlformats.org/drawingml/2006/main" w="0">
            <a:noFill/>
            <a:prstDash val="solid"/>
          </a:ln>
        </p:spPr>
      </p:sp>
      <p:sp>
        <p:nvSpPr>
          <p:cNvPr id="6" name="theory-evidence-label-2">
            <a:extLst xmlns:a="http://schemas.openxmlformats.org/drawingml/2006/main">
              <a:ext uri="{FF2B5EF4-FFF2-40B4-BE49-F238E27FC236}">
                <a16:creationId xmlns:a16="http://schemas.microsoft.com/office/drawing/2014/main" id="{D6520999-C691-47DF-8BC2-3E0557AB0C3E}"/>
              </a:ext>
            </a:extLst>
          </p:cNvPr>
          <p:cNvSpPr>
            <a:spLocks xmlns:a="http://schemas.openxmlformats.org/drawingml/2006/main" noGrp="1"/>
          </p:cNvSpPr>
          <p:nvPr/>
        </p:nvSpPr>
        <p:spPr>
          <a:xfrm xmlns:a="http://schemas.openxmlformats.org/drawingml/2006/main">
            <a:off x="60388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2">
            <a:extLst xmlns:a="http://schemas.openxmlformats.org/drawingml/2006/main">
              <a:ext uri="{FF2B5EF4-FFF2-40B4-BE49-F238E27FC236}">
                <a16:creationId xmlns:a16="http://schemas.microsoft.com/office/drawing/2014/main" id="{99330908-CED1-4AF3-9749-65EF52E801F7}"/>
              </a:ext>
            </a:extLst>
          </p:cNvPr>
          <p:cNvSpPr>
            <a:spLocks xmlns:a="http://schemas.openxmlformats.org/drawingml/2006/main" noGrp="1"/>
          </p:cNvSpPr>
          <p:nvPr/>
        </p:nvSpPr>
        <p:spPr>
          <a:xfrm xmlns:a="http://schemas.openxmlformats.org/drawingml/2006/main">
            <a:off x="60388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Structure-and-risk comparison. For a fictional micro-enterprise, compare sole trader, partnership and company structures using control, responsibility, complexity, cost and risk. Evidence: A comparison matrix, risk register and conditional structure recommendation.</a:t>
            </a:r>
          </a:p>
        </p:txBody>
      </p:sp>
      <p:sp>
        <p:nvSpPr>
          <p:cNvPr id="8" name="theory-notice-2">
            <a:extLst xmlns:a="http://schemas.openxmlformats.org/drawingml/2006/main">
              <a:ext uri="{FF2B5EF4-FFF2-40B4-BE49-F238E27FC236}">
                <a16:creationId xmlns:a16="http://schemas.microsoft.com/office/drawing/2014/main" id="{7CB352FC-16CF-443F-80F0-3A15C3426B9E}"/>
              </a:ext>
            </a:extLst>
          </p:cNvPr>
          <p:cNvSpPr>
            <a:spLocks xmlns:a="http://schemas.openxmlformats.org/drawingml/2006/main" noGrp="1"/>
          </p:cNvSpPr>
          <p:nvPr/>
        </p:nvSpPr>
        <p:spPr>
          <a:xfrm xmlns:a="http://schemas.openxmlformats.org/drawingml/2006/main">
            <a:off x="685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service map, customer item, payment device and risk tokens. Which connection would you test first?</a:t>
            </a:r>
          </a:p>
        </p:txBody>
      </p:sp>
      <p:sp>
        <p:nvSpPr>
          <p:cNvPr id="9" name="theory-success-2">
            <a:extLst xmlns:a="http://schemas.openxmlformats.org/drawingml/2006/main">
              <a:ext uri="{FF2B5EF4-FFF2-40B4-BE49-F238E27FC236}">
                <a16:creationId xmlns:a16="http://schemas.microsoft.com/office/drawing/2014/main" id="{B63EF446-2B0D-48EB-AE94-E42DDB35A93E}"/>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compare common business structures by control, responsibility, complexity and risk.</a:t>
            </a:r>
          </a:p>
        </p:txBody>
      </p:sp>
      <p:sp>
        <p:nvSpPr>
          <p:cNvPr id="10" name="footer-rule-4">
            <a:extLst xmlns:a="http://schemas.openxmlformats.org/drawingml/2006/main">
              <a:ext uri="{FF2B5EF4-FFF2-40B4-BE49-F238E27FC236}">
                <a16:creationId xmlns:a16="http://schemas.microsoft.com/office/drawing/2014/main" id="{BF4012EC-C05E-47A2-A3E8-A360684D1DD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4">
            <a:extLst xmlns:a="http://schemas.openxmlformats.org/drawingml/2006/main">
              <a:ext uri="{FF2B5EF4-FFF2-40B4-BE49-F238E27FC236}">
                <a16:creationId xmlns:a16="http://schemas.microsoft.com/office/drawing/2014/main" id="{4B55B854-FA90-4A96-A33C-043363A03A20}"/>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M08  ·  Self-Employment</a:t>
            </a:r>
          </a:p>
        </p:txBody>
      </p:sp>
      <p:sp>
        <p:nvSpPr>
          <p:cNvPr id="12" name="footer-number-4">
            <a:extLst xmlns:a="http://schemas.openxmlformats.org/drawingml/2006/main">
              <a:ext uri="{FF2B5EF4-FFF2-40B4-BE49-F238E27FC236}">
                <a16:creationId xmlns:a16="http://schemas.microsoft.com/office/drawing/2014/main" id="{2D3135D4-8B30-484C-8594-3BC69980067D}"/>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04</a:t>
            </a:r>
          </a:p>
        </p:txBody>
      </p:sp>
    </p:spTree>
    <p:extLst>
      <p:ext uri="{BB962C8B-B14F-4D97-AF65-F5344CB8AC3E}">
        <p14:creationId xmlns:p14="http://schemas.microsoft.com/office/powerpoint/2010/main" val="1001643384"/>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5">
            <a:extLst xmlns:a="http://schemas.openxmlformats.org/drawingml/2006/main">
              <a:ext uri="{FF2B5EF4-FFF2-40B4-BE49-F238E27FC236}">
                <a16:creationId xmlns:a16="http://schemas.microsoft.com/office/drawing/2014/main" id="{DE51C8AB-801E-433A-943C-E0E85A667471}"/>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M08</a:t>
            </a:r>
          </a:p>
        </p:txBody>
      </p:sp>
      <p:sp>
        <p:nvSpPr>
          <p:cNvPr id="2" name="slide-title-5">
            <a:extLst xmlns:a="http://schemas.openxmlformats.org/drawingml/2006/main">
              <a:ext uri="{FF2B5EF4-FFF2-40B4-BE49-F238E27FC236}">
                <a16:creationId xmlns:a16="http://schemas.microsoft.com/office/drawing/2014/main" id="{32ADDA66-D82A-4958-87F4-A82E46DCABF9}"/>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Planning, communicating and reviewing a micro-enterprise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acda03a675346a1"/>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3">
            <a:extLst xmlns:a="http://schemas.openxmlformats.org/drawingml/2006/main">
              <a:ext uri="{FF2B5EF4-FFF2-40B4-BE49-F238E27FC236}">
                <a16:creationId xmlns:a16="http://schemas.microsoft.com/office/drawing/2014/main" id="{26AC4CE2-D1E2-4F98-BA2E-0EAF0ECB1001}"/>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A useful business plan is a decision tool, not a decorative promise. Enterprise communication should be accurate, audience-appropriate and consistent with what can actually be delivered. Review compares planned indicators with actual evidence.</a:t>
            </a:r>
          </a:p>
        </p:txBody>
      </p:sp>
      <p:sp>
        <p:nvSpPr>
          <p:cNvPr id="5" name="theory-evidence-surface-3">
            <a:extLst xmlns:a="http://schemas.openxmlformats.org/drawingml/2006/main">
              <a:ext uri="{FF2B5EF4-FFF2-40B4-BE49-F238E27FC236}">
                <a16:creationId xmlns:a16="http://schemas.microsoft.com/office/drawing/2014/main" id="{0976CFA7-644F-461D-87B6-BB4E32AC3891}"/>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3">
            <a:extLst xmlns:a="http://schemas.openxmlformats.org/drawingml/2006/main">
              <a:ext uri="{FF2B5EF4-FFF2-40B4-BE49-F238E27FC236}">
                <a16:creationId xmlns:a16="http://schemas.microsoft.com/office/drawing/2014/main" id="{86921A54-FA60-488B-B474-346D3E29E014}"/>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3">
            <a:extLst xmlns:a="http://schemas.openxmlformats.org/drawingml/2006/main">
              <a:ext uri="{FF2B5EF4-FFF2-40B4-BE49-F238E27FC236}">
                <a16:creationId xmlns:a16="http://schemas.microsoft.com/office/drawing/2014/main" id="{22C180A5-173C-4EF2-84BF-2B96B0F6E444}"/>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Micro-enterprise decision pack. Build a hypothetical one-page plan, truthful customer message, simple forecast and decision dashboard for an approved idea. Evidence: A privacy-safe plan, communication sample, forecast, indicator dashboard and review decision.</a:t>
            </a:r>
          </a:p>
        </p:txBody>
      </p:sp>
      <p:sp>
        <p:nvSpPr>
          <p:cNvPr id="8" name="theory-notice-3">
            <a:extLst xmlns:a="http://schemas.openxmlformats.org/drawingml/2006/main">
              <a:ext uri="{FF2B5EF4-FFF2-40B4-BE49-F238E27FC236}">
                <a16:creationId xmlns:a16="http://schemas.microsoft.com/office/drawing/2014/main" id="{78651095-E9C6-44F5-995E-5679C9B67E61}"/>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prototype, visual plan and feedback cards. What evidence would justify changing the plan?</a:t>
            </a:r>
          </a:p>
        </p:txBody>
      </p:sp>
      <p:sp>
        <p:nvSpPr>
          <p:cNvPr id="9" name="theory-success-3">
            <a:extLst xmlns:a="http://schemas.openxmlformats.org/drawingml/2006/main">
              <a:ext uri="{FF2B5EF4-FFF2-40B4-BE49-F238E27FC236}">
                <a16:creationId xmlns:a16="http://schemas.microsoft.com/office/drawing/2014/main" id="{1FBB4914-3E5D-4465-B1B9-E12D42B962AC}"/>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link goals, tasks, resources, costs, revenue assumptions and measures.</a:t>
            </a:r>
          </a:p>
        </p:txBody>
      </p:sp>
      <p:sp>
        <p:nvSpPr>
          <p:cNvPr id="10" name="footer-rule-5">
            <a:extLst xmlns:a="http://schemas.openxmlformats.org/drawingml/2006/main">
              <a:ext uri="{FF2B5EF4-FFF2-40B4-BE49-F238E27FC236}">
                <a16:creationId xmlns:a16="http://schemas.microsoft.com/office/drawing/2014/main" id="{04E9A0C0-1E9C-4745-A434-A4AF13A3082E}"/>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5">
            <a:extLst xmlns:a="http://schemas.openxmlformats.org/drawingml/2006/main">
              <a:ext uri="{FF2B5EF4-FFF2-40B4-BE49-F238E27FC236}">
                <a16:creationId xmlns:a16="http://schemas.microsoft.com/office/drawing/2014/main" id="{8B461D37-0D13-4F09-BE07-42F90923845A}"/>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M08  ·  Self-Employment</a:t>
            </a:r>
          </a:p>
        </p:txBody>
      </p:sp>
      <p:sp>
        <p:nvSpPr>
          <p:cNvPr id="12" name="footer-number-5">
            <a:extLst xmlns:a="http://schemas.openxmlformats.org/drawingml/2006/main">
              <a:ext uri="{FF2B5EF4-FFF2-40B4-BE49-F238E27FC236}">
                <a16:creationId xmlns:a16="http://schemas.microsoft.com/office/drawing/2014/main" id="{C886B007-78D6-4049-AFEA-69FA439AC974}"/>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05</a:t>
            </a:r>
          </a:p>
        </p:txBody>
      </p:sp>
    </p:spTree>
    <p:extLst>
      <p:ext uri="{BB962C8B-B14F-4D97-AF65-F5344CB8AC3E}">
        <p14:creationId xmlns:p14="http://schemas.microsoft.com/office/powerpoint/2010/main" val="1633660232"/>
      </p:ext>
    </p:extLst>
  </p:cSld>
</p:sld>
</file>

<file path=ppt/slides/slide6.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sp>
        <p:nvSpPr>
          <p:cNvPr id="18" name="module-label-6">
            <a:extLst xmlns:a="http://schemas.openxmlformats.org/drawingml/2006/main">
              <a:ext uri="{FF2B5EF4-FFF2-40B4-BE49-F238E27FC236}">
                <a16:creationId xmlns:a16="http://schemas.microsoft.com/office/drawing/2014/main" id="{DDD0C83E-EB3F-48AB-9CDB-870F527E4852}"/>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M08</a:t>
            </a:r>
          </a:p>
        </p:txBody>
      </p:sp>
      <p:sp>
        <p:nvSpPr>
          <p:cNvPr id="2" name="slide-title-6">
            <a:extLst xmlns:a="http://schemas.openxmlformats.org/drawingml/2006/main">
              <a:ext uri="{FF2B5EF4-FFF2-40B4-BE49-F238E27FC236}">
                <a16:creationId xmlns:a16="http://schemas.microsoft.com/office/drawing/2014/main" id="{6AF2004D-C4E6-4DE8-901A-2821A6B77D8E}"/>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0B2637"/>
                </a:solidFill>
                <a:latin typeface="Aptos Display"/>
                <a:ea typeface="Aptos Display"/>
                <a:cs typeface="Aptos Display"/>
              </a:defRPr>
            </a:pPr>
            <a:r>
              <a:rPr sz="3150" b="1">
                <a:solidFill>
                  <a:srgbClr val="0B2637"/>
                </a:solidFill>
                <a:latin typeface="Aptos Display"/>
                <a:ea typeface="Aptos Display"/>
                <a:cs typeface="Aptos Display"/>
              </a:rPr>
              <a:t>Retrieve the idea, then explain the reason</a:t>
            </a:r>
          </a:p>
        </p:txBody>
      </p:sp>
      <p:sp>
        <p:nvSpPr>
          <p:cNvPr id="3" name="retrieval-instruction">
            <a:extLst xmlns:a="http://schemas.openxmlformats.org/drawingml/2006/main">
              <a:ext uri="{FF2B5EF4-FFF2-40B4-BE49-F238E27FC236}">
                <a16:creationId xmlns:a16="http://schemas.microsoft.com/office/drawing/2014/main" id="{E18DE49B-137C-4CC5-9085-1D43CCA7D3F5}"/>
              </a:ext>
            </a:extLst>
          </p:cNvPr>
          <p:cNvSpPr>
            <a:spLocks xmlns:a="http://schemas.openxmlformats.org/drawingml/2006/main" noGrp="1"/>
          </p:cNvSpPr>
          <p:nvPr/>
        </p:nvSpPr>
        <p:spPr>
          <a:xfrm xmlns:a="http://schemas.openxmlformats.org/drawingml/2006/main">
            <a:off x="685800" y="120015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1F5141"/>
                </a:solidFill>
                <a:latin typeface="Aptos"/>
                <a:ea typeface="Aptos"/>
                <a:cs typeface="Aptos"/>
              </a:defRPr>
            </a:pPr>
            <a:r>
              <a:rPr sz="1575" b="1">
                <a:solidFill>
                  <a:srgbClr val="1F5141"/>
                </a:solidFill>
                <a:latin typeface="Aptos"/>
                <a:ea typeface="Aptos"/>
                <a:cs typeface="Aptos"/>
              </a:rPr>
              <a:t>Answer without notes first. Use one precise evidence-based sentence for each check.</a:t>
            </a:r>
          </a:p>
        </p:txBody>
      </p:sp>
      <p:sp>
        <p:nvSpPr>
          <p:cNvPr id="4" name="retrieval-number-1">
            <a:extLst xmlns:a="http://schemas.openxmlformats.org/drawingml/2006/main">
              <a:ext uri="{FF2B5EF4-FFF2-40B4-BE49-F238E27FC236}">
                <a16:creationId xmlns:a16="http://schemas.microsoft.com/office/drawing/2014/main" id="{B2D1F523-6344-4321-A973-7C19F265E00A}"/>
              </a:ext>
            </a:extLst>
          </p:cNvPr>
          <p:cNvSpPr>
            <a:spLocks xmlns:a="http://schemas.openxmlformats.org/drawingml/2006/main" noGrp="1"/>
          </p:cNvSpPr>
          <p:nvPr/>
        </p:nvSpPr>
        <p:spPr>
          <a:xfrm xmlns:a="http://schemas.openxmlformats.org/drawingml/2006/main">
            <a:off x="685800" y="18859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01</a:t>
            </a:r>
          </a:p>
        </p:txBody>
      </p:sp>
      <p:sp>
        <p:nvSpPr>
          <p:cNvPr id="5" name="retrieval-question-1">
            <a:extLst xmlns:a="http://schemas.openxmlformats.org/drawingml/2006/main">
              <a:ext uri="{FF2B5EF4-FFF2-40B4-BE49-F238E27FC236}">
                <a16:creationId xmlns:a16="http://schemas.microsoft.com/office/drawing/2014/main" id="{E6654044-0850-4322-A9B4-CAC8F256AB1E}"/>
              </a:ext>
            </a:extLst>
          </p:cNvPr>
          <p:cNvSpPr>
            <a:spLocks xmlns:a="http://schemas.openxmlformats.org/drawingml/2006/main" noGrp="1"/>
          </p:cNvSpPr>
          <p:nvPr/>
        </p:nvSpPr>
        <p:spPr>
          <a:xfrm xmlns:a="http://schemas.openxmlformats.org/drawingml/2006/main">
            <a:off x="1466850" y="18859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makes a value proposition useful?</a:t>
            </a:r>
          </a:p>
        </p:txBody>
      </p:sp>
      <p:sp>
        <p:nvSpPr>
          <p:cNvPr id="6" name="retrieval-separator-1">
            <a:extLst xmlns:a="http://schemas.openxmlformats.org/drawingml/2006/main">
              <a:ext uri="{FF2B5EF4-FFF2-40B4-BE49-F238E27FC236}">
                <a16:creationId xmlns:a16="http://schemas.microsoft.com/office/drawing/2014/main" id="{6015F072-38C9-4623-BD01-AB8750DFFDBC}"/>
              </a:ext>
            </a:extLst>
          </p:cNvPr>
          <p:cNvSpPr>
            <a:spLocks xmlns:a="http://schemas.openxmlformats.org/drawingml/2006/main" noGrp="1"/>
          </p:cNvSpPr>
          <p:nvPr/>
        </p:nvSpPr>
        <p:spPr>
          <a:xfrm xmlns:a="http://schemas.openxmlformats.org/drawingml/2006/main">
            <a:off x="685800" y="289560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7" name="retrieval-number-2">
            <a:extLst xmlns:a="http://schemas.openxmlformats.org/drawingml/2006/main">
              <a:ext uri="{FF2B5EF4-FFF2-40B4-BE49-F238E27FC236}">
                <a16:creationId xmlns:a16="http://schemas.microsoft.com/office/drawing/2014/main" id="{3155B12C-AEF2-42AD-9332-5B24AC64A099}"/>
              </a:ext>
            </a:extLst>
          </p:cNvPr>
          <p:cNvSpPr>
            <a:spLocks xmlns:a="http://schemas.openxmlformats.org/drawingml/2006/main" noGrp="1"/>
          </p:cNvSpPr>
          <p:nvPr/>
        </p:nvSpPr>
        <p:spPr>
          <a:xfrm xmlns:a="http://schemas.openxmlformats.org/drawingml/2006/main">
            <a:off x="685800" y="316230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C6572F"/>
                </a:solidFill>
                <a:latin typeface="Aptos Display"/>
                <a:ea typeface="Aptos Display"/>
                <a:cs typeface="Aptos Display"/>
              </a:defRPr>
            </a:pPr>
            <a:r>
              <a:rPr sz="2325" b="1">
                <a:solidFill>
                  <a:srgbClr val="C6572F"/>
                </a:solidFill>
                <a:latin typeface="Aptos Display"/>
                <a:ea typeface="Aptos Display"/>
                <a:cs typeface="Aptos Display"/>
              </a:rPr>
              <a:t>02</a:t>
            </a:r>
          </a:p>
        </p:txBody>
      </p:sp>
      <p:sp>
        <p:nvSpPr>
          <p:cNvPr id="8" name="retrieval-question-2">
            <a:extLst xmlns:a="http://schemas.openxmlformats.org/drawingml/2006/main">
              <a:ext uri="{FF2B5EF4-FFF2-40B4-BE49-F238E27FC236}">
                <a16:creationId xmlns:a16="http://schemas.microsoft.com/office/drawing/2014/main" id="{9442E79F-3307-406A-860B-F988A82AADC6}"/>
              </a:ext>
            </a:extLst>
          </p:cNvPr>
          <p:cNvSpPr>
            <a:spLocks xmlns:a="http://schemas.openxmlformats.org/drawingml/2006/main" noGrp="1"/>
          </p:cNvSpPr>
          <p:nvPr/>
        </p:nvSpPr>
        <p:spPr>
          <a:xfrm xmlns:a="http://schemas.openxmlformats.org/drawingml/2006/main">
            <a:off x="1466850" y="316230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is the difference between a business model and a business structure?</a:t>
            </a:r>
          </a:p>
        </p:txBody>
      </p:sp>
      <p:sp>
        <p:nvSpPr>
          <p:cNvPr id="9" name="retrieval-separator-2">
            <a:extLst xmlns:a="http://schemas.openxmlformats.org/drawingml/2006/main">
              <a:ext uri="{FF2B5EF4-FFF2-40B4-BE49-F238E27FC236}">
                <a16:creationId xmlns:a16="http://schemas.microsoft.com/office/drawing/2014/main" id="{57131B87-DBC6-4202-A389-8B5326F6CFB5}"/>
              </a:ext>
            </a:extLst>
          </p:cNvPr>
          <p:cNvSpPr>
            <a:spLocks xmlns:a="http://schemas.openxmlformats.org/drawingml/2006/main" noGrp="1"/>
          </p:cNvSpPr>
          <p:nvPr/>
        </p:nvSpPr>
        <p:spPr>
          <a:xfrm xmlns:a="http://schemas.openxmlformats.org/drawingml/2006/main">
            <a:off x="685800" y="417195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0" name="retrieval-number-3">
            <a:extLst xmlns:a="http://schemas.openxmlformats.org/drawingml/2006/main">
              <a:ext uri="{FF2B5EF4-FFF2-40B4-BE49-F238E27FC236}">
                <a16:creationId xmlns:a16="http://schemas.microsoft.com/office/drawing/2014/main" id="{3F4FA9FE-5D42-40A3-BBC0-72F8D60C0D32}"/>
              </a:ext>
            </a:extLst>
          </p:cNvPr>
          <p:cNvSpPr>
            <a:spLocks xmlns:a="http://schemas.openxmlformats.org/drawingml/2006/main" noGrp="1"/>
          </p:cNvSpPr>
          <p:nvPr/>
        </p:nvSpPr>
        <p:spPr>
          <a:xfrm xmlns:a="http://schemas.openxmlformats.org/drawingml/2006/main">
            <a:off x="685800" y="44386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03</a:t>
            </a:r>
          </a:p>
        </p:txBody>
      </p:sp>
      <p:sp>
        <p:nvSpPr>
          <p:cNvPr id="11" name="retrieval-question-3">
            <a:extLst xmlns:a="http://schemas.openxmlformats.org/drawingml/2006/main">
              <a:ext uri="{FF2B5EF4-FFF2-40B4-BE49-F238E27FC236}">
                <a16:creationId xmlns:a16="http://schemas.microsoft.com/office/drawing/2014/main" id="{83E3D22E-C72E-4491-BE01-3A5C4C47DEB7}"/>
              </a:ext>
            </a:extLst>
          </p:cNvPr>
          <p:cNvSpPr>
            <a:spLocks xmlns:a="http://schemas.openxmlformats.org/drawingml/2006/main" noGrp="1"/>
          </p:cNvSpPr>
          <p:nvPr/>
        </p:nvSpPr>
        <p:spPr>
          <a:xfrm xmlns:a="http://schemas.openxmlformats.org/drawingml/2006/main">
            <a:off x="1466850" y="44386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Why must revenue and profit be distinguished?</a:t>
            </a:r>
          </a:p>
        </p:txBody>
      </p:sp>
      <p:sp>
        <p:nvSpPr>
          <p:cNvPr id="12" name="retrieval-cycle">
            <a:extLst xmlns:a="http://schemas.openxmlformats.org/drawingml/2006/main">
              <a:ext uri="{FF2B5EF4-FFF2-40B4-BE49-F238E27FC236}">
                <a16:creationId xmlns:a16="http://schemas.microsoft.com/office/drawing/2014/main" id="{D9099DC5-7F00-4860-83B6-E51E10EEBA66}"/>
              </a:ext>
            </a:extLst>
          </p:cNvPr>
          <p:cNvSpPr>
            <a:spLocks xmlns:a="http://schemas.openxmlformats.org/drawingml/2006/main" noGrp="1"/>
          </p:cNvSpPr>
          <p:nvPr/>
        </p:nvSpPr>
        <p:spPr>
          <a:xfrm xmlns:a="http://schemas.openxmlformats.org/drawingml/2006/main">
            <a:off x="8458200" y="1752600"/>
            <a:ext cx="3048000" cy="3714750"/>
          </a:xfrm>
          <a:prstGeom xmlns:a="http://schemas.openxmlformats.org/drawingml/2006/main" prst="roundRect">
            <a:avLst>
              <a:gd name="adj" fmla="val 5625"/>
            </a:avLst>
          </a:prstGeom>
          <a:solidFill xmlns:a="http://schemas.openxmlformats.org/drawingml/2006/main">
            <a:srgbClr val="0B2637"/>
          </a:solidFill>
          <a:ln xmlns:a="http://schemas.openxmlformats.org/drawingml/2006/main" w="0">
            <a:noFill/>
            <a:prstDash val="solid"/>
          </a:ln>
        </p:spPr>
      </p:sp>
      <p:sp>
        <p:nvSpPr>
          <p:cNvPr id="13" name="retrieval-cycle-title">
            <a:extLst xmlns:a="http://schemas.openxmlformats.org/drawingml/2006/main">
              <a:ext uri="{FF2B5EF4-FFF2-40B4-BE49-F238E27FC236}">
                <a16:creationId xmlns:a16="http://schemas.microsoft.com/office/drawing/2014/main" id="{BC0524A8-31DC-4ABF-A34A-1C105A596A5A}"/>
              </a:ext>
            </a:extLst>
          </p:cNvPr>
          <p:cNvSpPr>
            <a:spLocks xmlns:a="http://schemas.openxmlformats.org/drawingml/2006/main" noGrp="1"/>
          </p:cNvSpPr>
          <p:nvPr/>
        </p:nvSpPr>
        <p:spPr>
          <a:xfrm xmlns:a="http://schemas.openxmlformats.org/drawingml/2006/main">
            <a:off x="8763000" y="20955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calm checking cycle</a:t>
            </a:r>
          </a:p>
        </p:txBody>
      </p:sp>
      <p:sp>
        <p:nvSpPr>
          <p:cNvPr id="14" name="retrieval-cycle-body">
            <a:extLst xmlns:a="http://schemas.openxmlformats.org/drawingml/2006/main">
              <a:ext uri="{FF2B5EF4-FFF2-40B4-BE49-F238E27FC236}">
                <a16:creationId xmlns:a16="http://schemas.microsoft.com/office/drawing/2014/main" id="{53DDD03D-4DE0-40E8-8658-525A4FD2F9AD}"/>
              </a:ext>
            </a:extLst>
          </p:cNvPr>
          <p:cNvSpPr>
            <a:spLocks xmlns:a="http://schemas.openxmlformats.org/drawingml/2006/main" noGrp="1"/>
          </p:cNvSpPr>
          <p:nvPr/>
        </p:nvSpPr>
        <p:spPr>
          <a:xfrm xmlns:a="http://schemas.openxmlformats.org/drawingml/2006/main">
            <a:off x="8763000" y="2971800"/>
            <a:ext cx="24193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1  Recall from memory</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2  Check the matching section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3  Correct the reason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4  Try the question again</a:t>
            </a:r>
          </a:p>
        </p:txBody>
      </p:sp>
      <p:sp>
        <p:nvSpPr>
          <p:cNvPr id="15" name="footer-rule-6">
            <a:extLst xmlns:a="http://schemas.openxmlformats.org/drawingml/2006/main">
              <a:ext uri="{FF2B5EF4-FFF2-40B4-BE49-F238E27FC236}">
                <a16:creationId xmlns:a16="http://schemas.microsoft.com/office/drawing/2014/main" id="{B2A0E697-94BE-44A6-898E-2B497E21E1F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6" name="footer-module-6">
            <a:extLst xmlns:a="http://schemas.openxmlformats.org/drawingml/2006/main">
              <a:ext uri="{FF2B5EF4-FFF2-40B4-BE49-F238E27FC236}">
                <a16:creationId xmlns:a16="http://schemas.microsoft.com/office/drawing/2014/main" id="{C4C94DCE-76B1-4DED-8177-F7225C6D6AAC}"/>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M08  ·  Self-Employment</a:t>
            </a:r>
          </a:p>
        </p:txBody>
      </p:sp>
      <p:sp>
        <p:nvSpPr>
          <p:cNvPr id="17" name="footer-number-6">
            <a:extLst xmlns:a="http://schemas.openxmlformats.org/drawingml/2006/main">
              <a:ext uri="{FF2B5EF4-FFF2-40B4-BE49-F238E27FC236}">
                <a16:creationId xmlns:a16="http://schemas.microsoft.com/office/drawing/2014/main" id="{FB291721-5A0B-435E-905B-81ECC81EBF8B}"/>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06</a:t>
            </a:r>
          </a:p>
        </p:txBody>
      </p:sp>
    </p:spTree>
    <p:extLst>
      <p:ext uri="{BB962C8B-B14F-4D97-AF65-F5344CB8AC3E}">
        <p14:creationId xmlns:p14="http://schemas.microsoft.com/office/powerpoint/2010/main" val="1468804122"/>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module-label-7">
            <a:extLst xmlns:a="http://schemas.openxmlformats.org/drawingml/2006/main">
              <a:ext uri="{FF2B5EF4-FFF2-40B4-BE49-F238E27FC236}">
                <a16:creationId xmlns:a16="http://schemas.microsoft.com/office/drawing/2014/main" id="{0D36AFF8-2AB2-4DB7-9DDE-C71D4A0F12BD}"/>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M08</a:t>
            </a:r>
          </a:p>
        </p:txBody>
      </p:sp>
      <p:sp>
        <p:nvSpPr>
          <p:cNvPr id="2" name="slide-title-7">
            <a:extLst xmlns:a="http://schemas.openxmlformats.org/drawingml/2006/main">
              <a:ext uri="{FF2B5EF4-FFF2-40B4-BE49-F238E27FC236}">
                <a16:creationId xmlns:a16="http://schemas.microsoft.com/office/drawing/2014/main" id="{F6EFE150-5C9F-4050-9E41-9EBC07D7FC7A}"/>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000" b="1">
                <a:solidFill>
                  <a:srgbClr val="0B2637"/>
                </a:solidFill>
                <a:latin typeface="Aptos Display"/>
                <a:ea typeface="Aptos Display"/>
                <a:cs typeface="Aptos Display"/>
              </a:defRPr>
            </a:pPr>
            <a:r>
              <a:rPr sz="3000" b="1">
                <a:solidFill>
                  <a:srgbClr val="0B2637"/>
                </a:solidFill>
                <a:latin typeface="Aptos Display"/>
                <a:ea typeface="Aptos Display"/>
                <a:cs typeface="Aptos Display"/>
              </a:rPr>
              <a:t>Build evidence that makes your reasoning visible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3401e23ab6144c01"/>
          <a:srcRect xmlns:a="http://schemas.openxmlformats.org/drawingml/2006/main" l="1676" t="0" r="1676" b="0"/>
          <a:stretch xmlns:a="http://schemas.openxmlformats.org/drawingml/2006/main">
            <a:fillRect l="0" t="0" r="0" b="0"/>
          </a:stretch>
        </p:blipFill>
        <p:spPr>
          <a:xfrm xmlns:a="http://schemas.openxmlformats.org/drawingml/2006/main">
            <a:off x="8210550" y="1428750"/>
            <a:ext cx="3295650" cy="3409950"/>
          </a:xfrm>
          <a:prstGeom xmlns:a="http://schemas.openxmlformats.org/drawingml/2006/main" prst="roundRect">
            <a:avLst>
              <a:gd name="adj" fmla="val 6358"/>
            </a:avLst>
          </a:prstGeom>
        </p:spPr>
      </p:pic>
      <p:sp>
        <p:nvSpPr>
          <p:cNvPr id="4" name="guided-prompt">
            <a:extLst xmlns:a="http://schemas.openxmlformats.org/drawingml/2006/main">
              <a:ext uri="{FF2B5EF4-FFF2-40B4-BE49-F238E27FC236}">
                <a16:creationId xmlns:a16="http://schemas.microsoft.com/office/drawing/2014/main" id="{AA2006CC-84E9-4AD6-84CF-94C9D1B2D728}"/>
              </a:ext>
            </a:extLst>
          </p:cNvPr>
          <p:cNvSpPr>
            <a:spLocks xmlns:a="http://schemas.openxmlformats.org/drawingml/2006/main" noGrp="1"/>
          </p:cNvSpPr>
          <p:nvPr/>
        </p:nvSpPr>
        <p:spPr>
          <a:xfrm xmlns:a="http://schemas.openxmlformats.org/drawingml/2006/main">
            <a:off x="685800" y="1352550"/>
            <a:ext cx="7067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2025" b="1">
                <a:solidFill>
                  <a:srgbClr val="0B2637"/>
                </a:solidFill>
                <a:latin typeface="Aptos Display"/>
                <a:ea typeface="Aptos Display"/>
                <a:cs typeface="Aptos Display"/>
              </a:defRPr>
            </a:pPr>
            <a:r>
              <a:rPr sz="2025" b="1">
                <a:solidFill>
                  <a:srgbClr val="0B2637"/>
                </a:solidFill>
                <a:latin typeface="Aptos Display"/>
                <a:ea typeface="Aptos Display"/>
                <a:cs typeface="Aptos Display"/>
              </a:rPr>
              <a:t>Evaluate a hypothetical micro-enterprise after its first bounded test and recommend whether it should continue, revise, pause or stop.</a:t>
            </a:r>
          </a:p>
        </p:txBody>
      </p:sp>
      <p:sp>
        <p:nvSpPr>
          <p:cNvPr id="5" name="guided-step-number-1">
            <a:extLst xmlns:a="http://schemas.openxmlformats.org/drawingml/2006/main">
              <a:ext uri="{FF2B5EF4-FFF2-40B4-BE49-F238E27FC236}">
                <a16:creationId xmlns:a16="http://schemas.microsoft.com/office/drawing/2014/main" id="{522B0BC0-806E-4B42-BE91-C49B5027C76B}"/>
              </a:ext>
            </a:extLst>
          </p:cNvPr>
          <p:cNvSpPr>
            <a:spLocks xmlns:a="http://schemas.openxmlformats.org/drawingml/2006/main" noGrp="1"/>
          </p:cNvSpPr>
          <p:nvPr/>
        </p:nvSpPr>
        <p:spPr>
          <a:xfrm xmlns:a="http://schemas.openxmlformats.org/drawingml/2006/main">
            <a:off x="6858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01</a:t>
            </a:r>
          </a:p>
        </p:txBody>
      </p:sp>
      <p:sp>
        <p:nvSpPr>
          <p:cNvPr id="6" name="guided-step-label-1">
            <a:extLst xmlns:a="http://schemas.openxmlformats.org/drawingml/2006/main">
              <a:ext uri="{FF2B5EF4-FFF2-40B4-BE49-F238E27FC236}">
                <a16:creationId xmlns:a16="http://schemas.microsoft.com/office/drawing/2014/main" id="{7A91A0AC-9F12-42E8-9838-1196ED421083}"/>
              </a:ext>
            </a:extLst>
          </p:cNvPr>
          <p:cNvSpPr>
            <a:spLocks xmlns:a="http://schemas.openxmlformats.org/drawingml/2006/main" noGrp="1"/>
          </p:cNvSpPr>
          <p:nvPr/>
        </p:nvSpPr>
        <p:spPr>
          <a:xfrm xmlns:a="http://schemas.openxmlformats.org/drawingml/2006/main">
            <a:off x="6858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READ</a:t>
            </a:r>
          </a:p>
        </p:txBody>
      </p:sp>
      <p:sp>
        <p:nvSpPr>
          <p:cNvPr id="7" name="guided-step-detail-1">
            <a:extLst xmlns:a="http://schemas.openxmlformats.org/drawingml/2006/main">
              <a:ext uri="{FF2B5EF4-FFF2-40B4-BE49-F238E27FC236}">
                <a16:creationId xmlns:a16="http://schemas.microsoft.com/office/drawing/2014/main" id="{6BB9C580-804F-41BD-93C2-F9D404BA0E4A}"/>
              </a:ext>
            </a:extLst>
          </p:cNvPr>
          <p:cNvSpPr>
            <a:spLocks xmlns:a="http://schemas.openxmlformats.org/drawingml/2006/main" noGrp="1"/>
          </p:cNvSpPr>
          <p:nvPr/>
        </p:nvSpPr>
        <p:spPr>
          <a:xfrm xmlns:a="http://schemas.openxmlformats.org/drawingml/2006/main">
            <a:off x="6858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Identify the command verb and the relationship.</a:t>
            </a:r>
          </a:p>
        </p:txBody>
      </p:sp>
      <p:sp>
        <p:nvSpPr>
          <p:cNvPr id="8" name="guided-step-line-1">
            <a:extLst xmlns:a="http://schemas.openxmlformats.org/drawingml/2006/main">
              <a:ext uri="{FF2B5EF4-FFF2-40B4-BE49-F238E27FC236}">
                <a16:creationId xmlns:a16="http://schemas.microsoft.com/office/drawing/2014/main" id="{58B6A6D8-33BD-4CD6-9419-B221BCC8F515}"/>
              </a:ext>
            </a:extLst>
          </p:cNvPr>
          <p:cNvSpPr>
            <a:spLocks xmlns:a="http://schemas.openxmlformats.org/drawingml/2006/main" noGrp="1"/>
          </p:cNvSpPr>
          <p:nvPr/>
        </p:nvSpPr>
        <p:spPr>
          <a:xfrm xmlns:a="http://schemas.openxmlformats.org/drawingml/2006/main">
            <a:off x="19812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9" name="guided-step-number-2">
            <a:extLst xmlns:a="http://schemas.openxmlformats.org/drawingml/2006/main">
              <a:ext uri="{FF2B5EF4-FFF2-40B4-BE49-F238E27FC236}">
                <a16:creationId xmlns:a16="http://schemas.microsoft.com/office/drawing/2014/main" id="{2A29A2EA-8434-4883-834C-51F525D64570}"/>
              </a:ext>
            </a:extLst>
          </p:cNvPr>
          <p:cNvSpPr>
            <a:spLocks xmlns:a="http://schemas.openxmlformats.org/drawingml/2006/main" noGrp="1"/>
          </p:cNvSpPr>
          <p:nvPr/>
        </p:nvSpPr>
        <p:spPr>
          <a:xfrm xmlns:a="http://schemas.openxmlformats.org/drawingml/2006/main">
            <a:off x="24384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02</a:t>
            </a:r>
          </a:p>
        </p:txBody>
      </p:sp>
      <p:sp>
        <p:nvSpPr>
          <p:cNvPr id="10" name="guided-step-label-2">
            <a:extLst xmlns:a="http://schemas.openxmlformats.org/drawingml/2006/main">
              <a:ext uri="{FF2B5EF4-FFF2-40B4-BE49-F238E27FC236}">
                <a16:creationId xmlns:a16="http://schemas.microsoft.com/office/drawing/2014/main" id="{6681D8C9-E624-4B8E-BC75-3BF626268B05}"/>
              </a:ext>
            </a:extLst>
          </p:cNvPr>
          <p:cNvSpPr>
            <a:spLocks xmlns:a="http://schemas.openxmlformats.org/drawingml/2006/main" noGrp="1"/>
          </p:cNvSpPr>
          <p:nvPr/>
        </p:nvSpPr>
        <p:spPr>
          <a:xfrm xmlns:a="http://schemas.openxmlformats.org/drawingml/2006/main">
            <a:off x="24384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SELECT</a:t>
            </a:r>
          </a:p>
        </p:txBody>
      </p:sp>
      <p:sp>
        <p:nvSpPr>
          <p:cNvPr id="11" name="guided-step-detail-2">
            <a:extLst xmlns:a="http://schemas.openxmlformats.org/drawingml/2006/main">
              <a:ext uri="{FF2B5EF4-FFF2-40B4-BE49-F238E27FC236}">
                <a16:creationId xmlns:a16="http://schemas.microsoft.com/office/drawing/2014/main" id="{543DBB73-26E2-4B4E-B39C-473F55E1D5E1}"/>
              </a:ext>
            </a:extLst>
          </p:cNvPr>
          <p:cNvSpPr>
            <a:spLocks xmlns:a="http://schemas.openxmlformats.org/drawingml/2006/main" noGrp="1"/>
          </p:cNvSpPr>
          <p:nvPr/>
        </p:nvSpPr>
        <p:spPr>
          <a:xfrm xmlns:a="http://schemas.openxmlformats.org/drawingml/2006/main">
            <a:off x="24384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Choose relevant course evidence.</a:t>
            </a:r>
          </a:p>
        </p:txBody>
      </p:sp>
      <p:sp>
        <p:nvSpPr>
          <p:cNvPr id="12" name="guided-step-line-2">
            <a:extLst xmlns:a="http://schemas.openxmlformats.org/drawingml/2006/main">
              <a:ext uri="{FF2B5EF4-FFF2-40B4-BE49-F238E27FC236}">
                <a16:creationId xmlns:a16="http://schemas.microsoft.com/office/drawing/2014/main" id="{56897B31-103D-4B7F-854A-DBDF68A0DE7A}"/>
              </a:ext>
            </a:extLst>
          </p:cNvPr>
          <p:cNvSpPr>
            <a:spLocks xmlns:a="http://schemas.openxmlformats.org/drawingml/2006/main" noGrp="1"/>
          </p:cNvSpPr>
          <p:nvPr/>
        </p:nvSpPr>
        <p:spPr>
          <a:xfrm xmlns:a="http://schemas.openxmlformats.org/drawingml/2006/main">
            <a:off x="37338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3" name="guided-step-number-3">
            <a:extLst xmlns:a="http://schemas.openxmlformats.org/drawingml/2006/main">
              <a:ext uri="{FF2B5EF4-FFF2-40B4-BE49-F238E27FC236}">
                <a16:creationId xmlns:a16="http://schemas.microsoft.com/office/drawing/2014/main" id="{B3569398-82C5-4F4A-A938-11CA79994A05}"/>
              </a:ext>
            </a:extLst>
          </p:cNvPr>
          <p:cNvSpPr>
            <a:spLocks xmlns:a="http://schemas.openxmlformats.org/drawingml/2006/main" noGrp="1"/>
          </p:cNvSpPr>
          <p:nvPr/>
        </p:nvSpPr>
        <p:spPr>
          <a:xfrm xmlns:a="http://schemas.openxmlformats.org/drawingml/2006/main">
            <a:off x="41910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C6572F"/>
                </a:solidFill>
                <a:latin typeface="Aptos Display"/>
                <a:ea typeface="Aptos Display"/>
                <a:cs typeface="Aptos Display"/>
              </a:defRPr>
            </a:pPr>
            <a:r>
              <a:rPr sz="2025" b="1">
                <a:solidFill>
                  <a:srgbClr val="C6572F"/>
                </a:solidFill>
                <a:latin typeface="Aptos Display"/>
                <a:ea typeface="Aptos Display"/>
                <a:cs typeface="Aptos Display"/>
              </a:rPr>
              <a:t>03</a:t>
            </a:r>
          </a:p>
        </p:txBody>
      </p:sp>
      <p:sp>
        <p:nvSpPr>
          <p:cNvPr id="14" name="guided-step-label-3">
            <a:extLst xmlns:a="http://schemas.openxmlformats.org/drawingml/2006/main">
              <a:ext uri="{FF2B5EF4-FFF2-40B4-BE49-F238E27FC236}">
                <a16:creationId xmlns:a16="http://schemas.microsoft.com/office/drawing/2014/main" id="{5CA7671A-E7BA-44C7-9192-4BA836647A7D}"/>
              </a:ext>
            </a:extLst>
          </p:cNvPr>
          <p:cNvSpPr>
            <a:spLocks xmlns:a="http://schemas.openxmlformats.org/drawingml/2006/main" noGrp="1"/>
          </p:cNvSpPr>
          <p:nvPr/>
        </p:nvSpPr>
        <p:spPr>
          <a:xfrm xmlns:a="http://schemas.openxmlformats.org/drawingml/2006/main">
            <a:off x="41910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EXPLAIN</a:t>
            </a:r>
          </a:p>
        </p:txBody>
      </p:sp>
      <p:sp>
        <p:nvSpPr>
          <p:cNvPr id="15" name="guided-step-detail-3">
            <a:extLst xmlns:a="http://schemas.openxmlformats.org/drawingml/2006/main">
              <a:ext uri="{FF2B5EF4-FFF2-40B4-BE49-F238E27FC236}">
                <a16:creationId xmlns:a16="http://schemas.microsoft.com/office/drawing/2014/main" id="{D8A02B72-4067-437C-864A-A2936F78C6B7}"/>
              </a:ext>
            </a:extLst>
          </p:cNvPr>
          <p:cNvSpPr>
            <a:spLocks xmlns:a="http://schemas.openxmlformats.org/drawingml/2006/main" noGrp="1"/>
          </p:cNvSpPr>
          <p:nvPr/>
        </p:nvSpPr>
        <p:spPr>
          <a:xfrm xmlns:a="http://schemas.openxmlformats.org/drawingml/2006/main">
            <a:off x="41910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Connect evidence to a supported judgement.</a:t>
            </a:r>
          </a:p>
        </p:txBody>
      </p:sp>
      <p:sp>
        <p:nvSpPr>
          <p:cNvPr id="16" name="guided-step-line-3">
            <a:extLst xmlns:a="http://schemas.openxmlformats.org/drawingml/2006/main">
              <a:ext uri="{FF2B5EF4-FFF2-40B4-BE49-F238E27FC236}">
                <a16:creationId xmlns:a16="http://schemas.microsoft.com/office/drawing/2014/main" id="{39510617-86FD-40E8-A704-331C6D96579B}"/>
              </a:ext>
            </a:extLst>
          </p:cNvPr>
          <p:cNvSpPr>
            <a:spLocks xmlns:a="http://schemas.openxmlformats.org/drawingml/2006/main" noGrp="1"/>
          </p:cNvSpPr>
          <p:nvPr/>
        </p:nvSpPr>
        <p:spPr>
          <a:xfrm xmlns:a="http://schemas.openxmlformats.org/drawingml/2006/main">
            <a:off x="54864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7" name="guided-step-number-4">
            <a:extLst xmlns:a="http://schemas.openxmlformats.org/drawingml/2006/main">
              <a:ext uri="{FF2B5EF4-FFF2-40B4-BE49-F238E27FC236}">
                <a16:creationId xmlns:a16="http://schemas.microsoft.com/office/drawing/2014/main" id="{5681C4B4-F3AB-42C6-8F66-A72AF4C41042}"/>
              </a:ext>
            </a:extLst>
          </p:cNvPr>
          <p:cNvSpPr>
            <a:spLocks xmlns:a="http://schemas.openxmlformats.org/drawingml/2006/main" noGrp="1"/>
          </p:cNvSpPr>
          <p:nvPr/>
        </p:nvSpPr>
        <p:spPr>
          <a:xfrm xmlns:a="http://schemas.openxmlformats.org/drawingml/2006/main">
            <a:off x="59436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04</a:t>
            </a:r>
          </a:p>
        </p:txBody>
      </p:sp>
      <p:sp>
        <p:nvSpPr>
          <p:cNvPr id="18" name="guided-step-label-4">
            <a:extLst xmlns:a="http://schemas.openxmlformats.org/drawingml/2006/main">
              <a:ext uri="{FF2B5EF4-FFF2-40B4-BE49-F238E27FC236}">
                <a16:creationId xmlns:a16="http://schemas.microsoft.com/office/drawing/2014/main" id="{73CD7C7C-3CE4-49A9-9A7C-F291DFAA3D4D}"/>
              </a:ext>
            </a:extLst>
          </p:cNvPr>
          <p:cNvSpPr>
            <a:spLocks xmlns:a="http://schemas.openxmlformats.org/drawingml/2006/main" noGrp="1"/>
          </p:cNvSpPr>
          <p:nvPr/>
        </p:nvSpPr>
        <p:spPr>
          <a:xfrm xmlns:a="http://schemas.openxmlformats.org/drawingml/2006/main">
            <a:off x="59436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CHECK</a:t>
            </a:r>
          </a:p>
        </p:txBody>
      </p:sp>
      <p:sp>
        <p:nvSpPr>
          <p:cNvPr id="19" name="guided-step-detail-4">
            <a:extLst xmlns:a="http://schemas.openxmlformats.org/drawingml/2006/main">
              <a:ext uri="{FF2B5EF4-FFF2-40B4-BE49-F238E27FC236}">
                <a16:creationId xmlns:a16="http://schemas.microsoft.com/office/drawing/2014/main" id="{4DBBA0BE-111A-4D26-ACA3-5DD075A42487}"/>
              </a:ext>
            </a:extLst>
          </p:cNvPr>
          <p:cNvSpPr>
            <a:spLocks xmlns:a="http://schemas.openxmlformats.org/drawingml/2006/main" noGrp="1"/>
          </p:cNvSpPr>
          <p:nvPr/>
        </p:nvSpPr>
        <p:spPr>
          <a:xfrm xmlns:a="http://schemas.openxmlformats.org/drawingml/2006/main">
            <a:off x="59436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Answer every part and test the criteria.</a:t>
            </a:r>
          </a:p>
        </p:txBody>
      </p:sp>
      <p:sp>
        <p:nvSpPr>
          <p:cNvPr id="20" name="guided-success-band">
            <a:extLst xmlns:a="http://schemas.openxmlformats.org/drawingml/2006/main">
              <a:ext uri="{FF2B5EF4-FFF2-40B4-BE49-F238E27FC236}">
                <a16:creationId xmlns:a16="http://schemas.microsoft.com/office/drawing/2014/main" id="{BFA7FDFE-8410-4103-AA28-71480FD7659F}"/>
              </a:ext>
            </a:extLst>
          </p:cNvPr>
          <p:cNvSpPr>
            <a:spLocks xmlns:a="http://schemas.openxmlformats.org/drawingml/2006/main" noGrp="1"/>
          </p:cNvSpPr>
          <p:nvPr/>
        </p:nvSpPr>
        <p:spPr>
          <a:xfrm xmlns:a="http://schemas.openxmlformats.org/drawingml/2006/main">
            <a:off x="685800" y="5410200"/>
            <a:ext cx="10820400" cy="742950"/>
          </a:xfrm>
          <a:prstGeom xmlns:a="http://schemas.openxmlformats.org/drawingml/2006/main" prst="roundRect">
            <a:avLst>
              <a:gd name="adj" fmla="val 17949"/>
            </a:avLst>
          </a:prstGeom>
          <a:solidFill xmlns:a="http://schemas.openxmlformats.org/drawingml/2006/main">
            <a:srgbClr val="E5EFEA"/>
          </a:solidFill>
          <a:ln xmlns:a="http://schemas.openxmlformats.org/drawingml/2006/main" w="0">
            <a:noFill/>
            <a:prstDash val="solid"/>
          </a:ln>
        </p:spPr>
      </p:sp>
      <p:sp>
        <p:nvSpPr>
          <p:cNvPr id="21" name="guided-success-label">
            <a:extLst xmlns:a="http://schemas.openxmlformats.org/drawingml/2006/main">
              <a:ext uri="{FF2B5EF4-FFF2-40B4-BE49-F238E27FC236}">
                <a16:creationId xmlns:a16="http://schemas.microsoft.com/office/drawing/2014/main" id="{5DC86785-1350-4586-918F-B0AB00265D84}"/>
              </a:ext>
            </a:extLst>
          </p:cNvPr>
          <p:cNvSpPr>
            <a:spLocks xmlns:a="http://schemas.openxmlformats.org/drawingml/2006/main" noGrp="1"/>
          </p:cNvSpPr>
          <p:nvPr/>
        </p:nvSpPr>
        <p:spPr>
          <a:xfrm xmlns:a="http://schemas.openxmlformats.org/drawingml/2006/main">
            <a:off x="933450" y="55054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CHECK YOUR RESPONSE</a:t>
            </a:r>
          </a:p>
        </p:txBody>
      </p:sp>
      <p:sp>
        <p:nvSpPr>
          <p:cNvPr id="22" name="guided-success-text">
            <a:extLst xmlns:a="http://schemas.openxmlformats.org/drawingml/2006/main">
              <a:ext uri="{FF2B5EF4-FFF2-40B4-BE49-F238E27FC236}">
                <a16:creationId xmlns:a16="http://schemas.microsoft.com/office/drawing/2014/main" id="{05050DCA-3E05-44A5-B3D0-9E3BC3BC91E5}"/>
              </a:ext>
            </a:extLst>
          </p:cNvPr>
          <p:cNvSpPr>
            <a:spLocks xmlns:a="http://schemas.openxmlformats.org/drawingml/2006/main" noGrp="1"/>
          </p:cNvSpPr>
          <p:nvPr/>
        </p:nvSpPr>
        <p:spPr>
          <a:xfrm xmlns:a="http://schemas.openxmlformats.org/drawingml/2006/main">
            <a:off x="933450" y="571500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Separates forecast, revenue, cost and profit accurately.</a:t>
            </a:r>
          </a:p>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Uses multiple indicators and acknowledges evidence limits.</a:t>
            </a:r>
          </a:p>
        </p:txBody>
      </p:sp>
      <p:sp>
        <p:nvSpPr>
          <p:cNvPr id="23" name="guided-visual-notice">
            <a:extLst xmlns:a="http://schemas.openxmlformats.org/drawingml/2006/main">
              <a:ext uri="{FF2B5EF4-FFF2-40B4-BE49-F238E27FC236}">
                <a16:creationId xmlns:a16="http://schemas.microsoft.com/office/drawing/2014/main" id="{708A8212-FFC4-4117-98AB-2287A3F2536D}"/>
              </a:ext>
            </a:extLst>
          </p:cNvPr>
          <p:cNvSpPr>
            <a:spLocks xmlns:a="http://schemas.openxmlformats.org/drawingml/2006/main" noGrp="1"/>
          </p:cNvSpPr>
          <p:nvPr/>
        </p:nvSpPr>
        <p:spPr>
          <a:xfrm xmlns:a="http://schemas.openxmlformats.org/drawingml/2006/main">
            <a:off x="8210550" y="48768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0">
                <a:solidFill>
                  <a:srgbClr val="52616A"/>
                </a:solidFill>
                <a:latin typeface="Aptos"/>
                <a:ea typeface="Aptos"/>
                <a:cs typeface="Aptos"/>
              </a:defRPr>
            </a:pPr>
            <a:r>
              <a:rPr sz="1050" b="0">
                <a:solidFill>
                  <a:srgbClr val="52616A"/>
                </a:solidFill>
                <a:latin typeface="Aptos"/>
                <a:ea typeface="Aptos"/>
                <a:cs typeface="Aptos"/>
              </a:rPr>
              <a:t>Notice the different evidence types and how they are organised. Which item shows the work, and which item helps explain the learning?</a:t>
            </a:r>
          </a:p>
        </p:txBody>
      </p:sp>
      <p:sp>
        <p:nvSpPr>
          <p:cNvPr id="24" name="footer-rule-7">
            <a:extLst xmlns:a="http://schemas.openxmlformats.org/drawingml/2006/main">
              <a:ext uri="{FF2B5EF4-FFF2-40B4-BE49-F238E27FC236}">
                <a16:creationId xmlns:a16="http://schemas.microsoft.com/office/drawing/2014/main" id="{0C8329F6-7785-444C-961F-8BFFB65FB116}"/>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25" name="footer-module-7">
            <a:extLst xmlns:a="http://schemas.openxmlformats.org/drawingml/2006/main">
              <a:ext uri="{FF2B5EF4-FFF2-40B4-BE49-F238E27FC236}">
                <a16:creationId xmlns:a16="http://schemas.microsoft.com/office/drawing/2014/main" id="{55D058C0-C586-4575-9C1D-30E93FF1F1E9}"/>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M08  ·  Self-Employment</a:t>
            </a:r>
          </a:p>
        </p:txBody>
      </p:sp>
      <p:sp>
        <p:nvSpPr>
          <p:cNvPr id="26" name="footer-number-7">
            <a:extLst xmlns:a="http://schemas.openxmlformats.org/drawingml/2006/main">
              <a:ext uri="{FF2B5EF4-FFF2-40B4-BE49-F238E27FC236}">
                <a16:creationId xmlns:a16="http://schemas.microsoft.com/office/drawing/2014/main" id="{14ECC54C-020C-4E6B-8498-54AF4DDCC7A6}"/>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07</a:t>
            </a:r>
          </a:p>
        </p:txBody>
      </p:sp>
    </p:spTree>
    <p:extLst>
      <p:ext uri="{BB962C8B-B14F-4D97-AF65-F5344CB8AC3E}">
        <p14:creationId xmlns:p14="http://schemas.microsoft.com/office/powerpoint/2010/main" val="1004015385"/>
      </p:ext>
    </p:extLst>
  </p:cSld>
</p:sld>
</file>

<file path=ppt/slides/slide8.xml><?xml version="1.0" encoding="utf-8"?>
<p:sld xmlns:p="http://schemas.openxmlformats.org/presentationml/2006/main">
  <p:cSld>
    <p:bg>
      <p:bgPr>
        <a:solidFill xmlns:a="http://schemas.openxmlformats.org/drawingml/2006/main">
          <a:srgbClr val="1F5141"/>
        </a:solidFill>
      </p:bgPr>
    </p:bg>
    <p:spTree>
      <p:nvGrpSpPr>
        <p:cNvPr id="1" name=""/>
        <p:cNvGrpSpPr/>
        <p:nvPr/>
      </p:nvGrpSpPr>
      <p:grpSpPr>
        <a:xfrm xmlns:a="http://schemas.openxmlformats.org/drawingml/2006/main"/>
      </p:grpSpPr>
      <p:sp>
        <p:nvSpPr>
          <p:cNvPr id="18" name="module-label-8">
            <a:extLst xmlns:a="http://schemas.openxmlformats.org/drawingml/2006/main">
              <a:ext uri="{FF2B5EF4-FFF2-40B4-BE49-F238E27FC236}">
                <a16:creationId xmlns:a16="http://schemas.microsoft.com/office/drawing/2014/main" id="{A31026B7-6C1F-45E9-9018-E5780134188C}"/>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12  ·  M08</a:t>
            </a:r>
          </a:p>
        </p:txBody>
      </p:sp>
      <p:sp>
        <p:nvSpPr>
          <p:cNvPr id="2" name="slide-title-8">
            <a:extLst xmlns:a="http://schemas.openxmlformats.org/drawingml/2006/main">
              <a:ext uri="{FF2B5EF4-FFF2-40B4-BE49-F238E27FC236}">
                <a16:creationId xmlns:a16="http://schemas.microsoft.com/office/drawing/2014/main" id="{D62867B1-A128-43D5-9DD1-1F7736471693}"/>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Leave with evidence and one useful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96ffdf0d3f443a8"/>
          <a:srcRect xmlns:a="http://schemas.openxmlformats.org/drawingml/2006/main" l="0" t="1263" r="0" b="1263"/>
          <a:stretch xmlns:a="http://schemas.openxmlformats.org/drawingml/2006/main">
            <a:fillRect l="0" t="0" r="0" b="0"/>
          </a:stretch>
        </p:blipFill>
        <p:spPr>
          <a:xfrm xmlns:a="http://schemas.openxmlformats.org/drawingml/2006/main">
            <a:off x="7734300" y="1333500"/>
            <a:ext cx="3771900" cy="3676650"/>
          </a:xfrm>
          <a:prstGeom xmlns:a="http://schemas.openxmlformats.org/drawingml/2006/main" prst="roundRect">
            <a:avLst>
              <a:gd name="adj" fmla="val 5699"/>
            </a:avLst>
          </a:prstGeom>
        </p:spPr>
      </p:pic>
      <p:sp>
        <p:nvSpPr>
          <p:cNvPr id="4" name="close-number-1">
            <a:extLst xmlns:a="http://schemas.openxmlformats.org/drawingml/2006/main">
              <a:ext uri="{FF2B5EF4-FFF2-40B4-BE49-F238E27FC236}">
                <a16:creationId xmlns:a16="http://schemas.microsoft.com/office/drawing/2014/main" id="{54F8CE86-B217-4CB2-A382-890D869E1D46}"/>
              </a:ext>
            </a:extLst>
          </p:cNvPr>
          <p:cNvSpPr>
            <a:spLocks xmlns:a="http://schemas.openxmlformats.org/drawingml/2006/main" noGrp="1"/>
          </p:cNvSpPr>
          <p:nvPr/>
        </p:nvSpPr>
        <p:spPr>
          <a:xfrm xmlns:a="http://schemas.openxmlformats.org/drawingml/2006/main">
            <a:off x="685800" y="14859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01</a:t>
            </a:r>
          </a:p>
        </p:txBody>
      </p:sp>
      <p:sp>
        <p:nvSpPr>
          <p:cNvPr id="5" name="close-label-1">
            <a:extLst xmlns:a="http://schemas.openxmlformats.org/drawingml/2006/main">
              <a:ext uri="{FF2B5EF4-FFF2-40B4-BE49-F238E27FC236}">
                <a16:creationId xmlns:a16="http://schemas.microsoft.com/office/drawing/2014/main" id="{C421AF75-9BB1-4FE1-8ACF-F96E75E85C01}"/>
              </a:ext>
            </a:extLst>
          </p:cNvPr>
          <p:cNvSpPr>
            <a:spLocks xmlns:a="http://schemas.openxmlformats.org/drawingml/2006/main" noGrp="1"/>
          </p:cNvSpPr>
          <p:nvPr/>
        </p:nvSpPr>
        <p:spPr>
          <a:xfrm xmlns:a="http://schemas.openxmlformats.org/drawingml/2006/main">
            <a:off x="1638300" y="1504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RECALL</a:t>
            </a:r>
          </a:p>
        </p:txBody>
      </p:sp>
      <p:sp>
        <p:nvSpPr>
          <p:cNvPr id="6" name="close-body-1">
            <a:extLst xmlns:a="http://schemas.openxmlformats.org/drawingml/2006/main">
              <a:ext uri="{FF2B5EF4-FFF2-40B4-BE49-F238E27FC236}">
                <a16:creationId xmlns:a16="http://schemas.microsoft.com/office/drawing/2014/main" id="{7CD9457B-6F6E-41C3-847B-4D7BA64DF51C}"/>
              </a:ext>
            </a:extLst>
          </p:cNvPr>
          <p:cNvSpPr>
            <a:spLocks xmlns:a="http://schemas.openxmlformats.org/drawingml/2006/main" noGrp="1"/>
          </p:cNvSpPr>
          <p:nvPr/>
        </p:nvSpPr>
        <p:spPr>
          <a:xfrm xmlns:a="http://schemas.openxmlformats.org/drawingml/2006/main">
            <a:off x="1638300" y="18859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Name one idea you can now explain accurately.</a:t>
            </a:r>
          </a:p>
        </p:txBody>
      </p:sp>
      <p:sp>
        <p:nvSpPr>
          <p:cNvPr id="7" name="close-number-2">
            <a:extLst xmlns:a="http://schemas.openxmlformats.org/drawingml/2006/main">
              <a:ext uri="{FF2B5EF4-FFF2-40B4-BE49-F238E27FC236}">
                <a16:creationId xmlns:a16="http://schemas.microsoft.com/office/drawing/2014/main" id="{6A14855C-7B27-4F41-BE15-BBA3535163D0}"/>
              </a:ext>
            </a:extLst>
          </p:cNvPr>
          <p:cNvSpPr>
            <a:spLocks xmlns:a="http://schemas.openxmlformats.org/drawingml/2006/main" noGrp="1"/>
          </p:cNvSpPr>
          <p:nvPr/>
        </p:nvSpPr>
        <p:spPr>
          <a:xfrm xmlns:a="http://schemas.openxmlformats.org/drawingml/2006/main">
            <a:off x="685800" y="27051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02</a:t>
            </a:r>
          </a:p>
        </p:txBody>
      </p:sp>
      <p:sp>
        <p:nvSpPr>
          <p:cNvPr id="8" name="close-label-2">
            <a:extLst xmlns:a="http://schemas.openxmlformats.org/drawingml/2006/main">
              <a:ext uri="{FF2B5EF4-FFF2-40B4-BE49-F238E27FC236}">
                <a16:creationId xmlns:a16="http://schemas.microsoft.com/office/drawing/2014/main" id="{0B2F1B99-9A0D-4AD7-B8D4-10C77FBCAB1A}"/>
              </a:ext>
            </a:extLst>
          </p:cNvPr>
          <p:cNvSpPr>
            <a:spLocks xmlns:a="http://schemas.openxmlformats.org/drawingml/2006/main" noGrp="1"/>
          </p:cNvSpPr>
          <p:nvPr/>
        </p:nvSpPr>
        <p:spPr>
          <a:xfrm xmlns:a="http://schemas.openxmlformats.org/drawingml/2006/main">
            <a:off x="1638300" y="27241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EVIDENCE</a:t>
            </a:r>
          </a:p>
        </p:txBody>
      </p:sp>
      <p:sp>
        <p:nvSpPr>
          <p:cNvPr id="9" name="close-body-2">
            <a:extLst xmlns:a="http://schemas.openxmlformats.org/drawingml/2006/main">
              <a:ext uri="{FF2B5EF4-FFF2-40B4-BE49-F238E27FC236}">
                <a16:creationId xmlns:a16="http://schemas.microsoft.com/office/drawing/2014/main" id="{84E0FF59-6E9D-458C-AA48-51AA926A7ADF}"/>
              </a:ext>
            </a:extLst>
          </p:cNvPr>
          <p:cNvSpPr>
            <a:spLocks xmlns:a="http://schemas.openxmlformats.org/drawingml/2006/main" noGrp="1"/>
          </p:cNvSpPr>
          <p:nvPr/>
        </p:nvSpPr>
        <p:spPr>
          <a:xfrm xmlns:a="http://schemas.openxmlformats.org/drawingml/2006/main">
            <a:off x="1638300" y="31051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Record the detail that makes your explanation convincing.</a:t>
            </a:r>
          </a:p>
        </p:txBody>
      </p:sp>
      <p:sp>
        <p:nvSpPr>
          <p:cNvPr id="10" name="close-number-3">
            <a:extLst xmlns:a="http://schemas.openxmlformats.org/drawingml/2006/main">
              <a:ext uri="{FF2B5EF4-FFF2-40B4-BE49-F238E27FC236}">
                <a16:creationId xmlns:a16="http://schemas.microsoft.com/office/drawing/2014/main" id="{E6423295-FFDE-449E-9407-7BC83586536E}"/>
              </a:ext>
            </a:extLst>
          </p:cNvPr>
          <p:cNvSpPr>
            <a:spLocks xmlns:a="http://schemas.openxmlformats.org/drawingml/2006/main" noGrp="1"/>
          </p:cNvSpPr>
          <p:nvPr/>
        </p:nvSpPr>
        <p:spPr>
          <a:xfrm xmlns:a="http://schemas.openxmlformats.org/drawingml/2006/main">
            <a:off x="685800" y="39243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03</a:t>
            </a:r>
          </a:p>
        </p:txBody>
      </p:sp>
      <p:sp>
        <p:nvSpPr>
          <p:cNvPr id="11" name="close-label-3">
            <a:extLst xmlns:a="http://schemas.openxmlformats.org/drawingml/2006/main">
              <a:ext uri="{FF2B5EF4-FFF2-40B4-BE49-F238E27FC236}">
                <a16:creationId xmlns:a16="http://schemas.microsoft.com/office/drawing/2014/main" id="{31368677-CEE6-4D96-923F-36320D7D3248}"/>
              </a:ext>
            </a:extLst>
          </p:cNvPr>
          <p:cNvSpPr>
            <a:spLocks xmlns:a="http://schemas.openxmlformats.org/drawingml/2006/main" noGrp="1"/>
          </p:cNvSpPr>
          <p:nvPr/>
        </p:nvSpPr>
        <p:spPr>
          <a:xfrm xmlns:a="http://schemas.openxmlformats.org/drawingml/2006/main">
            <a:off x="1638300" y="39433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NEXT</a:t>
            </a:r>
          </a:p>
        </p:txBody>
      </p:sp>
      <p:sp>
        <p:nvSpPr>
          <p:cNvPr id="12" name="close-body-3">
            <a:extLst xmlns:a="http://schemas.openxmlformats.org/drawingml/2006/main">
              <a:ext uri="{FF2B5EF4-FFF2-40B4-BE49-F238E27FC236}">
                <a16:creationId xmlns:a16="http://schemas.microsoft.com/office/drawing/2014/main" id="{8F6534E7-84D6-46B3-9FCF-134E496BBE32}"/>
              </a:ext>
            </a:extLst>
          </p:cNvPr>
          <p:cNvSpPr>
            <a:spLocks xmlns:a="http://schemas.openxmlformats.org/drawingml/2006/main" noGrp="1"/>
          </p:cNvSpPr>
          <p:nvPr/>
        </p:nvSpPr>
        <p:spPr>
          <a:xfrm xmlns:a="http://schemas.openxmlformats.org/drawingml/2006/main">
            <a:off x="1638300" y="43243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Save the slide 7 response, then note one question about planning, communicating and reviewing a micro-enterprise.</a:t>
            </a:r>
          </a:p>
        </p:txBody>
      </p:sp>
      <p:sp>
        <p:nvSpPr>
          <p:cNvPr id="13" name="close-boundary">
            <a:extLst xmlns:a="http://schemas.openxmlformats.org/drawingml/2006/main">
              <a:ext uri="{FF2B5EF4-FFF2-40B4-BE49-F238E27FC236}">
                <a16:creationId xmlns:a16="http://schemas.microsoft.com/office/drawing/2014/main" id="{D6E69BFF-3753-400D-8E04-70A6E0466C52}"/>
              </a:ext>
            </a:extLst>
          </p:cNvPr>
          <p:cNvSpPr>
            <a:spLocks xmlns:a="http://schemas.openxmlformats.org/drawingml/2006/main" noGrp="1"/>
          </p:cNvSpPr>
          <p:nvPr/>
        </p:nvSpPr>
        <p:spPr>
          <a:xfrm xmlns:a="http://schemas.openxmlformats.org/drawingml/2006/main">
            <a:off x="685800" y="5257800"/>
            <a:ext cx="10820400" cy="87630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0">
            <a:noFill/>
            <a:prstDash val="solid"/>
          </a:ln>
        </p:spPr>
      </p:sp>
      <p:sp>
        <p:nvSpPr>
          <p:cNvPr id="14" name="close-boundary-text">
            <a:extLst xmlns:a="http://schemas.openxmlformats.org/drawingml/2006/main">
              <a:ext uri="{FF2B5EF4-FFF2-40B4-BE49-F238E27FC236}">
                <a16:creationId xmlns:a16="http://schemas.microsoft.com/office/drawing/2014/main" id="{D1891813-F93C-4FAA-A1CE-85941297CBC0}"/>
              </a:ext>
            </a:extLst>
          </p:cNvPr>
          <p:cNvSpPr>
            <a:spLocks xmlns:a="http://schemas.openxmlformats.org/drawingml/2006/main" noGrp="1"/>
          </p:cNvSpPr>
          <p:nvPr/>
        </p:nvSpPr>
        <p:spPr>
          <a:xfrm xmlns:a="http://schemas.openxmlformats.org/drawingml/2006/main">
            <a:off x="990600" y="5495925"/>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575" b="1">
                <a:solidFill>
                  <a:srgbClr val="0B2637"/>
                </a:solidFill>
                <a:latin typeface="Aptos"/>
                <a:ea typeface="Aptos"/>
                <a:cs typeface="Aptos"/>
              </a:defRPr>
            </a:pPr>
            <a:r>
              <a:rPr sz="1575" b="1">
                <a:solidFill>
                  <a:srgbClr val="0B2637"/>
                </a:solidFill>
                <a:latin typeface="Aptos"/>
                <a:ea typeface="Aptos"/>
                <a:cs typeface="Aptos"/>
              </a:rPr>
              <a:t>Save this as formative learning evidence. It is not an assessment submission. Follow the current teacher notice for any formal task.</a:t>
            </a:r>
          </a:p>
        </p:txBody>
      </p:sp>
      <p:sp>
        <p:nvSpPr>
          <p:cNvPr id="15" name="footer-rule-8">
            <a:extLst xmlns:a="http://schemas.openxmlformats.org/drawingml/2006/main">
              <a:ext uri="{FF2B5EF4-FFF2-40B4-BE49-F238E27FC236}">
                <a16:creationId xmlns:a16="http://schemas.microsoft.com/office/drawing/2014/main" id="{348AF286-AF29-40E7-B53A-42DDDEFB2865}"/>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6" name="footer-module-8">
            <a:extLst xmlns:a="http://schemas.openxmlformats.org/drawingml/2006/main">
              <a:ext uri="{FF2B5EF4-FFF2-40B4-BE49-F238E27FC236}">
                <a16:creationId xmlns:a16="http://schemas.microsoft.com/office/drawing/2014/main" id="{50832402-05FE-4949-882C-A7A1CB39914E}"/>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M08  ·  Self-Employment</a:t>
            </a:r>
          </a:p>
        </p:txBody>
      </p:sp>
      <p:sp>
        <p:nvSpPr>
          <p:cNvPr id="17" name="footer-number-8">
            <a:extLst xmlns:a="http://schemas.openxmlformats.org/drawingml/2006/main">
              <a:ext uri="{FF2B5EF4-FFF2-40B4-BE49-F238E27FC236}">
                <a16:creationId xmlns:a16="http://schemas.microsoft.com/office/drawing/2014/main" id="{D457CCDE-C488-424F-BDB3-5EE43E610156}"/>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08</a:t>
            </a:r>
          </a:p>
        </p:txBody>
      </p:sp>
    </p:spTree>
    <p:extLst>
      <p:ext uri="{BB962C8B-B14F-4D97-AF65-F5344CB8AC3E}">
        <p14:creationId xmlns:p14="http://schemas.microsoft.com/office/powerpoint/2010/main" val="10676974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2026-08-31T09:25:44.2410000Z</dcterms:created>
  <dcterms:modified xsi:type="dcterms:W3CDTF">2026-08-31T09:25:44.2410000Z</dcterms:modified>
</coreProperties>
</file>