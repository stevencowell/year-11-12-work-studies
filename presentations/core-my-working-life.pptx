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a091081bdb4c99" /><Relationship Type="http://schemas.openxmlformats.org/officeDocument/2006/relationships/extended-properties" Target="/docProps/app.xml" Id="R56fc58e7854846b2" /><Relationship Type="http://schemas.openxmlformats.org/officeDocument/2006/relationships/officeDocument" Target="/ppt/presentation.xml" Id="R2c27db184c664cb6" /></Relationships>
</file>

<file path=ppt/presentation.xml><?xml version="1.0" encoding="utf-8"?>
<p:presentation xmlns:p="http://schemas.openxmlformats.org/presentationml/2006/main">
  <p:sldMasterIdLst>
    <p:sldMasterId xmlns:r="http://schemas.openxmlformats.org/officeDocument/2006/relationships" id="2147483648" r:id="R309fb678db404d16"/>
  </p:sldMasterIdLst>
  <p:notesMasterIdLst>
    <p:notesMasterId xmlns:r="http://schemas.openxmlformats.org/officeDocument/2006/relationships" r:id="R804a2c60a4d74f8f"/>
  </p:notesMasterIdLst>
  <p:sldIdLst>
    <p:sldId xmlns:r="http://schemas.openxmlformats.org/officeDocument/2006/relationships" id="256" r:id="R89f91d24a5774892"/>
    <p:sldId xmlns:r="http://schemas.openxmlformats.org/officeDocument/2006/relationships" id="257" r:id="Ra519c7283a2a4104"/>
    <p:sldId xmlns:r="http://schemas.openxmlformats.org/officeDocument/2006/relationships" id="258" r:id="R61476ea9b3504f4e"/>
    <p:sldId xmlns:r="http://schemas.openxmlformats.org/officeDocument/2006/relationships" id="259" r:id="Rd60c377e3ca544db"/>
    <p:sldId xmlns:r="http://schemas.openxmlformats.org/officeDocument/2006/relationships" id="260" r:id="R4a61c3ac10b84fb6"/>
    <p:sldId xmlns:r="http://schemas.openxmlformats.org/officeDocument/2006/relationships" id="261" r:id="R4d8cc7f5ae0f4470"/>
    <p:sldId xmlns:r="http://schemas.openxmlformats.org/officeDocument/2006/relationships" id="262" r:id="R07e741c3a388478f"/>
    <p:sldId xmlns:r="http://schemas.openxmlformats.org/officeDocument/2006/relationships" id="263" r:id="R6ccce1e32cd841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23d270ea3544c6" /><Relationship Type="http://schemas.openxmlformats.org/officeDocument/2006/relationships/slideMaster" Target="/ppt/slideMasters/slideMaster1.xml" Id="R309fb678db404d16" /><Relationship Type="http://schemas.openxmlformats.org/officeDocument/2006/relationships/notesMaster" Target="/ppt/notesMasters/notesMaster1.xml" Id="R804a2c60a4d74f8f" /><Relationship Type="http://schemas.openxmlformats.org/officeDocument/2006/relationships/presProps" Target="/ppt/presProps.xml" Id="R0a542c6a1e7143ec" /><Relationship Type="http://schemas.openxmlformats.org/officeDocument/2006/relationships/tableStyles" Target="/ppt/tableStyles.xml" Id="R42222d85d087418d" /><Relationship Type="http://schemas.openxmlformats.org/officeDocument/2006/relationships/slide" Target="/ppt/slides/slide1.xml" Id="R89f91d24a5774892" /><Relationship Type="http://schemas.openxmlformats.org/officeDocument/2006/relationships/slide" Target="/ppt/slides/slide2.xml" Id="Ra519c7283a2a4104" /><Relationship Type="http://schemas.openxmlformats.org/officeDocument/2006/relationships/slide" Target="/ppt/slides/slide3.xml" Id="R61476ea9b3504f4e" /><Relationship Type="http://schemas.openxmlformats.org/officeDocument/2006/relationships/slide" Target="/ppt/slides/slide4.xml" Id="Rd60c377e3ca544db" /><Relationship Type="http://schemas.openxmlformats.org/officeDocument/2006/relationships/slide" Target="/ppt/slides/slide5.xml" Id="R4a61c3ac10b84fb6" /><Relationship Type="http://schemas.openxmlformats.org/officeDocument/2006/relationships/slide" Target="/ppt/slides/slide6.xml" Id="R4d8cc7f5ae0f4470" /><Relationship Type="http://schemas.openxmlformats.org/officeDocument/2006/relationships/slide" Target="/ppt/slides/slide7.xml" Id="R07e741c3a388478f" /><Relationship Type="http://schemas.openxmlformats.org/officeDocument/2006/relationships/slide" Target="/ppt/slides/slide8.xml" Id="R6ccce1e32cd841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49cd0008242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6fbb40b3c4bb3" /><Relationship Type="http://schemas.openxmlformats.org/officeDocument/2006/relationships/notesMaster" Target="/ppt/notesMasters/notesMaster1.xml" Id="R75fb69b4e90446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1ddb32282b4f65" /><Relationship Type="http://schemas.openxmlformats.org/officeDocument/2006/relationships/notesMaster" Target="/ppt/notesMasters/notesMaster1.xml" Id="R576bcdd498b44c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50e46209354eb6" /><Relationship Type="http://schemas.openxmlformats.org/officeDocument/2006/relationships/notesMaster" Target="/ppt/notesMasters/notesMaster1.xml" Id="Rdac844527db946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364720045a4ac5" /><Relationship Type="http://schemas.openxmlformats.org/officeDocument/2006/relationships/notesMaster" Target="/ppt/notesMasters/notesMaster1.xml" Id="Rf5d89b0d633040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d2367ba2cc4805" /><Relationship Type="http://schemas.openxmlformats.org/officeDocument/2006/relationships/notesMaster" Target="/ppt/notesMasters/notesMaster1.xml" Id="R5337bbab416f40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e7f158c1c24283" /><Relationship Type="http://schemas.openxmlformats.org/officeDocument/2006/relationships/notesMaster" Target="/ppt/notesMasters/notesMaster1.xml" Id="Rc70654c5ff624b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fa7fb1de9b4fca" /><Relationship Type="http://schemas.openxmlformats.org/officeDocument/2006/relationships/notesMaster" Target="/ppt/notesMasters/notesMaster1.xml" Id="R516556f573e341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0b65e5dc404844" /><Relationship Type="http://schemas.openxmlformats.org/officeDocument/2006/relationships/notesMaster" Target="/ppt/notesMasters/notesMaster1.xml" Id="R6a291598476649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Core: My Working Life.</a:t>
            </a:r>
          </a:p>
          <a:p xmlns:a="http://schemas.openxmlformats.org/drawingml/2006/main">
            <a:r>
              <a:t/>
            </a:r>
          </a:p>
          <a:p xmlns:a="http://schemas.openxmlformats.org/drawingml/2006/main">
            <a:r>
              <a:t>Talking points</a:t>
            </a:r>
          </a:p>
          <a:p xmlns:a="http://schemas.openxmlformats.org/drawingml/2006/main">
            <a:r>
              <a:t>- Understand changing work, make informed pathway decisions and build a sustainable working life.</a:t>
            </a:r>
          </a:p>
          <a:p xmlns:a="http://schemas.openxmlformats.org/drawingml/2006/main">
            <a:r>
              <a:t>- Name the three learning areas without teaching them yet: Work in contemporary Australia; Self-knowledge, pathways and career decisions; Managing change and building a sustainable working life.</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Work in contemporary Australia: Understand how work environments, employment patterns and wider change shape people’s working lives.</a:t>
            </a:r>
          </a:p>
          <a:p xmlns:a="http://schemas.openxmlformats.org/drawingml/2006/main">
            <a:r>
              <a:t>- 2. Self-knowledge, pathways and career decisions: Use self-knowledge and pathway evidence to make realistic, revisable career decisions.</a:t>
            </a:r>
          </a:p>
          <a:p xmlns:a="http://schemas.openxmlformats.org/drawingml/2006/main">
            <a:r>
              <a:t>- 3. Managing change and building a sustainable working life: Explain how people can manage transitions, wellbeing and continued learning across a changing working life.</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Work in contemporary Australia.</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Understand how work environments, employment patterns and wider change shape people’s working lives.</a:t>
            </a:r>
          </a:p>
          <a:p xmlns:a="http://schemas.openxmlformats.org/drawingml/2006/main">
            <a:r>
              <a:t/>
            </a:r>
          </a:p>
          <a:p xmlns:a="http://schemas.openxmlformats.org/drawingml/2006/main">
            <a:r>
              <a:t>Talking points</a:t>
            </a:r>
          </a:p>
          <a:p xmlns:a="http://schemas.openxmlformats.org/drawingml/2006/main">
            <a:r>
              <a:t>- Work includes more than a permanent paid job. People contribute through full-time, part-time, casual and contract employment, self-employment, unpaid caring, volunteering, study-linked work and work completed in the home or community. A work environment includes the physical or digital setting, the people and relationships, the purpose of the organisation, its expectations and the conditions under which tasks are completed. Understanding these differences matters because the same skill can be used in very different settings, and the same person may move among several types of work across a lifetime.</a:t>
            </a:r>
          </a:p>
          <a:p xmlns:a="http://schemas.openxmlformats.org/drawingml/2006/main">
            <a:r>
              <a:t>- Contemporary working life is shaped by interacting influences. Technology can redesign tasks and create new roles while reducing demand for others. Economic expansion or downturn can affect vacancies, hours and security. Laws, community expectations, global connections, demographic change and environmental pressures can also influence how and where people work. A sound judgement separates a broad trend from a guaranteed personal outcome. It asks what is changing, who is affected, what evidence supports the claim and which skills or pathways could help a person respond.</a:t>
            </a:r>
          </a:p>
          <a:p xmlns:a="http://schemas.openxmlformats.org/drawingml/2006/main">
            <a:r>
              <a:t>- Education, training, experience and standard of living are connected, but not in a simple one-step formula. Qualifications may open access to some occupations; workplace, community and volunteering experiences may build evidence of transferable skills; and income can support choices about housing, transport and further learning. However, pay is only one part of working life. Conditions, purpose, wellbeing, relationships, stability and opportunities to learn also affect whether work is sustainable and satisfying. Career exploration therefore compares a whole pattern of benefits, demands and possible next steps.</a:t>
            </a:r>
          </a:p>
          <a:p xmlns:a="http://schemas.openxmlformats.org/drawingml/2006/main">
            <a:r>
              <a:t>- Worked example — Comparing three early work pathways: Mia is comparing a school-based traineeship, casual weekend retail work and regular volunteering at a community kitchen. She wants income now, customer-service experience and a possible pathway into community services. The casual role offers immediate income and customer contact, while the traineeship combines structured learning with workplace experience. Volunteering is unpaid but may provide credible evidence of reliability, teamwork and service. A balanced comparison checks hours, training, supervision, travel, conditions and the evidence each pathway could produce. Mia could combine options only if the total commitments remain realistic; no single option automatically meets every goal.</a:t>
            </a:r>
          </a:p>
          <a:p xmlns:a="http://schemas.openxmlformats.org/drawingml/2006/main">
            <a:r>
              <a:t>- Visual caption: Contemporary work often links people, places and digital tools inside one task.</a:t>
            </a:r>
          </a:p>
          <a:p xmlns:a="http://schemas.openxmlformats.org/drawingml/2006/main">
            <a:r>
              <a:t>- Visual notice: Notice which parts of the task happen locally and remotely. How does the technology change the worker's role?</a:t>
            </a:r>
          </a:p>
          <a:p xmlns:a="http://schemas.openxmlformats.org/drawingml/2006/main">
            <a:r>
              <a:t>- Applied evidence: Choose three contrasting work environments. Compare their purpose, people, likely employment arrangements, useful skills, benefits and demands. Finish with one evidence-based conclusion about who each environment may suit. A one-page comparison matrix plus a 100-word conclusion that names the evidence used.</a:t>
            </a:r>
          </a:p>
          <a:p xmlns:a="http://schemas.openxmlformats.org/drawingml/2006/main">
            <a:r>
              <a:t/>
            </a:r>
          </a:p>
          <a:p xmlns:a="http://schemas.openxmlformats.org/drawingml/2006/main">
            <a:r>
              <a:t>Prompt: Write one cautious conclusion that distinguishes evidence from prediction.</a:t>
            </a:r>
          </a:p>
          <a:p xmlns:a="http://schemas.openxmlformats.org/drawingml/2006/main">
            <a:r>
              <a:t/>
            </a:r>
          </a:p>
          <a:p xmlns:a="http://schemas.openxmlformats.org/drawingml/2006/main">
            <a:r>
              <a:t>Likely misconception or nuance</a:t>
            </a:r>
          </a:p>
          <a:p xmlns:a="http://schemas.openxmlformats.org/drawingml/2006/main">
            <a:r>
              <a:t>- Only paid employment counts as meaningful work experience. Correction: Unpaid caring, volunteering, school, community and enterprise experiences can develop and demonstrate workplace skills when the evidence is specific and honest.</a:t>
            </a:r>
          </a:p>
          <a:p xmlns:a="http://schemas.openxmlformats.org/drawingml/2006/main">
            <a:r>
              <a:t/>
            </a:r>
          </a:p>
          <a:p xmlns:a="http://schemas.openxmlformats.org/drawingml/2006/main">
            <a:r>
              <a:t>Transition: Move to Self-knowledge, pathways and career decisions.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specialists/visuals/web-ready/c00-s01.webp | original AI-generated raster | SHA-256 bc8539d7153113d137b966de2ae21c48854578123c7afea33506a22d78a1b058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Use self-knowledge and pathway evidence to make realistic, revisable career decisions.</a:t>
            </a:r>
          </a:p>
          <a:p xmlns:a="http://schemas.openxmlformats.org/drawingml/2006/main">
            <a:r>
              <a:t/>
            </a:r>
          </a:p>
          <a:p xmlns:a="http://schemas.openxmlformats.org/drawingml/2006/main">
            <a:r>
              <a:t>Talking points</a:t>
            </a:r>
          </a:p>
          <a:p xmlns:a="http://schemas.openxmlformats.org/drawingml/2006/main">
            <a:r>
              <a:t>- Career decisions become stronger when self-knowledge is specific. Interests describe what attracts attention; values describe what matters; personal attributes describe patterns of behaviour; skills describe what a person can do; and achievements provide evidence of performance. These categories overlap but are not interchangeable. Saying ‘I am good with people’ is a starting claim. Naming a situation, action, response and result turns it into useful evidence that can be compared with the requirements of education, training or work.</a:t>
            </a:r>
          </a:p>
          <a:p xmlns:a="http://schemas.openxmlformats.org/drawingml/2006/main">
            <a:r>
              <a:t>- A career pathway is a sequence of possible steps rather than one guaranteed ladder. Pathways may include school subjects, vocational education and training, university, community learning, entry-level work, apprenticeships or traineeships, volunteering and later retraining. Comparison should check entry requirements, time, cost, location, mode of study, support, work conditions and what successful completion makes possible. Reliable decisions use current source information and distinguish a formal requirement from a helpful preference.</a:t>
            </a:r>
          </a:p>
          <a:p xmlns:a="http://schemas.openxmlformats.org/drawingml/2006/main">
            <a:r>
              <a:t>- Goals connect aspiration to action. A useful goal is clear enough to guide effort, realistic in its context and broken into smaller steps that can be monitored. Career planning also identifies supports: people who can provide advice, networks that can reveal opportunities, resources that reduce barriers and evidence that shows progress. The plan belongs to the learner, but it should be tested against facts and reviewed as circumstances, interests or opportunities change. Changing a plan after learning more is responsible career management, not failure.</a:t>
            </a:r>
          </a:p>
          <a:p xmlns:a="http://schemas.openxmlformats.org/drawingml/2006/main">
            <a:r>
              <a:t>- Worked example — Turning an interest into a tested pathway: Jay enjoys digital design and has made posters for a school event. He is considering a university degree, a vocational course and an entry-level print-shop role, but he has not checked their requirements. Jay first separates interest from evidence: the posters show some design and communication capability, but not every industry skill. He then checks current entry requirements, course content, costs, travel and portfolio expectations for each pathway. His next steps are to improve a small portfolio, seek feedback, compare two verified course sources and arrange an informational conversation. The plan keeps several routes open while producing evidence that will be useful across them.</a:t>
            </a:r>
          </a:p>
          <a:p xmlns:a="http://schemas.openxmlformats.org/drawingml/2006/main">
            <a:r>
              <a:t>- Visual caption: Different interests point towards different possibilities; the decision comes from matching them with evidence about yourself and the pathway.</a:t>
            </a:r>
          </a:p>
          <a:p xmlns:a="http://schemas.openxmlformats.org/drawingml/2006/main">
            <a:r>
              <a:t>- Visual notice: Notice the contrasting objects. Which strengths or preferences might each represent, and what further evidence would a sound choice need?</a:t>
            </a:r>
          </a:p>
          <a:p xmlns:a="http://schemas.openxmlformats.org/drawingml/2006/main">
            <a:r>
              <a:t>- Applied evidence: Select one career direction and compare three possible pathways using current entry requirements, time, cost, location or mode, support and likely next opportunities. Add two pieces of personal evidence and identify one gap to develop. A source-linked pathway board and a sequenced four-step action plan.</a:t>
            </a:r>
          </a:p>
          <a:p xmlns:a="http://schemas.openxmlformats.org/drawingml/2006/main">
            <a:r>
              <a:t/>
            </a:r>
          </a:p>
          <a:p xmlns:a="http://schemas.openxmlformats.org/drawingml/2006/main">
            <a:r>
              <a:t>Prompt: Recommend the next step that would improve the learner’s options most.</a:t>
            </a:r>
          </a:p>
          <a:p xmlns:a="http://schemas.openxmlformats.org/drawingml/2006/main">
            <a:r>
              <a:t/>
            </a:r>
          </a:p>
          <a:p xmlns:a="http://schemas.openxmlformats.org/drawingml/2006/main">
            <a:r>
              <a:t>Likely misconception or nuance</a:t>
            </a:r>
          </a:p>
          <a:p xmlns:a="http://schemas.openxmlformats.org/drawingml/2006/main">
            <a:r>
              <a:t>- A career plan should choose one job for life and never change. Correction: A career plan sets a current direction and useful next steps, then changes when evidence, circumstances or aspirations change.</a:t>
            </a:r>
          </a:p>
          <a:p xmlns:a="http://schemas.openxmlformats.org/drawingml/2006/main">
            <a:r>
              <a:t/>
            </a:r>
          </a:p>
          <a:p xmlns:a="http://schemas.openxmlformats.org/drawingml/2006/main">
            <a:r>
              <a:t>Transition: Move to Managing change and building a sustainable working life.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specialists/visuals/web-ready/c00-s02.webp | original AI-generated raster | SHA-256 adac6f88d04377e2c0e1c55c73771ead06fc10c1dff0f5a4c1e78486498c1ffe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Explain how people can manage transitions, wellbeing and continued learning across a changing working life.</a:t>
            </a:r>
          </a:p>
          <a:p xmlns:a="http://schemas.openxmlformats.org/drawingml/2006/main">
            <a:r>
              <a:t/>
            </a:r>
          </a:p>
          <a:p xmlns:a="http://schemas.openxmlformats.org/drawingml/2006/main">
            <a:r>
              <a:t>Talking points</a:t>
            </a:r>
          </a:p>
          <a:p xmlns:a="http://schemas.openxmlformats.org/drawingml/2006/main">
            <a:r>
              <a:t>- Working lives contain transitions: beginning work, changing hours or roles, learning new technology, moving between study and employment, responding to caring responsibilities, leaving an employer and eventually retiring. Some transitions are chosen and others are imposed. Change can affect income, identity, routines, relationships and confidence at the same time. Effective self-management begins by naming what has changed, separating controllable from uncontrollable factors, gathering reliable information and deciding which immediate action is both safe and useful.</a:t>
            </a:r>
          </a:p>
          <a:p xmlns:a="http://schemas.openxmlformats.org/drawingml/2006/main">
            <a:r>
              <a:t>- Resilience is not silent endurance. It is the capacity to adapt while using support, reflection and problem-solving. Helpful strategies can include clarifying expectations, breaking a problem into steps, seeking feedback, using personal and professional networks, updating skills, reviewing finances and accessing an appropriate support service. Different people have different resources and responsibilities, so the same strategy will not suit everyone. A good response recognises personal agency without blaming an individual for structural conditions they cannot control.</a:t>
            </a:r>
          </a:p>
          <a:p xmlns:a="http://schemas.openxmlformats.org/drawingml/2006/main">
            <a:r>
              <a:t>- A sustainable working life can be maintained over time without repeatedly sacrificing health, relationships, legal responsibilities or essential recovery. Work–life balance is therefore not a perfect daily split. It is an ongoing judgement about commitments, boundaries, income, purpose, rest and support across a life stage. Lifelong learning strengthens adaptability when it is connected to a real need and feasible plan. Regular review points help a person notice emerging strain, recognise progress and revise goals before a temporary pressure becomes an unmanageable pattern.</a:t>
            </a:r>
          </a:p>
          <a:p xmlns:a="http://schemas.openxmlformats.org/drawingml/2006/main">
            <a:r>
              <a:t>- Worked example — Responding to a major roster change: Leila’s employer introduces a new roster and digital system. The roster clashes with a weekly caring responsibility, and Leila is worried because she has not used the software before. Leila separates the two issues. For the roster, she checks the confirmed arrangements and prepares a clear request to discuss the clash rather than assuming the outcome. For the software, she seeks training, practises one task at a time and records questions. She also reviews travel, rest and family support for the transition period. This response combines communication, learning, boundaries and support; it does not require Leila to hide the problem or solve organisational decisions alone.</a:t>
            </a:r>
          </a:p>
          <a:p xmlns:a="http://schemas.openxmlformats.org/drawingml/2006/main">
            <a:r>
              <a:t>- Visual caption: A sustainable response to change combines learning, realistic routines and care for life beyond the job.</a:t>
            </a:r>
          </a:p>
          <a:p xmlns:a="http://schemas.openxmlformats.org/drawingml/2006/main">
            <a:r>
              <a:t>- Visual notice: Notice the work, learning and wellbeing cues in the same scene. Which one would be easiest to neglect during change?</a:t>
            </a:r>
          </a:p>
          <a:p xmlns:a="http://schemas.openxmlformats.org/drawingml/2006/main">
            <a:r>
              <a:t>- Applied evidence: Analyse a fictional work transition. Sort the pressures into controllable, influenceable and outside the person’s control, then design a response using communication, support, learning and a review point. A transition map and a justified seven-day/one-month action plan.</a:t>
            </a:r>
          </a:p>
          <a:p xmlns:a="http://schemas.openxmlformats.org/drawingml/2006/main">
            <a:r>
              <a:t/>
            </a:r>
          </a:p>
          <a:p xmlns:a="http://schemas.openxmlformats.org/drawingml/2006/main">
            <a:r>
              <a:t>Prompt: Judge which action made the response more sustainable and explain why.</a:t>
            </a:r>
          </a:p>
          <a:p xmlns:a="http://schemas.openxmlformats.org/drawingml/2006/main">
            <a:r>
              <a:t/>
            </a:r>
          </a:p>
          <a:p xmlns:a="http://schemas.openxmlformats.org/drawingml/2006/main">
            <a:r>
              <a:t>Likely misconception or nuance</a:t>
            </a:r>
          </a:p>
          <a:p xmlns:a="http://schemas.openxmlformats.org/drawingml/2006/main">
            <a:r>
              <a:t>- A resilient worker handles every problem alone and never says they are struggling. Correction: Resilience includes recognising limits, seeking information or support and adjusting a plan before harm increases.</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specialists/visuals/web-ready/c00-s03.webp | original AI-generated raster | SHA-256 56cbc2e068ff5c3636ed28d4dc59cae057f4988b1c87579ebbf2f02d5b4ffca0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Its purpose, people, conditions, tasks and relationships. Rationale: A work environment is broader than a building or job title; it includes how work is organised and experienced.</a:t>
            </a:r>
          </a:p>
          <a:p xmlns:a="http://schemas.openxmlformats.org/drawingml/2006/main">
            <a:r>
              <a:t>- Check 2: I explained the event plan to six volunteers, checked their questions and revised the roster. Rationale: The statement names the context, action and result rather than making an unsupported claim.</a:t>
            </a:r>
          </a:p>
          <a:p xmlns:a="http://schemas.openxmlformats.org/drawingml/2006/main">
            <a:r>
              <a:t>- Check 3: Name each change, gather reliable information and separate what can be controlled or influenced. Rationale: A clear diagnosis prevents rushed action and directs effort to useful next steps.</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Managing change and building a sustainable working life.</a:t>
            </a:r>
          </a:p>
          <a:p xmlns:a="http://schemas.openxmlformats.org/drawingml/2006/main">
            <a:r>
              <a:t/>
            </a:r>
          </a:p>
          <a:p xmlns:a="http://schemas.openxmlformats.org/drawingml/2006/main">
            <a:r>
              <a:t>Talking points</a:t>
            </a:r>
          </a:p>
          <a:p xmlns:a="http://schemas.openxmlformats.org/drawingml/2006/main">
            <a:r>
              <a:t>- Prompt: Evaluate a response to a major working-life transition and redesign it to be more sustainable.</a:t>
            </a:r>
          </a:p>
          <a:p xmlns:a="http://schemas.openxmlformats.org/drawingml/2006/main">
            <a:r>
              <a:t>- Explain the transition and its effects on work, finances, relationships and wellbeing.</a:t>
            </a:r>
          </a:p>
          <a:p xmlns:a="http://schemas.openxmlformats.org/drawingml/2006/main">
            <a:r>
              <a:t>- Separate personal choices from organisational or social influences.</a:t>
            </a:r>
          </a:p>
          <a:p xmlns:a="http://schemas.openxmlformats.org/drawingml/2006/main">
            <a:r>
              <a:t>- Evaluate the strengths and limitations of the current response.</a:t>
            </a:r>
          </a:p>
          <a:p xmlns:a="http://schemas.openxmlformats.org/drawingml/2006/main">
            <a:r>
              <a:t>- Redesign the plan using support, learning, boundaries and a review point.</a:t>
            </a:r>
          </a:p>
          <a:p xmlns:a="http://schemas.openxmlformats.org/drawingml/2006/main">
            <a:r>
              <a:t>- Success criteria: Uses resilience, work–life balance and career management accurately.; Recognises both individual agency and factors outside the person’s control.; Justifies a practical redesign that could be sustained over time.</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stage-01/sources/Core My Working Life.pdf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933a2c8c574c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b960901cb4420e" /><Relationship Type="http://schemas.openxmlformats.org/officeDocument/2006/relationships/slideLayout" Target="/ppt/slideLayouts/slideLayout1.xml" Id="R6a9968e4ab7545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9968e4ab7545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f0f444d46244ed" /><Relationship Type="http://schemas.openxmlformats.org/officeDocument/2006/relationships/image" Target="/ppt/media/image.bin" Id="Rb46c9f06f3ed4a0c" /><Relationship Type="http://schemas.openxmlformats.org/officeDocument/2006/relationships/notesSlide" Target="/ppt/notesSlides/notesSlide1.xml" Id="R398521817a994c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bb2f977b8247d1" /><Relationship Type="http://schemas.openxmlformats.org/officeDocument/2006/relationships/notesSlide" Target="/ppt/notesSlides/notesSlide2.xml" Id="R50d197fbd8d74c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39d44ef42146e5" /><Relationship Type="http://schemas.openxmlformats.org/officeDocument/2006/relationships/image" Target="/ppt/media/image2.bin" Id="R83136aafd73248bf" /><Relationship Type="http://schemas.openxmlformats.org/officeDocument/2006/relationships/notesSlide" Target="/ppt/notesSlides/notesSlide3.xml" Id="Raa5b56adb0ca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eea8cab8ca4aee" /><Relationship Type="http://schemas.openxmlformats.org/officeDocument/2006/relationships/image" Target="/ppt/media/image3.bin" Id="R3d39b024427b45e0" /><Relationship Type="http://schemas.openxmlformats.org/officeDocument/2006/relationships/notesSlide" Target="/ppt/notesSlides/notesSlide4.xml" Id="Re4ebd895908a47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850ea49b2e46b5" /><Relationship Type="http://schemas.openxmlformats.org/officeDocument/2006/relationships/image" Target="/ppt/media/image4.bin" Id="R5791f57b9b0742e0" /><Relationship Type="http://schemas.openxmlformats.org/officeDocument/2006/relationships/notesSlide" Target="/ppt/notesSlides/notesSlide5.xml" Id="Rbd15ca23810c45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bfc4a0c4644c6a" /><Relationship Type="http://schemas.openxmlformats.org/officeDocument/2006/relationships/notesSlide" Target="/ppt/notesSlides/notesSlide6.xml" Id="Rcc2ffe0406d54a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bd30c14c5d4be5" /><Relationship Type="http://schemas.openxmlformats.org/officeDocument/2006/relationships/image" Target="/ppt/media/image5.bin" Id="Rf73dc46c3dae4f3b" /><Relationship Type="http://schemas.openxmlformats.org/officeDocument/2006/relationships/notesSlide" Target="/ppt/notesSlides/notesSlide7.xml" Id="Rb2322e0c57344e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992d8e6ee74cea" /><Relationship Type="http://schemas.openxmlformats.org/officeDocument/2006/relationships/image" Target="/ppt/media/image6.bin" Id="R8e7a3af09fa748c5" /><Relationship Type="http://schemas.openxmlformats.org/officeDocument/2006/relationships/notesSlide" Target="/ppt/notesSlides/notesSlide8.xml" Id="Rdc3cb1ad6ca544d6"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46c9f06f3ed4a0c"/>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0F9F99B3-6572-44B5-AD9D-DB0BC6EB12AA}"/>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EB15EC41-F1CB-49CF-A944-3BBA73774547}"/>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11  ·  C00</a:t>
            </a:r>
          </a:p>
        </p:txBody>
      </p:sp>
      <p:sp>
        <p:nvSpPr>
          <p:cNvPr id="4" name="purpose-title">
            <a:extLst xmlns:a="http://schemas.openxmlformats.org/drawingml/2006/main">
              <a:ext uri="{FF2B5EF4-FFF2-40B4-BE49-F238E27FC236}">
                <a16:creationId xmlns:a16="http://schemas.microsoft.com/office/drawing/2014/main" id="{BB6E27BE-2BAB-4D05-8B56-FAB18587105F}"/>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Core: My Working Life</a:t>
            </a:r>
          </a:p>
        </p:txBody>
      </p:sp>
      <p:sp>
        <p:nvSpPr>
          <p:cNvPr id="5" name="purpose-summary">
            <a:extLst xmlns:a="http://schemas.openxmlformats.org/drawingml/2006/main">
              <a:ext uri="{FF2B5EF4-FFF2-40B4-BE49-F238E27FC236}">
                <a16:creationId xmlns:a16="http://schemas.microsoft.com/office/drawing/2014/main" id="{30E68DDE-E736-4442-AE3C-CD0AAAF37B72}"/>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Understand changing work, make informed pathway decisions and build a sustainable working life.</a:t>
            </a:r>
          </a:p>
        </p:txBody>
      </p:sp>
      <p:sp>
        <p:nvSpPr>
          <p:cNvPr id="6" name="purpose-before-label">
            <a:extLst xmlns:a="http://schemas.openxmlformats.org/drawingml/2006/main">
              <a:ext uri="{FF2B5EF4-FFF2-40B4-BE49-F238E27FC236}">
                <a16:creationId xmlns:a16="http://schemas.microsoft.com/office/drawing/2014/main" id="{55528E2F-B283-475B-AD05-767836EA5D20}"/>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CB0AC361-B02B-4AC0-85AE-6E805DEC5AAE}"/>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D025599B-B108-45AA-B8B3-17BBC2E8F430}"/>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C33FC603-0718-45FE-938A-5A917BA91246}"/>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C00  ·  Core: My Working Life</a:t>
            </a:r>
          </a:p>
        </p:txBody>
      </p:sp>
      <p:sp>
        <p:nvSpPr>
          <p:cNvPr id="10" name="purpose-footer-number">
            <a:extLst xmlns:a="http://schemas.openxmlformats.org/drawingml/2006/main">
              <a:ext uri="{FF2B5EF4-FFF2-40B4-BE49-F238E27FC236}">
                <a16:creationId xmlns:a16="http://schemas.microsoft.com/office/drawing/2014/main" id="{C1BE142C-179F-4C1F-9CED-DE9846579C9B}"/>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685623822"/>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842F607D-7202-471C-8EA0-317E3C5236B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C00</a:t>
            </a:r>
          </a:p>
        </p:txBody>
      </p:sp>
      <p:sp>
        <p:nvSpPr>
          <p:cNvPr id="2" name="slide-title-2">
            <a:extLst xmlns:a="http://schemas.openxmlformats.org/drawingml/2006/main">
              <a:ext uri="{FF2B5EF4-FFF2-40B4-BE49-F238E27FC236}">
                <a16:creationId xmlns:a16="http://schemas.microsoft.com/office/drawing/2014/main" id="{89A4ECE7-026E-475C-A58A-2FA54EA12260}"/>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7360E0F1-343E-4104-917E-D2BAEA45B673}"/>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4295E8C5-B129-42B9-928B-58C921AE6364}"/>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Work in contemporary Australia</a:t>
            </a:r>
          </a:p>
        </p:txBody>
      </p:sp>
      <p:sp>
        <p:nvSpPr>
          <p:cNvPr id="5" name="map-intention-1">
            <a:extLst xmlns:a="http://schemas.openxmlformats.org/drawingml/2006/main">
              <a:ext uri="{FF2B5EF4-FFF2-40B4-BE49-F238E27FC236}">
                <a16:creationId xmlns:a16="http://schemas.microsoft.com/office/drawing/2014/main" id="{8A08943C-A3BE-45C4-9DA9-5A16A81F6805}"/>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Understand how work environments, employment patterns and wider change shape people’s working lives.</a:t>
            </a:r>
          </a:p>
        </p:txBody>
      </p:sp>
      <p:sp>
        <p:nvSpPr>
          <p:cNvPr id="6" name="map-divider-1">
            <a:extLst xmlns:a="http://schemas.openxmlformats.org/drawingml/2006/main">
              <a:ext uri="{FF2B5EF4-FFF2-40B4-BE49-F238E27FC236}">
                <a16:creationId xmlns:a16="http://schemas.microsoft.com/office/drawing/2014/main" id="{79100EC2-5844-4E8A-80E9-D5E7C1568728}"/>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E2B9AE2C-EFA1-4073-A329-91E0E71CEE39}"/>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0E05263F-FCFD-47DC-83EF-C632A94B22AC}"/>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Self-knowledge, pathways and career decisions</a:t>
            </a:r>
          </a:p>
        </p:txBody>
      </p:sp>
      <p:sp>
        <p:nvSpPr>
          <p:cNvPr id="9" name="map-intention-2">
            <a:extLst xmlns:a="http://schemas.openxmlformats.org/drawingml/2006/main">
              <a:ext uri="{FF2B5EF4-FFF2-40B4-BE49-F238E27FC236}">
                <a16:creationId xmlns:a16="http://schemas.microsoft.com/office/drawing/2014/main" id="{0962BD77-5D8B-477E-A1A1-3C5BEFAC53A2}"/>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Use self-knowledge and pathway evidence to make realistic, revisable career decisions.</a:t>
            </a:r>
          </a:p>
        </p:txBody>
      </p:sp>
      <p:sp>
        <p:nvSpPr>
          <p:cNvPr id="10" name="map-divider-2">
            <a:extLst xmlns:a="http://schemas.openxmlformats.org/drawingml/2006/main">
              <a:ext uri="{FF2B5EF4-FFF2-40B4-BE49-F238E27FC236}">
                <a16:creationId xmlns:a16="http://schemas.microsoft.com/office/drawing/2014/main" id="{C2B0EF12-FEFA-4D56-9941-777567684735}"/>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9BC3C3AC-F663-4125-BC9C-46D5BFA95E54}"/>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A1033C4F-2636-4A35-9ADA-B1C774635059}"/>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Managing change and building a sustainable working life</a:t>
            </a:r>
          </a:p>
        </p:txBody>
      </p:sp>
      <p:sp>
        <p:nvSpPr>
          <p:cNvPr id="13" name="map-intention-3">
            <a:extLst xmlns:a="http://schemas.openxmlformats.org/drawingml/2006/main">
              <a:ext uri="{FF2B5EF4-FFF2-40B4-BE49-F238E27FC236}">
                <a16:creationId xmlns:a16="http://schemas.microsoft.com/office/drawing/2014/main" id="{AB83699B-6DA5-4272-B8DB-51DBDC1B4F53}"/>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Explain how people can manage transitions, wellbeing and continued learning across a changing working life.</a:t>
            </a:r>
          </a:p>
        </p:txBody>
      </p:sp>
      <p:sp>
        <p:nvSpPr>
          <p:cNvPr id="14" name="map-prompt-band">
            <a:extLst xmlns:a="http://schemas.openxmlformats.org/drawingml/2006/main">
              <a:ext uri="{FF2B5EF4-FFF2-40B4-BE49-F238E27FC236}">
                <a16:creationId xmlns:a16="http://schemas.microsoft.com/office/drawing/2014/main" id="{AD11A008-DB7F-4508-8DA6-061C70B9FCE2}"/>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71BF1F6A-FC19-4555-BD84-5546B0DFE467}"/>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F87020C0-CE6E-470D-80ED-F08DCCF941A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1D9B42C4-6F7E-460D-9ABD-443FDE9720FB}"/>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C00  ·  Core: My Working Life</a:t>
            </a:r>
          </a:p>
        </p:txBody>
      </p:sp>
      <p:sp>
        <p:nvSpPr>
          <p:cNvPr id="18" name="footer-number-2">
            <a:extLst xmlns:a="http://schemas.openxmlformats.org/drawingml/2006/main">
              <a:ext uri="{FF2B5EF4-FFF2-40B4-BE49-F238E27FC236}">
                <a16:creationId xmlns:a16="http://schemas.microsoft.com/office/drawing/2014/main" id="{76804A93-189B-4FA0-88B4-97D3E576225C}"/>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988208455"/>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3F57DE5B-B618-448A-B8CA-7A902AAB747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C00</a:t>
            </a:r>
          </a:p>
        </p:txBody>
      </p:sp>
      <p:sp>
        <p:nvSpPr>
          <p:cNvPr id="2" name="slide-title-3">
            <a:extLst xmlns:a="http://schemas.openxmlformats.org/drawingml/2006/main">
              <a:ext uri="{FF2B5EF4-FFF2-40B4-BE49-F238E27FC236}">
                <a16:creationId xmlns:a16="http://schemas.microsoft.com/office/drawing/2014/main" id="{95590D0D-23E8-42EE-93F7-52A64F678B3B}"/>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Work in contemporary Australia</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136aafd73248bf"/>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A6F86924-33D1-4AB8-89C1-B98061AFDF5D}"/>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 includes more than a permanent paid job. Contemporary working life is shaped by interacting influences. Education, training, experience and standard of living are connected, but not in a simple one-step formula.</a:t>
            </a:r>
          </a:p>
        </p:txBody>
      </p:sp>
      <p:sp>
        <p:nvSpPr>
          <p:cNvPr id="5" name="theory-evidence-surface-1">
            <a:extLst xmlns:a="http://schemas.openxmlformats.org/drawingml/2006/main">
              <a:ext uri="{FF2B5EF4-FFF2-40B4-BE49-F238E27FC236}">
                <a16:creationId xmlns:a16="http://schemas.microsoft.com/office/drawing/2014/main" id="{9986FC25-0C9E-4918-9EF3-D70C15487D1D}"/>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3CA037EA-D2D6-4B67-81C3-63BF2E523DDF}"/>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CAE835D2-7FBD-4486-9021-852965001099}"/>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Work landscape comparison. Choose three contrasting work environments. Evidence: A one-page comparison matrix plus a 100-word conclusion that names the evidence used.</a:t>
            </a:r>
          </a:p>
        </p:txBody>
      </p:sp>
      <p:sp>
        <p:nvSpPr>
          <p:cNvPr id="8" name="theory-notice-1">
            <a:extLst xmlns:a="http://schemas.openxmlformats.org/drawingml/2006/main">
              <a:ext uri="{FF2B5EF4-FFF2-40B4-BE49-F238E27FC236}">
                <a16:creationId xmlns:a16="http://schemas.microsoft.com/office/drawing/2014/main" id="{30852D6B-D46E-4C63-8569-80A1E876EB62}"/>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which parts of the task happen locally and remotely. How does the technology change the worker's role?</a:t>
            </a:r>
          </a:p>
        </p:txBody>
      </p:sp>
      <p:sp>
        <p:nvSpPr>
          <p:cNvPr id="9" name="theory-success-1">
            <a:extLst xmlns:a="http://schemas.openxmlformats.org/drawingml/2006/main">
              <a:ext uri="{FF2B5EF4-FFF2-40B4-BE49-F238E27FC236}">
                <a16:creationId xmlns:a16="http://schemas.microsoft.com/office/drawing/2014/main" id="{45ECFA49-4E76-45E8-8803-DA166D45EBF0}"/>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work environments and employment types without treating one pathway as best for everyone.</a:t>
            </a:r>
          </a:p>
        </p:txBody>
      </p:sp>
      <p:sp>
        <p:nvSpPr>
          <p:cNvPr id="10" name="footer-rule-3">
            <a:extLst xmlns:a="http://schemas.openxmlformats.org/drawingml/2006/main">
              <a:ext uri="{FF2B5EF4-FFF2-40B4-BE49-F238E27FC236}">
                <a16:creationId xmlns:a16="http://schemas.microsoft.com/office/drawing/2014/main" id="{46CAAE1E-D8E5-456C-A834-FB772D80693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9AF50504-18F2-44EA-85A4-E7FEBD8A48B9}"/>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C00  ·  Core: My Working Life</a:t>
            </a:r>
          </a:p>
        </p:txBody>
      </p:sp>
      <p:sp>
        <p:nvSpPr>
          <p:cNvPr id="12" name="footer-number-3">
            <a:extLst xmlns:a="http://schemas.openxmlformats.org/drawingml/2006/main">
              <a:ext uri="{FF2B5EF4-FFF2-40B4-BE49-F238E27FC236}">
                <a16:creationId xmlns:a16="http://schemas.microsoft.com/office/drawing/2014/main" id="{B2836B7E-7D94-4041-A39D-1B03B8D741D9}"/>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672302060"/>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4893370B-647F-49C3-95AF-9C719C1A6D3E}"/>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C00</a:t>
            </a:r>
          </a:p>
        </p:txBody>
      </p:sp>
      <p:sp>
        <p:nvSpPr>
          <p:cNvPr id="2" name="slide-title-4">
            <a:extLst xmlns:a="http://schemas.openxmlformats.org/drawingml/2006/main">
              <a:ext uri="{FF2B5EF4-FFF2-40B4-BE49-F238E27FC236}">
                <a16:creationId xmlns:a16="http://schemas.microsoft.com/office/drawing/2014/main" id="{E358646C-1BB7-499A-A005-BACD3CEC786B}"/>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Self-knowledge, pathways and career decisions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d39b024427b45e0"/>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95564F26-847E-4DDD-98EB-02C7101A4AC2}"/>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Career decisions become stronger when self-knowledge is specific. A career pathway is a sequence of possible steps rather than one guaranteed ladder. Goals connect aspiration to action.</a:t>
            </a:r>
          </a:p>
        </p:txBody>
      </p:sp>
      <p:sp>
        <p:nvSpPr>
          <p:cNvPr id="5" name="theory-evidence-surface-2">
            <a:extLst xmlns:a="http://schemas.openxmlformats.org/drawingml/2006/main">
              <a:ext uri="{FF2B5EF4-FFF2-40B4-BE49-F238E27FC236}">
                <a16:creationId xmlns:a16="http://schemas.microsoft.com/office/drawing/2014/main" id="{0E42C99F-833C-48BA-AA57-0BB338F93BF9}"/>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33F37357-3500-4150-97CC-EFEF718F1733}"/>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6464EEB0-CB10-44F0-8333-6FC6A0D290AF}"/>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Pathway evidence board. Select one career direction and compare three possible pathways using current entry requirements, time, cost, location or mode, support and likely next opportunities. Evidence: A source-linked pathway board and a sequenced four-step action plan.</a:t>
            </a:r>
          </a:p>
        </p:txBody>
      </p:sp>
      <p:sp>
        <p:nvSpPr>
          <p:cNvPr id="8" name="theory-notice-2">
            <a:extLst xmlns:a="http://schemas.openxmlformats.org/drawingml/2006/main">
              <a:ext uri="{FF2B5EF4-FFF2-40B4-BE49-F238E27FC236}">
                <a16:creationId xmlns:a16="http://schemas.microsoft.com/office/drawing/2014/main" id="{7A916B43-9E03-4823-BEDC-0492C28F8F33}"/>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contrasting objects. Which strengths or preferences might each represent, and what further evidence would a sound choice need?</a:t>
            </a:r>
          </a:p>
        </p:txBody>
      </p:sp>
      <p:sp>
        <p:nvSpPr>
          <p:cNvPr id="9" name="theory-success-2">
            <a:extLst xmlns:a="http://schemas.openxmlformats.org/drawingml/2006/main">
              <a:ext uri="{FF2B5EF4-FFF2-40B4-BE49-F238E27FC236}">
                <a16:creationId xmlns:a16="http://schemas.microsoft.com/office/drawing/2014/main" id="{49BEEEAC-A69F-48E8-97D9-087639742A11}"/>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interests, values, attributes, skills and achievements.</a:t>
            </a:r>
          </a:p>
        </p:txBody>
      </p:sp>
      <p:sp>
        <p:nvSpPr>
          <p:cNvPr id="10" name="footer-rule-4">
            <a:extLst xmlns:a="http://schemas.openxmlformats.org/drawingml/2006/main">
              <a:ext uri="{FF2B5EF4-FFF2-40B4-BE49-F238E27FC236}">
                <a16:creationId xmlns:a16="http://schemas.microsoft.com/office/drawing/2014/main" id="{EE7E4F6E-5DEE-41E9-8E28-D16D6D776C2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4979CB65-964F-4D61-8881-48A2BB71ED11}"/>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C00  ·  Core: My Working Life</a:t>
            </a:r>
          </a:p>
        </p:txBody>
      </p:sp>
      <p:sp>
        <p:nvSpPr>
          <p:cNvPr id="12" name="footer-number-4">
            <a:extLst xmlns:a="http://schemas.openxmlformats.org/drawingml/2006/main">
              <a:ext uri="{FF2B5EF4-FFF2-40B4-BE49-F238E27FC236}">
                <a16:creationId xmlns:a16="http://schemas.microsoft.com/office/drawing/2014/main" id="{06725540-0347-4887-9601-05D5DB710EE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590561379"/>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91906C38-454A-4843-AA79-A45098124C10}"/>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C00</a:t>
            </a:r>
          </a:p>
        </p:txBody>
      </p:sp>
      <p:sp>
        <p:nvSpPr>
          <p:cNvPr id="2" name="slide-title-5">
            <a:extLst xmlns:a="http://schemas.openxmlformats.org/drawingml/2006/main">
              <a:ext uri="{FF2B5EF4-FFF2-40B4-BE49-F238E27FC236}">
                <a16:creationId xmlns:a16="http://schemas.microsoft.com/office/drawing/2014/main" id="{66366BFD-C6D5-42AE-8292-1A562EFB1328}"/>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Managing change and building a sustainable working life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791f57b9b0742e0"/>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7665B2D0-EA70-4D99-A388-C834CEB75945}"/>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Working lives contain transitions: beginning work, changing hours or roles, learning new technology, moving between study and employment, responding to caring responsibilities, leaving an employer and eventually retiring. Resilience is not silent endurance. A sustainable working life can be maintained over time without repeatedly sacrificing health, relationships, legal responsibilities or essential recovery.</a:t>
            </a:r>
          </a:p>
        </p:txBody>
      </p:sp>
      <p:sp>
        <p:nvSpPr>
          <p:cNvPr id="5" name="theory-evidence-surface-3">
            <a:extLst xmlns:a="http://schemas.openxmlformats.org/drawingml/2006/main">
              <a:ext uri="{FF2B5EF4-FFF2-40B4-BE49-F238E27FC236}">
                <a16:creationId xmlns:a16="http://schemas.microsoft.com/office/drawing/2014/main" id="{2C0EE4BB-C2B0-4F5D-B9F5-C4DC62A657E0}"/>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9C770515-58FF-4EAC-A309-F035C84C5715}"/>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A4B88BA3-8325-4F0A-8AA8-CA6C1B6A92D3}"/>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Transition response plan. Analyse a fictional work transition. Evidence: A transition map and a justified seven-day/one-month action plan.</a:t>
            </a:r>
          </a:p>
        </p:txBody>
      </p:sp>
      <p:sp>
        <p:nvSpPr>
          <p:cNvPr id="8" name="theory-notice-3">
            <a:extLst xmlns:a="http://schemas.openxmlformats.org/drawingml/2006/main">
              <a:ext uri="{FF2B5EF4-FFF2-40B4-BE49-F238E27FC236}">
                <a16:creationId xmlns:a16="http://schemas.microsoft.com/office/drawing/2014/main" id="{D2A31B6A-2F54-44FA-95E1-29D01D06E421}"/>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work, learning and wellbeing cues in the same scene. Which one would be easiest to neglect during change?</a:t>
            </a:r>
          </a:p>
        </p:txBody>
      </p:sp>
      <p:sp>
        <p:nvSpPr>
          <p:cNvPr id="9" name="theory-success-3">
            <a:extLst xmlns:a="http://schemas.openxmlformats.org/drawingml/2006/main">
              <a:ext uri="{FF2B5EF4-FFF2-40B4-BE49-F238E27FC236}">
                <a16:creationId xmlns:a16="http://schemas.microsoft.com/office/drawing/2014/main" id="{B5241926-FDE8-4FA4-97C9-BF6A263548FD}"/>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explain why change can create both pressure and opportunity.</a:t>
            </a:r>
          </a:p>
        </p:txBody>
      </p:sp>
      <p:sp>
        <p:nvSpPr>
          <p:cNvPr id="10" name="footer-rule-5">
            <a:extLst xmlns:a="http://schemas.openxmlformats.org/drawingml/2006/main">
              <a:ext uri="{FF2B5EF4-FFF2-40B4-BE49-F238E27FC236}">
                <a16:creationId xmlns:a16="http://schemas.microsoft.com/office/drawing/2014/main" id="{D6457DA6-F9F1-4F36-B1CB-BA0E25A9695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28B017C4-C46D-462D-89F9-2FEEADE25666}"/>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C00  ·  Core: My Working Life</a:t>
            </a:r>
          </a:p>
        </p:txBody>
      </p:sp>
      <p:sp>
        <p:nvSpPr>
          <p:cNvPr id="12" name="footer-number-5">
            <a:extLst xmlns:a="http://schemas.openxmlformats.org/drawingml/2006/main">
              <a:ext uri="{FF2B5EF4-FFF2-40B4-BE49-F238E27FC236}">
                <a16:creationId xmlns:a16="http://schemas.microsoft.com/office/drawing/2014/main" id="{6219EB78-9C7C-4D87-A780-DEC5F0EE6D1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2144590312"/>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2D006480-6E2C-4D4B-82CB-D599FAC85509}"/>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C00</a:t>
            </a:r>
          </a:p>
        </p:txBody>
      </p:sp>
      <p:sp>
        <p:nvSpPr>
          <p:cNvPr id="2" name="slide-title-6">
            <a:extLst xmlns:a="http://schemas.openxmlformats.org/drawingml/2006/main">
              <a:ext uri="{FF2B5EF4-FFF2-40B4-BE49-F238E27FC236}">
                <a16:creationId xmlns:a16="http://schemas.microsoft.com/office/drawing/2014/main" id="{7B811503-79DC-4C20-9A86-EADF40505127}"/>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2C3BFE58-48A8-43B8-8773-2EE718576920}"/>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5851A625-E669-41A1-8CA7-95E019C8232A}"/>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030A0BC3-EB45-48C8-AC82-28AE1FC03CAC}"/>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comparison gives the strongest picture of a work environment?</a:t>
            </a:r>
          </a:p>
        </p:txBody>
      </p:sp>
      <p:sp>
        <p:nvSpPr>
          <p:cNvPr id="6" name="retrieval-separator-1">
            <a:extLst xmlns:a="http://schemas.openxmlformats.org/drawingml/2006/main">
              <a:ext uri="{FF2B5EF4-FFF2-40B4-BE49-F238E27FC236}">
                <a16:creationId xmlns:a16="http://schemas.microsoft.com/office/drawing/2014/main" id="{A9AC5572-8123-4F6A-83AF-F9F401AEB073}"/>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4D3FE87F-E2CC-406A-8414-5C86A897CECE}"/>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6A97D6B2-02A5-45DC-9BB0-FA5924C6FE02}"/>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statement is the strongest evidence for a communication skill?</a:t>
            </a:r>
          </a:p>
        </p:txBody>
      </p:sp>
      <p:sp>
        <p:nvSpPr>
          <p:cNvPr id="9" name="retrieval-separator-2">
            <a:extLst xmlns:a="http://schemas.openxmlformats.org/drawingml/2006/main">
              <a:ext uri="{FF2B5EF4-FFF2-40B4-BE49-F238E27FC236}">
                <a16:creationId xmlns:a16="http://schemas.microsoft.com/office/drawing/2014/main" id="{1F7C1BBA-B0D8-4567-9850-EA72E1379833}"/>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5EB476C5-55AC-4E41-848B-DBE418E16E00}"/>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C2BEC667-6F6C-4C7F-A053-551A79A2FB59}"/>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is the best first step when a work change creates several problems at once?</a:t>
            </a:r>
          </a:p>
        </p:txBody>
      </p:sp>
      <p:sp>
        <p:nvSpPr>
          <p:cNvPr id="12" name="retrieval-cycle">
            <a:extLst xmlns:a="http://schemas.openxmlformats.org/drawingml/2006/main">
              <a:ext uri="{FF2B5EF4-FFF2-40B4-BE49-F238E27FC236}">
                <a16:creationId xmlns:a16="http://schemas.microsoft.com/office/drawing/2014/main" id="{9FD1B0E2-B378-48F0-9436-8D2FC1D6F6B1}"/>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0FE4A206-CC77-4C33-8E61-4062F7BCD3CC}"/>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F5021894-A4C4-4D1B-BCA9-10E924F455DC}"/>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F1548B76-B26E-4E99-AF77-D5C3C951F3E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80BAF578-4F46-4CA9-ADE6-F180138DA07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C00  ·  Core: My Working Life</a:t>
            </a:r>
          </a:p>
        </p:txBody>
      </p:sp>
      <p:sp>
        <p:nvSpPr>
          <p:cNvPr id="17" name="footer-number-6">
            <a:extLst xmlns:a="http://schemas.openxmlformats.org/drawingml/2006/main">
              <a:ext uri="{FF2B5EF4-FFF2-40B4-BE49-F238E27FC236}">
                <a16:creationId xmlns:a16="http://schemas.microsoft.com/office/drawing/2014/main" id="{68612629-06CE-478F-9675-0F42736BA1E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754531807"/>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EEF091E9-CB1E-4A5D-BD9E-965E6EBC098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C00</a:t>
            </a:r>
          </a:p>
        </p:txBody>
      </p:sp>
      <p:sp>
        <p:nvSpPr>
          <p:cNvPr id="2" name="slide-title-7">
            <a:extLst xmlns:a="http://schemas.openxmlformats.org/drawingml/2006/main">
              <a:ext uri="{FF2B5EF4-FFF2-40B4-BE49-F238E27FC236}">
                <a16:creationId xmlns:a16="http://schemas.microsoft.com/office/drawing/2014/main" id="{0A8AA593-38D0-475C-8155-FA4B0FCC1D39}"/>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73dc46c3dae4f3b"/>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BAB7A0FC-3CB0-47F0-9FE2-3F708C6785DD}"/>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a response to a major working-life transition and redesign it to be more sustainable.</a:t>
            </a:r>
          </a:p>
        </p:txBody>
      </p:sp>
      <p:sp>
        <p:nvSpPr>
          <p:cNvPr id="5" name="guided-step-number-1">
            <a:extLst xmlns:a="http://schemas.openxmlformats.org/drawingml/2006/main">
              <a:ext uri="{FF2B5EF4-FFF2-40B4-BE49-F238E27FC236}">
                <a16:creationId xmlns:a16="http://schemas.microsoft.com/office/drawing/2014/main" id="{30D2427B-4E89-4E31-833D-34E042DDF108}"/>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4F8943C3-35F3-48BA-A50E-EAC096685B1A}"/>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6182C2AE-DC5F-4B4E-BF77-B44582DD312E}"/>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AE145FCD-BABE-4126-AD13-0671B2FE7112}"/>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DFD1C12D-43E8-4A7D-8A85-8129E21137F2}"/>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21833B21-857D-4D40-ADC8-5305FCCED72C}"/>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3A3DF13D-87F8-471C-8129-30360CF0CE89}"/>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D8B35A16-1DA9-4F6B-A3AC-2B65956BDEBE}"/>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EABD9058-1991-45E4-901A-957B2138F3AF}"/>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B47416EA-BAD3-42CA-A78B-1BA82F17F673}"/>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710C6B4C-96D5-4AB1-93D1-F70BF5FF884B}"/>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139DF2E1-372A-4AA5-AF14-9BD3DD52DE3A}"/>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7FD4A0B0-974C-4AFF-B20A-203501C11605}"/>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4F932895-53D7-4984-9032-017DBC4EEAF8}"/>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AFC28D2C-14DE-4FDC-9DC3-3E0DADC3A2D3}"/>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CF0C1178-4537-4269-AB70-99501F1B52DF}"/>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B5999AAF-7F70-4E99-B13D-A57ED4559D94}"/>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2F6E5D63-F606-499E-8D5C-5B50002E47F8}"/>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Uses resilience, work–life balance and career management accurately.</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Recognises both individual agency and factors outside the person’s control.</a:t>
            </a:r>
          </a:p>
        </p:txBody>
      </p:sp>
      <p:sp>
        <p:nvSpPr>
          <p:cNvPr id="23" name="guided-visual-notice">
            <a:extLst xmlns:a="http://schemas.openxmlformats.org/drawingml/2006/main">
              <a:ext uri="{FF2B5EF4-FFF2-40B4-BE49-F238E27FC236}">
                <a16:creationId xmlns:a16="http://schemas.microsoft.com/office/drawing/2014/main" id="{304D8458-CE1C-4128-9F11-E1DD69CCF4A7}"/>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BCEBC1ED-7226-4154-978E-DA07F0A9EF4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0AB8AB52-097B-4737-8AC6-28DC63475161}"/>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C00  ·  Core: My Working Life</a:t>
            </a:r>
          </a:p>
        </p:txBody>
      </p:sp>
      <p:sp>
        <p:nvSpPr>
          <p:cNvPr id="26" name="footer-number-7">
            <a:extLst xmlns:a="http://schemas.openxmlformats.org/drawingml/2006/main">
              <a:ext uri="{FF2B5EF4-FFF2-40B4-BE49-F238E27FC236}">
                <a16:creationId xmlns:a16="http://schemas.microsoft.com/office/drawing/2014/main" id="{FC346D3F-472C-4FFB-A05A-248982CA2E3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1246681650"/>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F13A4002-700C-47EA-A24C-9CEDBEB2C22E}"/>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C00</a:t>
            </a:r>
          </a:p>
        </p:txBody>
      </p:sp>
      <p:sp>
        <p:nvSpPr>
          <p:cNvPr id="2" name="slide-title-8">
            <a:extLst xmlns:a="http://schemas.openxmlformats.org/drawingml/2006/main">
              <a:ext uri="{FF2B5EF4-FFF2-40B4-BE49-F238E27FC236}">
                <a16:creationId xmlns:a16="http://schemas.microsoft.com/office/drawing/2014/main" id="{D341DD93-3999-420E-8193-DB9F94CDC8E6}"/>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e7a3af09fa748c5"/>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F709B356-6617-4F09-80D9-11A5E9B54093}"/>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C156FB92-7DD6-41E8-9F83-C421E9DD6987}"/>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D80A8D46-496F-4E54-B4D3-884C0734F5C2}"/>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9BCCC614-B861-4463-80D1-351F7936E5A7}"/>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A8ACE46A-2F74-41F5-9B6B-2297D561BCAA}"/>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3EDEF72D-FF79-4FB3-ABCC-2A38B45F3A31}"/>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D7A9FE7F-900D-4904-B19A-EDBFFD29A91F}"/>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D638B996-F1F5-4F3D-89A4-92E5CF8F236F}"/>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DE153806-6F85-4E05-9556-859C51BD5EE7}"/>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managing change and building a sustainable working life.</a:t>
            </a:r>
          </a:p>
        </p:txBody>
      </p:sp>
      <p:sp>
        <p:nvSpPr>
          <p:cNvPr id="13" name="close-boundary">
            <a:extLst xmlns:a="http://schemas.openxmlformats.org/drawingml/2006/main">
              <a:ext uri="{FF2B5EF4-FFF2-40B4-BE49-F238E27FC236}">
                <a16:creationId xmlns:a16="http://schemas.microsoft.com/office/drawing/2014/main" id="{D0AF6E27-20EE-4FDB-BC7F-283C20212584}"/>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4159662C-12E4-48A0-9724-1D4A02EF38EF}"/>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9BD15BDA-4AFA-4681-9981-A914BE3E7FC0}"/>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C3BA0A10-6AA2-4909-A631-0B7661E04CAB}"/>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C00  ·  Core: My Working Life</a:t>
            </a:r>
          </a:p>
        </p:txBody>
      </p:sp>
      <p:sp>
        <p:nvSpPr>
          <p:cNvPr id="17" name="footer-number-8">
            <a:extLst xmlns:a="http://schemas.openxmlformats.org/drawingml/2006/main">
              <a:ext uri="{FF2B5EF4-FFF2-40B4-BE49-F238E27FC236}">
                <a16:creationId xmlns:a16="http://schemas.microsoft.com/office/drawing/2014/main" id="{86AB95DB-CBE7-4B50-9189-A732E6969CD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677049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2026-08-31T09:25:23.5740000Z</dcterms:created>
  <dcterms:modified xsi:type="dcterms:W3CDTF">2026-08-31T09:25:23.5740000Z</dcterms:modified>
</coreProperties>
</file>