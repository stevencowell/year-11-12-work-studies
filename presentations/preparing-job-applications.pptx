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20da150c0ce40da" /><Relationship Type="http://schemas.openxmlformats.org/officeDocument/2006/relationships/extended-properties" Target="/docProps/app.xml" Id="R32a55f01f99944aa" /><Relationship Type="http://schemas.openxmlformats.org/officeDocument/2006/relationships/officeDocument" Target="/ppt/presentation.xml" Id="Rceabc99b53734bd4" /></Relationships>
</file>

<file path=ppt/presentation.xml><?xml version="1.0" encoding="utf-8"?>
<p:presentation xmlns:p="http://schemas.openxmlformats.org/presentationml/2006/main">
  <p:sldMasterIdLst>
    <p:sldMasterId xmlns:r="http://schemas.openxmlformats.org/officeDocument/2006/relationships" id="2147483648" r:id="R2e93f482db4d463b"/>
  </p:sldMasterIdLst>
  <p:notesMasterIdLst>
    <p:notesMasterId xmlns:r="http://schemas.openxmlformats.org/officeDocument/2006/relationships" r:id="Rb32d63de07064f51"/>
  </p:notesMasterIdLst>
  <p:sldIdLst>
    <p:sldId xmlns:r="http://schemas.openxmlformats.org/officeDocument/2006/relationships" id="256" r:id="R3f3d3001c3df475f"/>
    <p:sldId xmlns:r="http://schemas.openxmlformats.org/officeDocument/2006/relationships" id="257" r:id="Rc4f6c28a1335444f"/>
    <p:sldId xmlns:r="http://schemas.openxmlformats.org/officeDocument/2006/relationships" id="258" r:id="R831c4c84fbc14102"/>
    <p:sldId xmlns:r="http://schemas.openxmlformats.org/officeDocument/2006/relationships" id="259" r:id="Rb2fff7c57cbd4ccc"/>
    <p:sldId xmlns:r="http://schemas.openxmlformats.org/officeDocument/2006/relationships" id="260" r:id="Ra25efcd34b4e4494"/>
    <p:sldId xmlns:r="http://schemas.openxmlformats.org/officeDocument/2006/relationships" id="261" r:id="R737b32d0424a4352"/>
    <p:sldId xmlns:r="http://schemas.openxmlformats.org/officeDocument/2006/relationships" id="262" r:id="Re90ffe68532f4481"/>
    <p:sldId xmlns:r="http://schemas.openxmlformats.org/officeDocument/2006/relationships" id="263" r:id="Rc89b514e7fb0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405bb3ebee42fd" /><Relationship Type="http://schemas.openxmlformats.org/officeDocument/2006/relationships/slideMaster" Target="/ppt/slideMasters/slideMaster1.xml" Id="R2e93f482db4d463b" /><Relationship Type="http://schemas.openxmlformats.org/officeDocument/2006/relationships/notesMaster" Target="/ppt/notesMasters/notesMaster1.xml" Id="Rb32d63de07064f51" /><Relationship Type="http://schemas.openxmlformats.org/officeDocument/2006/relationships/presProps" Target="/ppt/presProps.xml" Id="R2ee7a9af95554a01" /><Relationship Type="http://schemas.openxmlformats.org/officeDocument/2006/relationships/tableStyles" Target="/ppt/tableStyles.xml" Id="Rc593a33bcded46c3" /><Relationship Type="http://schemas.openxmlformats.org/officeDocument/2006/relationships/slide" Target="/ppt/slides/slide1.xml" Id="R3f3d3001c3df475f" /><Relationship Type="http://schemas.openxmlformats.org/officeDocument/2006/relationships/slide" Target="/ppt/slides/slide2.xml" Id="Rc4f6c28a1335444f" /><Relationship Type="http://schemas.openxmlformats.org/officeDocument/2006/relationships/slide" Target="/ppt/slides/slide3.xml" Id="R831c4c84fbc14102" /><Relationship Type="http://schemas.openxmlformats.org/officeDocument/2006/relationships/slide" Target="/ppt/slides/slide4.xml" Id="Rb2fff7c57cbd4ccc" /><Relationship Type="http://schemas.openxmlformats.org/officeDocument/2006/relationships/slide" Target="/ppt/slides/slide5.xml" Id="Ra25efcd34b4e4494" /><Relationship Type="http://schemas.openxmlformats.org/officeDocument/2006/relationships/slide" Target="/ppt/slides/slide6.xml" Id="R737b32d0424a4352" /><Relationship Type="http://schemas.openxmlformats.org/officeDocument/2006/relationships/slide" Target="/ppt/slides/slide7.xml" Id="Re90ffe68532f4481" /><Relationship Type="http://schemas.openxmlformats.org/officeDocument/2006/relationships/slide" Target="/ppt/slides/slide8.xml" Id="Rc89b514e7fb0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a175e8064e4d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bc1135f0a44b18" /><Relationship Type="http://schemas.openxmlformats.org/officeDocument/2006/relationships/notesMaster" Target="/ppt/notesMasters/notesMaster1.xml" Id="Rfc9a5a39004447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400cd38f044281" /><Relationship Type="http://schemas.openxmlformats.org/officeDocument/2006/relationships/notesMaster" Target="/ppt/notesMasters/notesMaster1.xml" Id="R67a2bc83305640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804f995ed6453f" /><Relationship Type="http://schemas.openxmlformats.org/officeDocument/2006/relationships/notesMaster" Target="/ppt/notesMasters/notesMaster1.xml" Id="Rf89f84b38ead44ef"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41b948804b41d1" /><Relationship Type="http://schemas.openxmlformats.org/officeDocument/2006/relationships/notesMaster" Target="/ppt/notesMasters/notesMaster1.xml" Id="Re758f8825dbb46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a68721263d4ce7" /><Relationship Type="http://schemas.openxmlformats.org/officeDocument/2006/relationships/notesMaster" Target="/ppt/notesMasters/notesMaster1.xml" Id="R60aea64e3e9649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b64958cb0d4d10" /><Relationship Type="http://schemas.openxmlformats.org/officeDocument/2006/relationships/notesMaster" Target="/ppt/notesMasters/notesMaster1.xml" Id="R8dbea73648d84e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75da42183a4215" /><Relationship Type="http://schemas.openxmlformats.org/officeDocument/2006/relationships/notesMaster" Target="/ppt/notesMasters/notesMaster1.xml" Id="R79bf0a47a6da43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5278e4e86849c1" /><Relationship Type="http://schemas.openxmlformats.org/officeDocument/2006/relationships/notesMaster" Target="/ppt/notesMasters/notesMaster1.xml" Id="R3fc09ba14e38489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Establish the purpose of Preparing Job Applications.</a:t>
            </a:r>
          </a:p>
          <a:p xmlns:a="http://schemas.openxmlformats.org/drawingml/2006/main">
            <a:r>
              <a:t/>
            </a:r>
          </a:p>
          <a:p xmlns:a="http://schemas.openxmlformats.org/drawingml/2006/main">
            <a:r>
              <a:t>Talking points</a:t>
            </a:r>
          </a:p>
          <a:p xmlns:a="http://schemas.openxmlformats.org/drawingml/2006/main">
            <a:r>
              <a:t>- Interpret opportunities, present evidence and prepare for interviews with purpose.</a:t>
            </a:r>
          </a:p>
          <a:p xmlns:a="http://schemas.openxmlformats.org/drawingml/2006/main">
            <a:r>
              <a:t>- Name the three learning areas without teaching them yet: Reading opportunities and selection criteria; Building evidence-based applications; Interview preparation, performance and reflection.</a:t>
            </a:r>
          </a:p>
          <a:p xmlns:a="http://schemas.openxmlformats.org/drawingml/2006/main">
            <a:r>
              <a:t>- This deck supports learning and formative evidence. It does not replace current teacher directions or assessment notices.</a:t>
            </a:r>
          </a:p>
          <a:p xmlns:a="http://schemas.openxmlformats.org/drawingml/2006/main">
            <a:r>
              <a:t>- Visual notice: Notice how each path leads to a different work context. What would you need to learn about yourself and the setting before choosing?</a:t>
            </a:r>
          </a:p>
          <a:p xmlns:a="http://schemas.openxmlformats.org/drawingml/2006/main">
            <a:r>
              <a:t/>
            </a:r>
          </a:p>
          <a:p xmlns:a="http://schemas.openxmlformats.org/drawingml/2006/main">
            <a:r>
              <a:t>Prompt: Ask students where the module could affect a real decision, then collect two or three examples.</a:t>
            </a:r>
          </a:p>
          <a:p xmlns:a="http://schemas.openxmlformats.org/drawingml/2006/main">
            <a:r>
              <a:t/>
            </a:r>
          </a:p>
          <a:p xmlns:a="http://schemas.openxmlformats.org/drawingml/2006/main">
            <a:r>
              <a:t>Transition: Move from the purpose to the three-part learning map.</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specialists/visuals/web-ready/course-orientation.webp | original AI-generated raster | SHA-256 60539a909cbb5bb58ab0a9b03d8b22631666fa97c9f417ed06dcdd419d8c5605</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Preview the three named sections as a connected learning sequence.</a:t>
            </a:r>
          </a:p>
          <a:p xmlns:a="http://schemas.openxmlformats.org/drawingml/2006/main">
            <a:r>
              <a:t/>
            </a:r>
          </a:p>
          <a:p xmlns:a="http://schemas.openxmlformats.org/drawingml/2006/main">
            <a:r>
              <a:t>Talking points</a:t>
            </a:r>
          </a:p>
          <a:p xmlns:a="http://schemas.openxmlformats.org/drawingml/2006/main">
            <a:r>
              <a:t>- 1. Reading opportunities and selection criteria: Interpret job opportunities and decide whether the role and evidence are a credible match.</a:t>
            </a:r>
          </a:p>
          <a:p xmlns:a="http://schemas.openxmlformats.org/drawingml/2006/main">
            <a:r>
              <a:t>- 2. Building evidence-based applications: Create accurate, tailored application material that converts experience into relevant evidence.</a:t>
            </a:r>
          </a:p>
          <a:p xmlns:a="http://schemas.openxmlformats.org/drawingml/2006/main">
            <a:r>
              <a:t>- 3. Interview preparation, performance and reflection: Prepare, communicate and learn from an interview as a professional two-way conversation.</a:t>
            </a:r>
          </a:p>
          <a:p xmlns:a="http://schemas.openxmlformats.org/drawingml/2006/main">
            <a:r>
              <a:t/>
            </a:r>
          </a:p>
          <a:p xmlns:a="http://schemas.openxmlformats.org/drawingml/2006/main">
            <a:r>
              <a:t>Prompt: Ask students to predict which section will be most useful in the next year and explain why.</a:t>
            </a:r>
          </a:p>
          <a:p xmlns:a="http://schemas.openxmlformats.org/drawingml/2006/main">
            <a:r>
              <a:t/>
            </a:r>
          </a:p>
          <a:p xmlns:a="http://schemas.openxmlformats.org/drawingml/2006/main">
            <a:r>
              <a:t>Transition: Begin with Reading opportunities and selection criteria.</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Interpret job opportunities and decide whether the role and evidence are a credible match.</a:t>
            </a:r>
          </a:p>
          <a:p xmlns:a="http://schemas.openxmlformats.org/drawingml/2006/main">
            <a:r>
              <a:t/>
            </a:r>
          </a:p>
          <a:p xmlns:a="http://schemas.openxmlformats.org/drawingml/2006/main">
            <a:r>
              <a:t>Talking points</a:t>
            </a:r>
          </a:p>
          <a:p xmlns:a="http://schemas.openxmlformats.org/drawingml/2006/main">
            <a:r>
              <a:t>- Job opportunities may be advertised through employer sites, job platforms, agencies, careers services and community networks, while some are discovered through direct contact, work experience or recommendation. A vacancy notice is a starting source, not the whole workplace. Careful readers identify the role purpose, duties, location, hours, employment arrangement, required qualifications or licences, application method and closing information. They also research the employer through reliable sources so that an application responds to the actual organisation rather than a generic idea of the job.</a:t>
            </a:r>
          </a:p>
          <a:p xmlns:a="http://schemas.openxmlformats.org/drawingml/2006/main">
            <a:r>
              <a:t>- Selection criteria describe capabilities or evidence used to judge applicants. A criterion may be essential, desirable or simply part of the role description, so the wording and application instructions matter. Applicants should unpack each criterion into its action and context: ‘communicates effectively with customers’ requires more than saying ‘good communication’. It calls for an example showing audience, purpose, action and outcome. Honest matching includes gaps. A missing desirable skill may be manageable; a missing mandatory qualification cannot be disguised.</a:t>
            </a:r>
          </a:p>
          <a:p xmlns:a="http://schemas.openxmlformats.org/drawingml/2006/main">
            <a:r>
              <a:t>- Suitability is two-way. Employers consider whether the applicant can contribute; applicants consider whether the work fits their preferences, values, qualifications, travel, conditions, wellbeing and longer-term goals. Labour-market information can add context, but broad trends do not decide one vacancy. A sound decision uses the best available evidence, identifies questions to clarify and avoids rejecting an opportunity merely because the applicant does not match every non-essential preference.</a:t>
            </a:r>
          </a:p>
          <a:p xmlns:a="http://schemas.openxmlformats.org/drawingml/2006/main">
            <a:r>
              <a:t>- Worked example — Unpacking a customer-service vacancy: A vacancy asks for reliable attendance, clear customer communication, basic digital confidence and weekend availability. It says retail experience is desirable, not essential. Asha marks reliability, communication, digital confidence and weekend availability as the main matching decisions. She can evidence reliability through a school event role, customer communication through volunteering and digital confidence through a booking task. She has no retail experience, but does not falsely claim it; she explains the transferable evidence and checks whether the travel and weekend pattern are sustainable. This creates a reasoned decision to apply.</a:t>
            </a:r>
          </a:p>
          <a:p xmlns:a="http://schemas.openxmlformats.org/drawingml/2006/main">
            <a:r>
              <a:t>- Visual caption: A useful application begins by comparing what the opportunity asks for with evidence of what the applicant can do.</a:t>
            </a:r>
          </a:p>
          <a:p xmlns:a="http://schemas.openxmlformats.org/drawingml/2006/main">
            <a:r>
              <a:t>- Visual notice: Notice the opportunity and three evidence sources. Which evidence appears most relevant, and what would still need checking?</a:t>
            </a:r>
          </a:p>
          <a:p xmlns:a="http://schemas.openxmlformats.org/drawingml/2006/main">
            <a:r>
              <a:t>- Applied evidence: Annotate a public-safe fictional vacancy. Sort facts into duties, essential requirements, desirable requirements, conditions and questions. Match each criterion to evidence or a gap and decide whether to apply. An annotated vacancy, evidence matrix and 120-word suitability judgement.</a:t>
            </a:r>
          </a:p>
          <a:p xmlns:a="http://schemas.openxmlformats.org/drawingml/2006/main">
            <a:r>
              <a:t/>
            </a:r>
          </a:p>
          <a:p xmlns:a="http://schemas.openxmlformats.org/drawingml/2006/main">
            <a:r>
              <a:t>Prompt: Make and justify an apply, clarify or do-not-apply decision.</a:t>
            </a:r>
          </a:p>
          <a:p xmlns:a="http://schemas.openxmlformats.org/drawingml/2006/main">
            <a:r>
              <a:t/>
            </a:r>
          </a:p>
          <a:p xmlns:a="http://schemas.openxmlformats.org/drawingml/2006/main">
            <a:r>
              <a:t>Likely misconception or nuance</a:t>
            </a:r>
          </a:p>
          <a:p xmlns:a="http://schemas.openxmlformats.org/drawingml/2006/main">
            <a:r>
              <a:t>- A person should apply only when they match every word in an advertisement. Correction: Applicants must meet genuine essentials, but can make an honest case from transferable evidence when desirable preferences or experience are not exact matches.</a:t>
            </a:r>
          </a:p>
          <a:p xmlns:a="http://schemas.openxmlformats.org/drawingml/2006/main">
            <a:r>
              <a:t/>
            </a:r>
          </a:p>
          <a:p xmlns:a="http://schemas.openxmlformats.org/drawingml/2006/main">
            <a:r>
              <a:t>Transition: Move to Building evidence-based applications.</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specialists/visuals/web-ready/m02-s01.webp | original AI-generated raster | SHA-256 9171433575ba830c766d8a21c0e1dc3f10e13ce08f5acae76c83f9588504a153</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accurate, tailored application material that converts experience into relevant evidence.</a:t>
            </a:r>
          </a:p>
          <a:p xmlns:a="http://schemas.openxmlformats.org/drawingml/2006/main">
            <a:r>
              <a:t/>
            </a:r>
          </a:p>
          <a:p xmlns:a="http://schemas.openxmlformats.org/drawingml/2006/main">
            <a:r>
              <a:t>Talking points</a:t>
            </a:r>
          </a:p>
          <a:p xmlns:a="http://schemas.openxmlformats.org/drawingml/2006/main">
            <a:r>
              <a:t>- An application is an evidence argument. The applicant identifies what the employer needs, selects truthful examples and makes the connection easy to see. Evidence can come from school, paid work, workplace learning, volunteering, sport, community activity, caring and enterprise. Strong examples name the situation, task or goal, action and result. Numbers can help when they are accurate, but detail is more important than decoration. An applicant should never copy another person’s achievement or turn participation into a responsibility they did not hold.</a:t>
            </a:r>
          </a:p>
          <a:p xmlns:a="http://schemas.openxmlformats.org/drawingml/2006/main">
            <a:r>
              <a:t>- A résumé gives a clear record of relevant skills, education, experience and achievements. A covering letter introduces the application, identifies the role and highlights the strongest match. Both should be tailored, concise and consistent. Referees should be suitable people who can comment on relevant behaviour or performance and who have agreed to be contacted. Public learning activities use fictional details: real addresses, phone numbers, private referee details and other personal information do not belong in a public course site.</a:t>
            </a:r>
          </a:p>
          <a:p xmlns:a="http://schemas.openxmlformats.org/drawingml/2006/main">
            <a:r>
              <a:t>- Quality control is part of employability. Applicants follow the requested file type and naming instructions, check dates and contact information, proofread spelling and layout, verify that examples address the criteria and confirm that attachments open. Technology can assist drafting, but the applicant remains responsible for accuracy, authorship and tone. A final read from the employer’s perspective asks: Can I locate the evidence quickly? Does it answer this vacancy? Is every claim defensible?</a:t>
            </a:r>
          </a:p>
          <a:p xmlns:a="http://schemas.openxmlformats.org/drawingml/2006/main">
            <a:r>
              <a:t>- Worked example — From duty list to achievement evidence: Luca writes ‘Helped at the school fundraiser’ in a résumé for an event-assistant role. Luca checks what he actually did and revises the evidence: ‘Coordinated the sign-in table with two volunteers, answered visitor questions and reconciled attendance numbers at closing.’ The wording identifies communication, teamwork, organisation and accurate recording without inventing leadership or financial responsibility. His covering letter then connects this example directly to the vacancy’s event-support criterion.</a:t>
            </a:r>
          </a:p>
          <a:p xmlns:a="http://schemas.openxmlformats.org/drawingml/2006/main">
            <a:r>
              <a:t>- Visual caption: Evidence is strongest when it directly supports the claim and is chosen for the opportunity.</a:t>
            </a:r>
          </a:p>
          <a:p xmlns:a="http://schemas.openxmlformats.org/drawingml/2006/main">
            <a:r>
              <a:t>- Visual notice: Notice which items are being selected and which remain aside. What makes evidence relevant rather than merely impressive?</a:t>
            </a:r>
          </a:p>
          <a:p xmlns:a="http://schemas.openxmlformats.org/drawingml/2006/main">
            <a:r>
              <a:t>- Applied evidence: Using fictional or privacy-safe experience, turn five vague claims into context–action–result evidence. Select the best three for a fictional vacancy and draft a matching résumé section and covering-letter paragraph. Five revised evidence statements plus one tailored résumé excerpt and letter paragraph.</a:t>
            </a:r>
          </a:p>
          <a:p xmlns:a="http://schemas.openxmlformats.org/drawingml/2006/main">
            <a:r>
              <a:t/>
            </a:r>
          </a:p>
          <a:p xmlns:a="http://schemas.openxmlformats.org/drawingml/2006/main">
            <a:r>
              <a:t>Prompt: Find one claim that needs clearer context, action or result.</a:t>
            </a:r>
          </a:p>
          <a:p xmlns:a="http://schemas.openxmlformats.org/drawingml/2006/main">
            <a:r>
              <a:t/>
            </a:r>
          </a:p>
          <a:p xmlns:a="http://schemas.openxmlformats.org/drawingml/2006/main">
            <a:r>
              <a:t>Likely misconception or nuance</a:t>
            </a:r>
          </a:p>
          <a:p xmlns:a="http://schemas.openxmlformats.org/drawingml/2006/main">
            <a:r>
              <a:t>- A longer résumé is always more impressive. Correction: A résumé is effective when relevant evidence is easy to find; unnecessary length can hide the strongest match.</a:t>
            </a:r>
          </a:p>
          <a:p xmlns:a="http://schemas.openxmlformats.org/drawingml/2006/main">
            <a:r>
              <a:t/>
            </a:r>
          </a:p>
          <a:p xmlns:a="http://schemas.openxmlformats.org/drawingml/2006/main">
            <a:r>
              <a:t>Transition: Move to Interview preparation, performance and reflection.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specialists/visuals/web-ready/m02-s02.webp | original AI-generated raster | SHA-256 9a04d5a29cc46a459d37c5ae8e5e84e09914b8dc3ee909db74ade66d918f628d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Prepare, communicate and learn from an interview as a professional two-way conversation.</a:t>
            </a:r>
          </a:p>
          <a:p xmlns:a="http://schemas.openxmlformats.org/drawingml/2006/main">
            <a:r>
              <a:t/>
            </a:r>
          </a:p>
          <a:p xmlns:a="http://schemas.openxmlformats.org/drawingml/2006/main">
            <a:r>
              <a:t>Talking points</a:t>
            </a:r>
          </a:p>
          <a:p xmlns:a="http://schemas.openxmlformats.org/drawingml/2006/main">
            <a:r>
              <a:t>- Interview preparation begins with the vacancy and the application already submitted. Applicants revisit the criteria, research the organisation, prepare truthful examples and plan practical details such as time, access, technology and requested documents. Examples are easier to communicate when organised around context, task or goal, action and result. Preparation should create flexible evidence, not a speech that ignores the interviewer’s actual question.</a:t>
            </a:r>
          </a:p>
          <a:p xmlns:a="http://schemas.openxmlformats.org/drawingml/2006/main">
            <a:r>
              <a:t>- Interview performance combines listening, thinking and communicating. The applicant greets the interviewer appropriately, listens to the whole question, asks for clarification when needed and answers with relevant detail. Voice, pace, posture, facial expression and eye contact can support meaning, but expectations vary across people, cultures and disability. Professional communication is not one narrow style. The goal is respectful, accessible interaction and evidence of capability, not imitation of a stereotype.</a:t>
            </a:r>
          </a:p>
          <a:p xmlns:a="http://schemas.openxmlformats.org/drawingml/2006/main">
            <a:r>
              <a:t>- An interview is also a two-way information exchange. Thoughtful questions can clarify duties, support, learning and next steps without demanding information already provided. Afterward, the applicant records what was asked, evaluates which examples worked, identifies gaps and seeks feedback where available. A result is not a complete measure of personal worth. Reflection turns one performance into preparation for the next opportunity while keeping claims about the employer or decision evidence-based.</a:t>
            </a:r>
          </a:p>
          <a:p xmlns:a="http://schemas.openxmlformats.org/drawingml/2006/main">
            <a:r>
              <a:t>- Worked example — Repairing a vague interview answer: Asked about teamwork, Erin says, ‘I work well with anyone,’ then stops. Erin pauses and adds a concise example: her group had conflicting availability, so she created a shared schedule, checked each person’s constraints and moved one deadline with agreement. The group completed the task on time. The revised answer demonstrates listening, organisation, negotiation and outcome. In reflection, Erin notes that preparing two flexible examples would help her avoid unsupported claims next time.</a:t>
            </a:r>
          </a:p>
          <a:p xmlns:a="http://schemas.openxmlformats.org/drawingml/2006/main">
            <a:r>
              <a:t>- Visual caption: Practice becomes useful when the response, body language and feedback can be reviewed and improved.</a:t>
            </a:r>
          </a:p>
          <a:p xmlns:a="http://schemas.openxmlformats.org/drawingml/2006/main">
            <a:r>
              <a:t>- Visual notice: Notice the practice partner, recording device and reflection notebook. What could the applicant review after the rehearsal?</a:t>
            </a:r>
          </a:p>
          <a:p xmlns:a="http://schemas.openxmlformats.org/drawingml/2006/main">
            <a:r>
              <a:t>- Applied evidence: Prepare three privacy-safe evidence examples for a fictional vacancy, conduct a short paired interview and use an evidence/listening rubric to give feedback and revise one answer. Three planning cards, peer feedback and a revised answer with a reflection note.</a:t>
            </a:r>
          </a:p>
          <a:p xmlns:a="http://schemas.openxmlformats.org/drawingml/2006/main">
            <a:r>
              <a:t/>
            </a:r>
          </a:p>
          <a:p xmlns:a="http://schemas.openxmlformats.org/drawingml/2006/main">
            <a:r>
              <a:t>Prompt: Rewrite one vague answer and explain the improvement.</a:t>
            </a:r>
          </a:p>
          <a:p xmlns:a="http://schemas.openxmlformats.org/drawingml/2006/main">
            <a:r>
              <a:t/>
            </a:r>
          </a:p>
          <a:p xmlns:a="http://schemas.openxmlformats.org/drawingml/2006/main">
            <a:r>
              <a:t>Likely misconception or nuance</a:t>
            </a:r>
          </a:p>
          <a:p xmlns:a="http://schemas.openxmlformats.org/drawingml/2006/main">
            <a:r>
              <a:t>- A strong interview answer must be memorised word for word. Correction: Strong preparation organises flexible evidence so the applicant can listen and respond to the actual question.</a:t>
            </a:r>
          </a:p>
          <a:p xmlns:a="http://schemas.openxmlformats.org/drawingml/2006/main">
            <a:r>
              <a:t/>
            </a:r>
          </a:p>
          <a:p xmlns:a="http://schemas.openxmlformats.org/drawingml/2006/main">
            <a:r>
              <a:t>Transition: Move from the three teaching sections into retrieval.</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specialists/visuals/web-ready/m02-s03.webp | original AI-generated raster | SHA-256 7c4b3b3c12af0e050853959f6e38eb07f7d234574daf00d789d0fd6091e0af19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Retrieve and repair reasoning across all three sections.</a:t>
            </a:r>
          </a:p>
          <a:p xmlns:a="http://schemas.openxmlformats.org/drawingml/2006/main">
            <a:r>
              <a:t/>
            </a:r>
          </a:p>
          <a:p xmlns:a="http://schemas.openxmlformats.org/drawingml/2006/main">
            <a:r>
              <a:t>Talking points</a:t>
            </a:r>
          </a:p>
          <a:p xmlns:a="http://schemas.openxmlformats.org/drawingml/2006/main">
            <a:r>
              <a:t>- Give quiet recall time before opening the discussion.</a:t>
            </a:r>
          </a:p>
          <a:p xmlns:a="http://schemas.openxmlformats.org/drawingml/2006/main">
            <a:r>
              <a:t>- Check 1: A specific example showing the team goal, the applicant’s action and the result. Rationale: Selection evidence should demonstrate the capability in context.</a:t>
            </a:r>
          </a:p>
          <a:p xmlns:a="http://schemas.openxmlformats.org/drawingml/2006/main">
            <a:r>
              <a:t>- Check 2: Listened to visitor questions, explained two service options and checked that each visitor understood the next step. Rationale: The revision shows audience, actions and a check on the result.</a:t>
            </a:r>
          </a:p>
          <a:p xmlns:a="http://schemas.openxmlformats.org/drawingml/2006/main">
            <a:r>
              <a:t>- Check 3: Organise several truthful examples that can be adapted to the question. Rationale: Flexible evidence supports listening and relevance.</a:t>
            </a:r>
          </a:p>
          <a:p xmlns:a="http://schemas.openxmlformats.org/drawingml/2006/main">
            <a:r>
              <a:t/>
            </a:r>
          </a:p>
          <a:p xmlns:a="http://schemas.openxmlformats.org/drawingml/2006/main">
            <a:r>
              <a:t>Prompt: Ask students to justify an answer before checking the matching theory section.</a:t>
            </a:r>
          </a:p>
          <a:p xmlns:a="http://schemas.openxmlformats.org/drawingml/2006/main">
            <a:r>
              <a:t/>
            </a:r>
          </a:p>
          <a:p xmlns:a="http://schemas.openxmlformats.org/drawingml/2006/main">
            <a:r>
              <a:t>Transition: Use the retrieved ideas to construct one sustained evidence response.</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Guide one higher-order response anchored in Interview preparation, performance and reflection.</a:t>
            </a:r>
          </a:p>
          <a:p xmlns:a="http://schemas.openxmlformats.org/drawingml/2006/main">
            <a:r>
              <a:t/>
            </a:r>
          </a:p>
          <a:p xmlns:a="http://schemas.openxmlformats.org/drawingml/2006/main">
            <a:r>
              <a:t>Talking points</a:t>
            </a:r>
          </a:p>
          <a:p xmlns:a="http://schemas.openxmlformats.org/drawingml/2006/main">
            <a:r>
              <a:t>- Prompt: Evaluate a fictional interview performance and design a stronger preparation and response strategy.</a:t>
            </a:r>
          </a:p>
          <a:p xmlns:a="http://schemas.openxmlformats.org/drawingml/2006/main">
            <a:r>
              <a:t>- Identify evidence of preparation, listening and professional communication.</a:t>
            </a:r>
          </a:p>
          <a:p xmlns:a="http://schemas.openxmlformats.org/drawingml/2006/main">
            <a:r>
              <a:t>- Analyse the relevance and strength of two answers.</a:t>
            </a:r>
          </a:p>
          <a:p xmlns:a="http://schemas.openxmlformats.org/drawingml/2006/main">
            <a:r>
              <a:t>- Consider verbal, non-verbal and inclusive communication.</a:t>
            </a:r>
          </a:p>
          <a:p xmlns:a="http://schemas.openxmlformats.org/drawingml/2006/main">
            <a:r>
              <a:t>- Recommend specific changes before the next interview.</a:t>
            </a:r>
          </a:p>
          <a:p xmlns:a="http://schemas.openxmlformats.org/drawingml/2006/main">
            <a:r>
              <a:t>- Success criteria: Judges performance using observable evidence.; Improves answers through relevant context–action–result examples.; Provides practical, inclusive preparation and reflection strategies.</a:t>
            </a:r>
          </a:p>
          <a:p xmlns:a="http://schemas.openxmlformats.org/drawingml/2006/main">
            <a:r>
              <a:t>- Folio visual: A useful folio brings work samples, observations, records and reflection together so progress can be explained.</a:t>
            </a:r>
          </a:p>
          <a:p xmlns:a="http://schemas.openxmlformats.org/drawingml/2006/main">
            <a:r>
              <a:t/>
            </a:r>
          </a:p>
          <a:p xmlns:a="http://schemas.openxmlformats.org/drawingml/2006/main">
            <a:r>
              <a:t>Prompt: Ask students to state their judgement before selecting evidence, then test whether every claim is supported.</a:t>
            </a:r>
          </a:p>
          <a:p xmlns:a="http://schemas.openxmlformats.org/drawingml/2006/main">
            <a:r>
              <a:t/>
            </a:r>
          </a:p>
          <a:p xmlns:a="http://schemas.openxmlformats.org/drawingml/2006/main">
            <a:r>
              <a:t>Transition: Close with a three-part exit record and a clear evidence boundary.</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specialists/visuals/web-ready/folio-evidence.webp | original AI-generated raster | SHA-256 0d3e88f590077ba563b8f3dd06a0c2c9a2975bdd4b4a3b8294cdc877d6dd366d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focus: Create a concrete learning record while keeping the assessment boundary explicit.</a:t>
            </a:r>
          </a:p>
          <a:p xmlns:a="http://schemas.openxmlformats.org/drawingml/2006/main">
            <a:r>
              <a:t/>
            </a:r>
          </a:p>
          <a:p xmlns:a="http://schemas.openxmlformats.org/drawingml/2006/main">
            <a:r>
              <a:t>Talking points</a:t>
            </a:r>
          </a:p>
          <a:p xmlns:a="http://schemas.openxmlformats.org/drawingml/2006/main">
            <a:r>
              <a:t>- Students complete all three exit prompts before discussion.</a:t>
            </a:r>
          </a:p>
          <a:p xmlns:a="http://schemas.openxmlformats.org/drawingml/2006/main">
            <a:r>
              <a:t>- The saved response is formative learning evidence, not a formal submission.</a:t>
            </a:r>
          </a:p>
          <a:p xmlns:a="http://schemas.openxmlformats.org/drawingml/2006/main">
            <a:r>
              <a:t>- Assessment-orientation visual: The task brief sets the requirements; work evidence and reflection show how those requirements were addressed.</a:t>
            </a:r>
          </a:p>
          <a:p xmlns:a="http://schemas.openxmlformats.org/drawingml/2006/main">
            <a:r>
              <a:t/>
            </a:r>
          </a:p>
          <a:p xmlns:a="http://schemas.openxmlformats.org/drawingml/2006/main">
            <a:r>
              <a:t>Prompt: Notice the three sources being compared. What could each contribute to a fair explanation of achievement?</a:t>
            </a:r>
          </a:p>
          <a:p xmlns:a="http://schemas.openxmlformats.org/drawingml/2006/main">
            <a:r>
              <a:t/>
            </a:r>
          </a:p>
          <a:p xmlns:a="http://schemas.openxmlformats.org/drawingml/2006/main">
            <a:r>
              <a:t>Likely misconception or nuance</a:t>
            </a:r>
          </a:p>
          <a:p xmlns:a="http://schemas.openxmlformats.org/drawingml/2006/main">
            <a:r>
              <a:t>- Saving learning evidence does not automatically submit it for assessment or prove achievement.</a:t>
            </a:r>
          </a:p>
          <a:p xmlns:a="http://schemas.openxmlformats.org/drawingml/2006/main">
            <a:r>
              <a:t/>
            </a:r>
          </a:p>
          <a:p xmlns:a="http://schemas.openxmlformats.org/drawingml/2006/main">
            <a:r>
              <a:t>Transition: End with each student's stated next question or action.</a:t>
            </a:r>
          </a:p>
          <a:p xmlns:a="http://schemas.openxmlformats.org/drawingml/2006/main">
            <a:r>
              <a:t/>
            </a:r>
          </a:p>
          <a:p xmlns:a="http://schemas.openxmlformats.org/drawingml/2006/main">
            <a:r>
              <a:t>[Sources]</a:t>
            </a:r>
          </a:p>
          <a:p xmlns:a="http://schemas.openxmlformats.org/drawingml/2006/main">
            <a:r>
              <a:t>- NSW Work Studies Stage 6 Content Endorsed Course syllabus: https://library.curriculum.nsw.edu.au/341419dc-8ec2-0289-7225-6db7f2d751ef/8fda1536-85d8-4b5e-83cd-387160b95ca1/work-studies-stage-6-cec-2012.pdf</a:t>
            </a:r>
          </a:p>
          <a:p xmlns:a="http://schemas.openxmlformats.org/drawingml/2006/main">
            <a:r>
              <a:t>- Teacher-posted source: stage-01/sources/Module 2 - course support PDF</a:t>
            </a:r>
          </a:p>
          <a:p xmlns:a="http://schemas.openxmlformats.org/drawingml/2006/main">
            <a:r>
              <a:t>- Approved learning package: specialists/learning/course-content.js (SHA-256 1562e52eb7e549764869cf2bd90394e38177901e146f17e8b74e035bca13bf9e)</a:t>
            </a:r>
          </a:p>
          <a:p xmlns:a="http://schemas.openxmlformats.org/drawingml/2006/main">
            <a:r>
              <a:t>- Visual: specialists/visuals/web-ready/assessment-orientation.webp | original AI-generated raster | SHA-256 78b88ec22b90ac0135ac756df19012e62644e6174e0988f1df2848e74d2b2ce1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3e937e56eb4a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c1b08da4144f7d" /><Relationship Type="http://schemas.openxmlformats.org/officeDocument/2006/relationships/slideLayout" Target="/ppt/slideLayouts/slideLayout1.xml" Id="R899385ec5f4142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9385ec5f4142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93100ffc5f4364" /><Relationship Type="http://schemas.openxmlformats.org/officeDocument/2006/relationships/image" Target="/ppt/media/image.bin" Id="Rd163430f9862441a" /><Relationship Type="http://schemas.openxmlformats.org/officeDocument/2006/relationships/notesSlide" Target="/ppt/notesSlides/notesSlide1.xml" Id="Rc993a4a3fa4c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5dcdce11ca4a74" /><Relationship Type="http://schemas.openxmlformats.org/officeDocument/2006/relationships/notesSlide" Target="/ppt/notesSlides/notesSlide2.xml" Id="R97c089cc8ebd42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bc905e4fe54085" /><Relationship Type="http://schemas.openxmlformats.org/officeDocument/2006/relationships/image" Target="/ppt/media/image2.bin" Id="Rd4b63f757f424738" /><Relationship Type="http://schemas.openxmlformats.org/officeDocument/2006/relationships/notesSlide" Target="/ppt/notesSlides/notesSlide3.xml" Id="Rf44ccf01880143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332b4e33e124c6f" /><Relationship Type="http://schemas.openxmlformats.org/officeDocument/2006/relationships/image" Target="/ppt/media/image3.bin" Id="Rd58440f0a9474dd7" /><Relationship Type="http://schemas.openxmlformats.org/officeDocument/2006/relationships/notesSlide" Target="/ppt/notesSlides/notesSlide4.xml" Id="R927c048758d04c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f47fa0c0434769" /><Relationship Type="http://schemas.openxmlformats.org/officeDocument/2006/relationships/image" Target="/ppt/media/image4.bin" Id="R5a18439e4ada4db7" /><Relationship Type="http://schemas.openxmlformats.org/officeDocument/2006/relationships/notesSlide" Target="/ppt/notesSlides/notesSlide5.xml" Id="Rb772a62391544c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9b6099058c4f98" /><Relationship Type="http://schemas.openxmlformats.org/officeDocument/2006/relationships/notesSlide" Target="/ppt/notesSlides/notesSlide6.xml" Id="R4079ddb1d98d41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c478a0547274ea7" /><Relationship Type="http://schemas.openxmlformats.org/officeDocument/2006/relationships/image" Target="/ppt/media/image5.bin" Id="Rfaa0b5eba20c48d6" /><Relationship Type="http://schemas.openxmlformats.org/officeDocument/2006/relationships/notesSlide" Target="/ppt/notesSlides/notesSlide7.xml" Id="R7b34efb478b94a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63182f224b4a93" /><Relationship Type="http://schemas.openxmlformats.org/officeDocument/2006/relationships/image" Target="/ppt/media/image6.bin" Id="R713b42c852cf43e7" /><Relationship Type="http://schemas.openxmlformats.org/officeDocument/2006/relationships/notesSlide" Target="/ppt/notesSlides/notesSlide8.xml" Id="Rb29b7abb50224bf4" /></Relationships>
</file>

<file path=ppt/slides/slide1.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163430f9862441a"/>
          <a:srcRect xmlns:a="http://schemas.openxmlformats.org/drawingml/2006/main" l="12639" t="0" r="12639" b="0"/>
          <a:stretch xmlns:a="http://schemas.openxmlformats.org/drawingml/2006/main">
            <a:fillRect l="0" t="0" r="0" b="0"/>
          </a:stretch>
        </p:blipFill>
        <p:spPr>
          <a:xfrm xmlns:a="http://schemas.openxmlformats.org/drawingml/2006/main">
            <a:off x="7067550" y="0"/>
            <a:ext cx="5124450" cy="6858000"/>
          </a:xfrm>
          <a:prstGeom xmlns:a="http://schemas.openxmlformats.org/drawingml/2006/main" prst="rect">
            <a:avLst/>
          </a:prstGeom>
        </p:spPr>
      </p:pic>
      <p:sp>
        <p:nvSpPr>
          <p:cNvPr id="2" name="purpose-accent">
            <a:extLst xmlns:a="http://schemas.openxmlformats.org/drawingml/2006/main">
              <a:ext uri="{FF2B5EF4-FFF2-40B4-BE49-F238E27FC236}">
                <a16:creationId xmlns:a16="http://schemas.microsoft.com/office/drawing/2014/main" id="{2B753B6A-A86F-4277-8888-0E6DA2CF5453}"/>
              </a:ext>
            </a:extLst>
          </p:cNvPr>
          <p:cNvSpPr>
            <a:spLocks xmlns:a="http://schemas.openxmlformats.org/drawingml/2006/main" noGrp="1"/>
          </p:cNvSpPr>
          <p:nvPr/>
        </p:nvSpPr>
        <p:spPr>
          <a:xfrm xmlns:a="http://schemas.openxmlformats.org/drawingml/2006/main">
            <a:off x="6705600" y="628650"/>
            <a:ext cx="76200" cy="5486400"/>
          </a:xfrm>
          <a:prstGeom xmlns:a="http://schemas.openxmlformats.org/drawingml/2006/main" prst="rect">
            <a:avLst/>
          </a:prstGeom>
          <a:solidFill xmlns:a="http://schemas.openxmlformats.org/drawingml/2006/main">
            <a:srgbClr val="E6B64D"/>
          </a:solidFill>
          <a:ln xmlns:a="http://schemas.openxmlformats.org/drawingml/2006/main" w="0">
            <a:noFill/>
            <a:prstDash val="solid"/>
          </a:ln>
        </p:spPr>
      </p:sp>
      <p:sp>
        <p:nvSpPr>
          <p:cNvPr id="3" name="purpose-course-label">
            <a:extLst xmlns:a="http://schemas.openxmlformats.org/drawingml/2006/main">
              <a:ext uri="{FF2B5EF4-FFF2-40B4-BE49-F238E27FC236}">
                <a16:creationId xmlns:a16="http://schemas.microsoft.com/office/drawing/2014/main" id="{5CC3AA4F-ED89-4A95-810A-0947F02B49E4}"/>
              </a:ext>
            </a:extLst>
          </p:cNvPr>
          <p:cNvSpPr>
            <a:spLocks xmlns:a="http://schemas.openxmlformats.org/drawingml/2006/main" noGrp="1"/>
          </p:cNvSpPr>
          <p:nvPr/>
        </p:nvSpPr>
        <p:spPr>
          <a:xfrm xmlns:a="http://schemas.openxmlformats.org/drawingml/2006/main">
            <a:off x="685800" y="704850"/>
            <a:ext cx="561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C6572F"/>
                </a:solidFill>
                <a:latin typeface="Aptos"/>
                <a:ea typeface="Aptos"/>
                <a:cs typeface="Aptos"/>
              </a:defRPr>
            </a:pPr>
            <a:r>
              <a:rPr sz="1125" b="1">
                <a:solidFill>
                  <a:srgbClr val="C6572F"/>
                </a:solidFill>
                <a:latin typeface="Aptos"/>
                <a:ea typeface="Aptos"/>
                <a:cs typeface="Aptos"/>
              </a:rPr>
              <a:t>YEARS 11–12 WORK STUDIES  ·  YEAR 11  ·  M02</a:t>
            </a:r>
          </a:p>
        </p:txBody>
      </p:sp>
      <p:sp>
        <p:nvSpPr>
          <p:cNvPr id="4" name="purpose-title">
            <a:extLst xmlns:a="http://schemas.openxmlformats.org/drawingml/2006/main">
              <a:ext uri="{FF2B5EF4-FFF2-40B4-BE49-F238E27FC236}">
                <a16:creationId xmlns:a16="http://schemas.microsoft.com/office/drawing/2014/main" id="{DCCA1DCA-CB93-4407-A28D-B630ED8C255F}"/>
              </a:ext>
            </a:extLst>
          </p:cNvPr>
          <p:cNvSpPr>
            <a:spLocks xmlns:a="http://schemas.openxmlformats.org/drawingml/2006/main" noGrp="1"/>
          </p:cNvSpPr>
          <p:nvPr/>
        </p:nvSpPr>
        <p:spPr>
          <a:xfrm xmlns:a="http://schemas.openxmlformats.org/drawingml/2006/main">
            <a:off x="685800" y="1257300"/>
            <a:ext cx="5619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3000"/>
              </a:lnSpc>
              <a:buNone/>
              <a:defRPr sz="4650" b="1">
                <a:solidFill>
                  <a:srgbClr val="0B2637"/>
                </a:solidFill>
                <a:latin typeface="Aptos Display"/>
                <a:ea typeface="Aptos Display"/>
                <a:cs typeface="Aptos Display"/>
              </a:defRPr>
            </a:pPr>
            <a:r>
              <a:rPr sz="4650" b="1">
                <a:solidFill>
                  <a:srgbClr val="0B2637"/>
                </a:solidFill>
                <a:latin typeface="Aptos Display"/>
                <a:ea typeface="Aptos Display"/>
                <a:cs typeface="Aptos Display"/>
              </a:rPr>
              <a:t>Preparing Job Applications</a:t>
            </a:r>
          </a:p>
        </p:txBody>
      </p:sp>
      <p:sp>
        <p:nvSpPr>
          <p:cNvPr id="5" name="purpose-summary">
            <a:extLst xmlns:a="http://schemas.openxmlformats.org/drawingml/2006/main">
              <a:ext uri="{FF2B5EF4-FFF2-40B4-BE49-F238E27FC236}">
                <a16:creationId xmlns:a16="http://schemas.microsoft.com/office/drawing/2014/main" id="{3ED89EC1-DD99-47B5-9F3E-8F175716B3CA}"/>
              </a:ext>
            </a:extLst>
          </p:cNvPr>
          <p:cNvSpPr>
            <a:spLocks xmlns:a="http://schemas.openxmlformats.org/drawingml/2006/main" noGrp="1"/>
          </p:cNvSpPr>
          <p:nvPr/>
        </p:nvSpPr>
        <p:spPr>
          <a:xfrm xmlns:a="http://schemas.openxmlformats.org/drawingml/2006/main">
            <a:off x="685800" y="3124200"/>
            <a:ext cx="55816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875" b="0">
                <a:solidFill>
                  <a:srgbClr val="14232D"/>
                </a:solidFill>
                <a:latin typeface="Aptos"/>
                <a:ea typeface="Aptos"/>
                <a:cs typeface="Aptos"/>
              </a:defRPr>
            </a:pPr>
            <a:r>
              <a:rPr sz="1875" b="0">
                <a:solidFill>
                  <a:srgbClr val="14232D"/>
                </a:solidFill>
                <a:latin typeface="Aptos"/>
                <a:ea typeface="Aptos"/>
                <a:cs typeface="Aptos"/>
              </a:rPr>
              <a:t>Interpret opportunities, present evidence and prepare for interviews with purpose.</a:t>
            </a:r>
          </a:p>
        </p:txBody>
      </p:sp>
      <p:sp>
        <p:nvSpPr>
          <p:cNvPr id="6" name="purpose-before-label">
            <a:extLst xmlns:a="http://schemas.openxmlformats.org/drawingml/2006/main">
              <a:ext uri="{FF2B5EF4-FFF2-40B4-BE49-F238E27FC236}">
                <a16:creationId xmlns:a16="http://schemas.microsoft.com/office/drawing/2014/main" id="{1A765C82-DD45-44DF-A527-C04C5F6F488C}"/>
              </a:ext>
            </a:extLst>
          </p:cNvPr>
          <p:cNvSpPr>
            <a:spLocks xmlns:a="http://schemas.openxmlformats.org/drawingml/2006/main" noGrp="1"/>
          </p:cNvSpPr>
          <p:nvPr/>
        </p:nvSpPr>
        <p:spPr>
          <a:xfrm xmlns:a="http://schemas.openxmlformats.org/drawingml/2006/main">
            <a:off x="685800" y="46101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125" b="1">
                <a:solidFill>
                  <a:srgbClr val="1F5141"/>
                </a:solidFill>
                <a:latin typeface="Aptos"/>
                <a:ea typeface="Aptos"/>
                <a:cs typeface="Aptos"/>
              </a:defRPr>
            </a:pPr>
            <a:r>
              <a:rPr sz="1125" b="1">
                <a:solidFill>
                  <a:srgbClr val="1F5141"/>
                </a:solidFill>
                <a:latin typeface="Aptos"/>
                <a:ea typeface="Aptos"/>
                <a:cs typeface="Aptos"/>
              </a:rPr>
              <a:t>BEFORE WE BEGIN</a:t>
            </a:r>
          </a:p>
        </p:txBody>
      </p:sp>
      <p:sp>
        <p:nvSpPr>
          <p:cNvPr id="7" name="purpose-question">
            <a:extLst xmlns:a="http://schemas.openxmlformats.org/drawingml/2006/main">
              <a:ext uri="{FF2B5EF4-FFF2-40B4-BE49-F238E27FC236}">
                <a16:creationId xmlns:a16="http://schemas.microsoft.com/office/drawing/2014/main" id="{BDA60C77-BD83-49CE-8F15-608B88FFE685}"/>
              </a:ext>
            </a:extLst>
          </p:cNvPr>
          <p:cNvSpPr>
            <a:spLocks xmlns:a="http://schemas.openxmlformats.org/drawingml/2006/main" noGrp="1"/>
          </p:cNvSpPr>
          <p:nvPr/>
        </p:nvSpPr>
        <p:spPr>
          <a:xfrm xmlns:a="http://schemas.openxmlformats.org/drawingml/2006/main">
            <a:off x="685800" y="4953000"/>
            <a:ext cx="55435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800" b="1">
                <a:solidFill>
                  <a:srgbClr val="0B2637"/>
                </a:solidFill>
                <a:latin typeface="Aptos"/>
                <a:ea typeface="Aptos"/>
                <a:cs typeface="Aptos"/>
              </a:defRPr>
            </a:pPr>
            <a:r>
              <a:rPr sz="1800" b="1">
                <a:solidFill>
                  <a:srgbClr val="0B2637"/>
                </a:solidFill>
                <a:latin typeface="Aptos"/>
                <a:ea typeface="Aptos"/>
                <a:cs typeface="Aptos"/>
              </a:rPr>
              <a:t>Where might these ideas affect a real workplace, pathway or life decision?</a:t>
            </a:r>
          </a:p>
        </p:txBody>
      </p:sp>
      <p:sp>
        <p:nvSpPr>
          <p:cNvPr id="8" name="purpose-footer-rule">
            <a:extLst xmlns:a="http://schemas.openxmlformats.org/drawingml/2006/main">
              <a:ext uri="{FF2B5EF4-FFF2-40B4-BE49-F238E27FC236}">
                <a16:creationId xmlns:a16="http://schemas.microsoft.com/office/drawing/2014/main" id="{66FEAD67-1CF8-4676-BCBF-24D35043EBBD}"/>
              </a:ext>
            </a:extLst>
          </p:cNvPr>
          <p:cNvSpPr>
            <a:spLocks xmlns:a="http://schemas.openxmlformats.org/drawingml/2006/main" noGrp="1"/>
          </p:cNvSpPr>
          <p:nvPr/>
        </p:nvSpPr>
        <p:spPr>
          <a:xfrm xmlns:a="http://schemas.openxmlformats.org/drawingml/2006/main">
            <a:off x="685800" y="6381750"/>
            <a:ext cx="561975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9" name="purpose-footer-module">
            <a:extLst xmlns:a="http://schemas.openxmlformats.org/drawingml/2006/main">
              <a:ext uri="{FF2B5EF4-FFF2-40B4-BE49-F238E27FC236}">
                <a16:creationId xmlns:a16="http://schemas.microsoft.com/office/drawing/2014/main" id="{71286FE0-F0E6-4C35-A57B-2E8D5AF2102F}"/>
              </a:ext>
            </a:extLst>
          </p:cNvPr>
          <p:cNvSpPr>
            <a:spLocks xmlns:a="http://schemas.openxmlformats.org/drawingml/2006/main" noGrp="1"/>
          </p:cNvSpPr>
          <p:nvPr/>
        </p:nvSpPr>
        <p:spPr>
          <a:xfrm xmlns:a="http://schemas.openxmlformats.org/drawingml/2006/main">
            <a:off x="685800" y="6496050"/>
            <a:ext cx="462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10" name="purpose-footer-number">
            <a:extLst xmlns:a="http://schemas.openxmlformats.org/drawingml/2006/main">
              <a:ext uri="{FF2B5EF4-FFF2-40B4-BE49-F238E27FC236}">
                <a16:creationId xmlns:a16="http://schemas.microsoft.com/office/drawing/2014/main" id="{EAED0354-FC4F-48E3-A5DF-44D1850C926B}"/>
              </a:ext>
            </a:extLst>
          </p:cNvPr>
          <p:cNvSpPr>
            <a:spLocks xmlns:a="http://schemas.openxmlformats.org/drawingml/2006/main" noGrp="1"/>
          </p:cNvSpPr>
          <p:nvPr/>
        </p:nvSpPr>
        <p:spPr>
          <a:xfrm xmlns:a="http://schemas.openxmlformats.org/drawingml/2006/main">
            <a:off x="573405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01</a:t>
            </a:r>
          </a:p>
        </p:txBody>
      </p:sp>
    </p:spTree>
    <p:extLst>
      <p:ext uri="{BB962C8B-B14F-4D97-AF65-F5344CB8AC3E}">
        <p14:creationId xmlns:p14="http://schemas.microsoft.com/office/powerpoint/2010/main" val="1518164724"/>
      </p:ext>
    </p:extLst>
  </p:cSld>
</p:sld>
</file>

<file path=ppt/slides/slide2.xml><?xml version="1.0" encoding="utf-8"?>
<p:sld xmlns:p="http://schemas.openxmlformats.org/presentationml/2006/main">
  <p:cSld>
    <p:bg>
      <p:bgPr>
        <a:solidFill xmlns:a="http://schemas.openxmlformats.org/drawingml/2006/main">
          <a:srgbClr val="0B2637"/>
        </a:solidFill>
      </p:bgPr>
    </p:bg>
    <p:spTree>
      <p:nvGrpSpPr>
        <p:cNvPr id="1" name=""/>
        <p:cNvGrpSpPr/>
        <p:nvPr/>
      </p:nvGrpSpPr>
      <p:grpSpPr>
        <a:xfrm xmlns:a="http://schemas.openxmlformats.org/drawingml/2006/main"/>
      </p:grpSpPr>
      <p:sp>
        <p:nvSpPr>
          <p:cNvPr id="19" name="module-label-2">
            <a:extLst xmlns:a="http://schemas.openxmlformats.org/drawingml/2006/main">
              <a:ext uri="{FF2B5EF4-FFF2-40B4-BE49-F238E27FC236}">
                <a16:creationId xmlns:a16="http://schemas.microsoft.com/office/drawing/2014/main" id="{8F8C5FF5-5F1A-426E-BAFD-6A16AE85FCA4}"/>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M02</a:t>
            </a:r>
          </a:p>
        </p:txBody>
      </p:sp>
      <p:sp>
        <p:nvSpPr>
          <p:cNvPr id="2" name="slide-title-2">
            <a:extLst xmlns:a="http://schemas.openxmlformats.org/drawingml/2006/main">
              <a:ext uri="{FF2B5EF4-FFF2-40B4-BE49-F238E27FC236}">
                <a16:creationId xmlns:a16="http://schemas.microsoft.com/office/drawing/2014/main" id="{CB5CEEAF-4EC1-420E-BB3B-22E8AF2F5605}"/>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Three ideas build one practical understanding</a:t>
            </a:r>
          </a:p>
        </p:txBody>
      </p:sp>
      <p:sp>
        <p:nvSpPr>
          <p:cNvPr id="3" name="map-number-1">
            <a:extLst xmlns:a="http://schemas.openxmlformats.org/drawingml/2006/main">
              <a:ext uri="{FF2B5EF4-FFF2-40B4-BE49-F238E27FC236}">
                <a16:creationId xmlns:a16="http://schemas.microsoft.com/office/drawing/2014/main" id="{BB546160-5748-4DAE-993E-2F61D1E9B548}"/>
              </a:ext>
            </a:extLst>
          </p:cNvPr>
          <p:cNvSpPr>
            <a:spLocks xmlns:a="http://schemas.openxmlformats.org/drawingml/2006/main" noGrp="1"/>
          </p:cNvSpPr>
          <p:nvPr/>
        </p:nvSpPr>
        <p:spPr>
          <a:xfrm xmlns:a="http://schemas.openxmlformats.org/drawingml/2006/main">
            <a:off x="6858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01</a:t>
            </a:r>
          </a:p>
        </p:txBody>
      </p:sp>
      <p:sp>
        <p:nvSpPr>
          <p:cNvPr id="4" name="map-title-1">
            <a:extLst xmlns:a="http://schemas.openxmlformats.org/drawingml/2006/main">
              <a:ext uri="{FF2B5EF4-FFF2-40B4-BE49-F238E27FC236}">
                <a16:creationId xmlns:a16="http://schemas.microsoft.com/office/drawing/2014/main" id="{3A8486A7-6766-403A-AA79-C0FA8A69BD7D}"/>
              </a:ext>
            </a:extLst>
          </p:cNvPr>
          <p:cNvSpPr>
            <a:spLocks xmlns:a="http://schemas.openxmlformats.org/drawingml/2006/main" noGrp="1"/>
          </p:cNvSpPr>
          <p:nvPr/>
        </p:nvSpPr>
        <p:spPr>
          <a:xfrm xmlns:a="http://schemas.openxmlformats.org/drawingml/2006/main">
            <a:off x="6858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Reading opportunities and selection criteria</a:t>
            </a:r>
          </a:p>
        </p:txBody>
      </p:sp>
      <p:sp>
        <p:nvSpPr>
          <p:cNvPr id="5" name="map-intention-1">
            <a:extLst xmlns:a="http://schemas.openxmlformats.org/drawingml/2006/main">
              <a:ext uri="{FF2B5EF4-FFF2-40B4-BE49-F238E27FC236}">
                <a16:creationId xmlns:a16="http://schemas.microsoft.com/office/drawing/2014/main" id="{709C8F3B-F94E-452A-8561-7DF8A0028E2F}"/>
              </a:ext>
            </a:extLst>
          </p:cNvPr>
          <p:cNvSpPr>
            <a:spLocks xmlns:a="http://schemas.openxmlformats.org/drawingml/2006/main" noGrp="1"/>
          </p:cNvSpPr>
          <p:nvPr/>
        </p:nvSpPr>
        <p:spPr>
          <a:xfrm xmlns:a="http://schemas.openxmlformats.org/drawingml/2006/main">
            <a:off x="6858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Interpret job opportunities and decide whether the role and evidence are a credible match.</a:t>
            </a:r>
          </a:p>
        </p:txBody>
      </p:sp>
      <p:sp>
        <p:nvSpPr>
          <p:cNvPr id="6" name="map-divider-1">
            <a:extLst xmlns:a="http://schemas.openxmlformats.org/drawingml/2006/main">
              <a:ext uri="{FF2B5EF4-FFF2-40B4-BE49-F238E27FC236}">
                <a16:creationId xmlns:a16="http://schemas.microsoft.com/office/drawing/2014/main" id="{3A5EAC2E-2AA4-4C54-B070-F5708411CD88}"/>
              </a:ext>
            </a:extLst>
          </p:cNvPr>
          <p:cNvSpPr>
            <a:spLocks xmlns:a="http://schemas.openxmlformats.org/drawingml/2006/main" noGrp="1"/>
          </p:cNvSpPr>
          <p:nvPr/>
        </p:nvSpPr>
        <p:spPr>
          <a:xfrm xmlns:a="http://schemas.openxmlformats.org/drawingml/2006/main">
            <a:off x="403860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7" name="map-number-2">
            <a:extLst xmlns:a="http://schemas.openxmlformats.org/drawingml/2006/main">
              <a:ext uri="{FF2B5EF4-FFF2-40B4-BE49-F238E27FC236}">
                <a16:creationId xmlns:a16="http://schemas.microsoft.com/office/drawing/2014/main" id="{A1C52F55-0B01-41B5-A2CE-360EFFB03869}"/>
              </a:ext>
            </a:extLst>
          </p:cNvPr>
          <p:cNvSpPr>
            <a:spLocks xmlns:a="http://schemas.openxmlformats.org/drawingml/2006/main" noGrp="1"/>
          </p:cNvSpPr>
          <p:nvPr/>
        </p:nvSpPr>
        <p:spPr>
          <a:xfrm xmlns:a="http://schemas.openxmlformats.org/drawingml/2006/main">
            <a:off x="428625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C6572F"/>
                </a:solidFill>
                <a:latin typeface="Aptos Display"/>
                <a:ea typeface="Aptos Display"/>
                <a:cs typeface="Aptos Display"/>
              </a:defRPr>
            </a:pPr>
            <a:r>
              <a:rPr sz="2850" b="1">
                <a:solidFill>
                  <a:srgbClr val="C6572F"/>
                </a:solidFill>
                <a:latin typeface="Aptos Display"/>
                <a:ea typeface="Aptos Display"/>
                <a:cs typeface="Aptos Display"/>
              </a:rPr>
              <a:t>02</a:t>
            </a:r>
          </a:p>
        </p:txBody>
      </p:sp>
      <p:sp>
        <p:nvSpPr>
          <p:cNvPr id="8" name="map-title-2">
            <a:extLst xmlns:a="http://schemas.openxmlformats.org/drawingml/2006/main">
              <a:ext uri="{FF2B5EF4-FFF2-40B4-BE49-F238E27FC236}">
                <a16:creationId xmlns:a16="http://schemas.microsoft.com/office/drawing/2014/main" id="{4EEDE356-CFFF-41FA-ADEA-760B77B64D13}"/>
              </a:ext>
            </a:extLst>
          </p:cNvPr>
          <p:cNvSpPr>
            <a:spLocks xmlns:a="http://schemas.openxmlformats.org/drawingml/2006/main" noGrp="1"/>
          </p:cNvSpPr>
          <p:nvPr/>
        </p:nvSpPr>
        <p:spPr>
          <a:xfrm xmlns:a="http://schemas.openxmlformats.org/drawingml/2006/main">
            <a:off x="428625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Building evidence-based applications</a:t>
            </a:r>
          </a:p>
        </p:txBody>
      </p:sp>
      <p:sp>
        <p:nvSpPr>
          <p:cNvPr id="9" name="map-intention-2">
            <a:extLst xmlns:a="http://schemas.openxmlformats.org/drawingml/2006/main">
              <a:ext uri="{FF2B5EF4-FFF2-40B4-BE49-F238E27FC236}">
                <a16:creationId xmlns:a16="http://schemas.microsoft.com/office/drawing/2014/main" id="{2393674F-0F87-486D-AA0D-E9B4B0A73DC0}"/>
              </a:ext>
            </a:extLst>
          </p:cNvPr>
          <p:cNvSpPr>
            <a:spLocks xmlns:a="http://schemas.openxmlformats.org/drawingml/2006/main" noGrp="1"/>
          </p:cNvSpPr>
          <p:nvPr/>
        </p:nvSpPr>
        <p:spPr>
          <a:xfrm xmlns:a="http://schemas.openxmlformats.org/drawingml/2006/main">
            <a:off x="428625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Create accurate, tailored application material that converts experience into relevant evidence.</a:t>
            </a:r>
          </a:p>
        </p:txBody>
      </p:sp>
      <p:sp>
        <p:nvSpPr>
          <p:cNvPr id="10" name="map-divider-2">
            <a:extLst xmlns:a="http://schemas.openxmlformats.org/drawingml/2006/main">
              <a:ext uri="{FF2B5EF4-FFF2-40B4-BE49-F238E27FC236}">
                <a16:creationId xmlns:a16="http://schemas.microsoft.com/office/drawing/2014/main" id="{399C1137-46DF-4583-B89B-7485130F6177}"/>
              </a:ext>
            </a:extLst>
          </p:cNvPr>
          <p:cNvSpPr>
            <a:spLocks xmlns:a="http://schemas.openxmlformats.org/drawingml/2006/main" noGrp="1"/>
          </p:cNvSpPr>
          <p:nvPr/>
        </p:nvSpPr>
        <p:spPr>
          <a:xfrm xmlns:a="http://schemas.openxmlformats.org/drawingml/2006/main">
            <a:off x="7639050" y="1581150"/>
            <a:ext cx="0" cy="3181350"/>
          </a:xfrm>
          <a:prstGeom xmlns:a="http://schemas.openxmlformats.org/drawingml/2006/main" prst="line">
            <a:avLst/>
          </a:prstGeom>
          <a:noFill xmlns:a="http://schemas.openxmlformats.org/drawingml/2006/main"/>
          <a:ln xmlns:a="http://schemas.openxmlformats.org/drawingml/2006/main" w="19050">
            <a:solidFill>
              <a:srgbClr val="416577"/>
            </a:solidFill>
            <a:prstDash val="solid"/>
          </a:ln>
        </p:spPr>
      </p:sp>
      <p:sp>
        <p:nvSpPr>
          <p:cNvPr id="11" name="map-number-3">
            <a:extLst xmlns:a="http://schemas.openxmlformats.org/drawingml/2006/main">
              <a:ext uri="{FF2B5EF4-FFF2-40B4-BE49-F238E27FC236}">
                <a16:creationId xmlns:a16="http://schemas.microsoft.com/office/drawing/2014/main" id="{D3296C1F-2FE3-4A3D-8EBB-70C53EB81FC3}"/>
              </a:ext>
            </a:extLst>
          </p:cNvPr>
          <p:cNvSpPr>
            <a:spLocks xmlns:a="http://schemas.openxmlformats.org/drawingml/2006/main" noGrp="1"/>
          </p:cNvSpPr>
          <p:nvPr/>
        </p:nvSpPr>
        <p:spPr>
          <a:xfrm xmlns:a="http://schemas.openxmlformats.org/drawingml/2006/main">
            <a:off x="7886700" y="1543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850" b="1">
                <a:solidFill>
                  <a:srgbClr val="E6B64D"/>
                </a:solidFill>
                <a:latin typeface="Aptos Display"/>
                <a:ea typeface="Aptos Display"/>
                <a:cs typeface="Aptos Display"/>
              </a:defRPr>
            </a:pPr>
            <a:r>
              <a:rPr sz="2850" b="1">
                <a:solidFill>
                  <a:srgbClr val="E6B64D"/>
                </a:solidFill>
                <a:latin typeface="Aptos Display"/>
                <a:ea typeface="Aptos Display"/>
                <a:cs typeface="Aptos Display"/>
              </a:rPr>
              <a:t>03</a:t>
            </a:r>
          </a:p>
        </p:txBody>
      </p:sp>
      <p:sp>
        <p:nvSpPr>
          <p:cNvPr id="12" name="map-title-3">
            <a:extLst xmlns:a="http://schemas.openxmlformats.org/drawingml/2006/main">
              <a:ext uri="{FF2B5EF4-FFF2-40B4-BE49-F238E27FC236}">
                <a16:creationId xmlns:a16="http://schemas.microsoft.com/office/drawing/2014/main" id="{3B1B0847-08E9-4C11-A41B-D38A3F11795D}"/>
              </a:ext>
            </a:extLst>
          </p:cNvPr>
          <p:cNvSpPr>
            <a:spLocks xmlns:a="http://schemas.openxmlformats.org/drawingml/2006/main" noGrp="1"/>
          </p:cNvSpPr>
          <p:nvPr/>
        </p:nvSpPr>
        <p:spPr>
          <a:xfrm xmlns:a="http://schemas.openxmlformats.org/drawingml/2006/main">
            <a:off x="7886700" y="2152650"/>
            <a:ext cx="31051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8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Interview preparation, performance and reflection</a:t>
            </a:r>
          </a:p>
        </p:txBody>
      </p:sp>
      <p:sp>
        <p:nvSpPr>
          <p:cNvPr id="13" name="map-intention-3">
            <a:extLst xmlns:a="http://schemas.openxmlformats.org/drawingml/2006/main">
              <a:ext uri="{FF2B5EF4-FFF2-40B4-BE49-F238E27FC236}">
                <a16:creationId xmlns:a16="http://schemas.microsoft.com/office/drawing/2014/main" id="{2A6F7BA3-B46A-44A4-9688-F73F1C66316B}"/>
              </a:ext>
            </a:extLst>
          </p:cNvPr>
          <p:cNvSpPr>
            <a:spLocks xmlns:a="http://schemas.openxmlformats.org/drawingml/2006/main" noGrp="1"/>
          </p:cNvSpPr>
          <p:nvPr/>
        </p:nvSpPr>
        <p:spPr>
          <a:xfrm xmlns:a="http://schemas.openxmlformats.org/drawingml/2006/main">
            <a:off x="7886700" y="3409950"/>
            <a:ext cx="310515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7000"/>
              </a:lnSpc>
              <a:buNone/>
              <a:defRPr sz="1500" b="0">
                <a:solidFill>
                  <a:srgbClr val="E2ECEF"/>
                </a:solidFill>
                <a:latin typeface="Aptos"/>
                <a:ea typeface="Aptos"/>
                <a:cs typeface="Aptos"/>
              </a:defRPr>
            </a:pPr>
            <a:r>
              <a:rPr sz="1500" b="0">
                <a:solidFill>
                  <a:srgbClr val="E2ECEF"/>
                </a:solidFill>
                <a:latin typeface="Aptos"/>
                <a:ea typeface="Aptos"/>
                <a:cs typeface="Aptos"/>
              </a:rPr>
              <a:t>Prepare, communicate and learn from an interview as a professional two-way conversation.</a:t>
            </a:r>
          </a:p>
        </p:txBody>
      </p:sp>
      <p:sp>
        <p:nvSpPr>
          <p:cNvPr id="14" name="map-prompt-band">
            <a:extLst xmlns:a="http://schemas.openxmlformats.org/drawingml/2006/main">
              <a:ext uri="{FF2B5EF4-FFF2-40B4-BE49-F238E27FC236}">
                <a16:creationId xmlns:a16="http://schemas.microsoft.com/office/drawing/2014/main" id="{C7D182BB-266D-41C0-BBFE-96D5139F9966}"/>
              </a:ext>
            </a:extLst>
          </p:cNvPr>
          <p:cNvSpPr>
            <a:spLocks xmlns:a="http://schemas.openxmlformats.org/drawingml/2006/main" noGrp="1"/>
          </p:cNvSpPr>
          <p:nvPr/>
        </p:nvSpPr>
        <p:spPr>
          <a:xfrm xmlns:a="http://schemas.openxmlformats.org/drawingml/2006/main">
            <a:off x="685800" y="5200650"/>
            <a:ext cx="10820400" cy="895350"/>
          </a:xfrm>
          <a:prstGeom xmlns:a="http://schemas.openxmlformats.org/drawingml/2006/main" prst="roundRect">
            <a:avLst>
              <a:gd name="adj" fmla="val 14894"/>
            </a:avLst>
          </a:prstGeom>
          <a:solidFill xmlns:a="http://schemas.openxmlformats.org/drawingml/2006/main">
            <a:srgbClr val="173D50"/>
          </a:solidFill>
          <a:ln xmlns:a="http://schemas.openxmlformats.org/drawingml/2006/main" w="0">
            <a:noFill/>
            <a:prstDash val="solid"/>
          </a:ln>
        </p:spPr>
      </p:sp>
      <p:sp>
        <p:nvSpPr>
          <p:cNvPr id="15" name="map-retrieval-prompt">
            <a:extLst xmlns:a="http://schemas.openxmlformats.org/drawingml/2006/main">
              <a:ext uri="{FF2B5EF4-FFF2-40B4-BE49-F238E27FC236}">
                <a16:creationId xmlns:a16="http://schemas.microsoft.com/office/drawing/2014/main" id="{41B48C1D-5B26-4D3E-BB1C-763BEAFC8EF0}"/>
              </a:ext>
            </a:extLst>
          </p:cNvPr>
          <p:cNvSpPr>
            <a:spLocks xmlns:a="http://schemas.openxmlformats.org/drawingml/2006/main" noGrp="1"/>
          </p:cNvSpPr>
          <p:nvPr/>
        </p:nvSpPr>
        <p:spPr>
          <a:xfrm xmlns:a="http://schemas.openxmlformats.org/drawingml/2006/main">
            <a:off x="971550" y="5372100"/>
            <a:ext cx="102489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Retrieval lens  ·  After each idea, explain what decision it improves and what evidence makes the explanation credible.</a:t>
            </a:r>
          </a:p>
        </p:txBody>
      </p:sp>
      <p:sp>
        <p:nvSpPr>
          <p:cNvPr id="16" name="footer-rule-2">
            <a:extLst xmlns:a="http://schemas.openxmlformats.org/drawingml/2006/main">
              <a:ext uri="{FF2B5EF4-FFF2-40B4-BE49-F238E27FC236}">
                <a16:creationId xmlns:a16="http://schemas.microsoft.com/office/drawing/2014/main" id="{C9726553-D2E7-4F25-B15B-415DEF95C42A}"/>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7" name="footer-module-2">
            <a:extLst xmlns:a="http://schemas.openxmlformats.org/drawingml/2006/main">
              <a:ext uri="{FF2B5EF4-FFF2-40B4-BE49-F238E27FC236}">
                <a16:creationId xmlns:a16="http://schemas.microsoft.com/office/drawing/2014/main" id="{2385B4DB-8FFF-4E6D-80CD-F54F2D4CDB7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M02  ·  Preparing Job Applications</a:t>
            </a:r>
          </a:p>
        </p:txBody>
      </p:sp>
      <p:sp>
        <p:nvSpPr>
          <p:cNvPr id="18" name="footer-number-2">
            <a:extLst xmlns:a="http://schemas.openxmlformats.org/drawingml/2006/main">
              <a:ext uri="{FF2B5EF4-FFF2-40B4-BE49-F238E27FC236}">
                <a16:creationId xmlns:a16="http://schemas.microsoft.com/office/drawing/2014/main" id="{4CB09AB1-09B8-4723-8068-C49D39BB7BD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02</a:t>
            </a:r>
          </a:p>
        </p:txBody>
      </p:sp>
    </p:spTree>
    <p:extLst>
      <p:ext uri="{BB962C8B-B14F-4D97-AF65-F5344CB8AC3E}">
        <p14:creationId xmlns:p14="http://schemas.microsoft.com/office/powerpoint/2010/main" val="1119954224"/>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3">
            <a:extLst xmlns:a="http://schemas.openxmlformats.org/drawingml/2006/main">
              <a:ext uri="{FF2B5EF4-FFF2-40B4-BE49-F238E27FC236}">
                <a16:creationId xmlns:a16="http://schemas.microsoft.com/office/drawing/2014/main" id="{269420D4-0DE3-463B-A691-49B1DB81DDA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M02</a:t>
            </a:r>
          </a:p>
        </p:txBody>
      </p:sp>
      <p:sp>
        <p:nvSpPr>
          <p:cNvPr id="2" name="slide-title-3">
            <a:extLst xmlns:a="http://schemas.openxmlformats.org/drawingml/2006/main">
              <a:ext uri="{FF2B5EF4-FFF2-40B4-BE49-F238E27FC236}">
                <a16:creationId xmlns:a16="http://schemas.microsoft.com/office/drawing/2014/main" id="{8A1EE306-5027-449A-9BCB-78BAD400C306}"/>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Reading opportunities and selection criteria</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b63f757f424738"/>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1">
            <a:extLst xmlns:a="http://schemas.openxmlformats.org/drawingml/2006/main">
              <a:ext uri="{FF2B5EF4-FFF2-40B4-BE49-F238E27FC236}">
                <a16:creationId xmlns:a16="http://schemas.microsoft.com/office/drawing/2014/main" id="{92D79EF2-F0A0-4DD3-9F44-93DA6AF33F37}"/>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Job opportunities may be advertised through employer sites, job platforms, agencies, careers services and community networks, while some are discovered through direct contact, work experience or recommendation. Selection criteria describe capabilities or evidence used to judge applicants. Suitability is two-way.</a:t>
            </a:r>
          </a:p>
        </p:txBody>
      </p:sp>
      <p:sp>
        <p:nvSpPr>
          <p:cNvPr id="5" name="theory-evidence-surface-1">
            <a:extLst xmlns:a="http://schemas.openxmlformats.org/drawingml/2006/main">
              <a:ext uri="{FF2B5EF4-FFF2-40B4-BE49-F238E27FC236}">
                <a16:creationId xmlns:a16="http://schemas.microsoft.com/office/drawing/2014/main" id="{8978B5EC-B6F2-4594-9D7F-BDAA4DB5B62C}"/>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1">
            <a:extLst xmlns:a="http://schemas.openxmlformats.org/drawingml/2006/main">
              <a:ext uri="{FF2B5EF4-FFF2-40B4-BE49-F238E27FC236}">
                <a16:creationId xmlns:a16="http://schemas.microsoft.com/office/drawing/2014/main" id="{3C774B2D-514B-4FE3-A285-F01172685866}"/>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1">
            <a:extLst xmlns:a="http://schemas.openxmlformats.org/drawingml/2006/main">
              <a:ext uri="{FF2B5EF4-FFF2-40B4-BE49-F238E27FC236}">
                <a16:creationId xmlns:a16="http://schemas.microsoft.com/office/drawing/2014/main" id="{F28B85BB-5116-4AF0-8026-83C589131078}"/>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Vacancy evidence match. Annotate a public-safe fictional vacancy. Evidence: An annotated vacancy, evidence matrix and 120-word suitability judgement.</a:t>
            </a:r>
          </a:p>
        </p:txBody>
      </p:sp>
      <p:sp>
        <p:nvSpPr>
          <p:cNvPr id="8" name="theory-notice-1">
            <a:extLst xmlns:a="http://schemas.openxmlformats.org/drawingml/2006/main">
              <a:ext uri="{FF2B5EF4-FFF2-40B4-BE49-F238E27FC236}">
                <a16:creationId xmlns:a16="http://schemas.microsoft.com/office/drawing/2014/main" id="{AF7DB5E5-7CB0-4253-9D48-A25D9F12D1AF}"/>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opportunity and three evidence sources. Which evidence appears most relevant, and what would still need checking?</a:t>
            </a:r>
          </a:p>
        </p:txBody>
      </p:sp>
      <p:sp>
        <p:nvSpPr>
          <p:cNvPr id="9" name="theory-success-1">
            <a:extLst xmlns:a="http://schemas.openxmlformats.org/drawingml/2006/main">
              <a:ext uri="{FF2B5EF4-FFF2-40B4-BE49-F238E27FC236}">
                <a16:creationId xmlns:a16="http://schemas.microsoft.com/office/drawing/2014/main" id="{DC69D7A2-E23B-4E98-A102-A6BA6C104FF1}"/>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separate role facts from promotional language.</a:t>
            </a:r>
          </a:p>
        </p:txBody>
      </p:sp>
      <p:sp>
        <p:nvSpPr>
          <p:cNvPr id="10" name="footer-rule-3">
            <a:extLst xmlns:a="http://schemas.openxmlformats.org/drawingml/2006/main">
              <a:ext uri="{FF2B5EF4-FFF2-40B4-BE49-F238E27FC236}">
                <a16:creationId xmlns:a16="http://schemas.microsoft.com/office/drawing/2014/main" id="{2BF984D1-A48E-40F7-8B8A-5B1B056CC332}"/>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3">
            <a:extLst xmlns:a="http://schemas.openxmlformats.org/drawingml/2006/main">
              <a:ext uri="{FF2B5EF4-FFF2-40B4-BE49-F238E27FC236}">
                <a16:creationId xmlns:a16="http://schemas.microsoft.com/office/drawing/2014/main" id="{9272A278-370A-4C47-8CC4-49BB3BE762B4}"/>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12" name="footer-number-3">
            <a:extLst xmlns:a="http://schemas.openxmlformats.org/drawingml/2006/main">
              <a:ext uri="{FF2B5EF4-FFF2-40B4-BE49-F238E27FC236}">
                <a16:creationId xmlns:a16="http://schemas.microsoft.com/office/drawing/2014/main" id="{5E6379A5-C203-4B68-9A7E-B3BA8436F2E7}"/>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03</a:t>
            </a:r>
          </a:p>
        </p:txBody>
      </p:sp>
    </p:spTree>
    <p:extLst>
      <p:ext uri="{BB962C8B-B14F-4D97-AF65-F5344CB8AC3E}">
        <p14:creationId xmlns:p14="http://schemas.microsoft.com/office/powerpoint/2010/main" val="145911328"/>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4">
            <a:extLst xmlns:a="http://schemas.openxmlformats.org/drawingml/2006/main">
              <a:ext uri="{FF2B5EF4-FFF2-40B4-BE49-F238E27FC236}">
                <a16:creationId xmlns:a16="http://schemas.microsoft.com/office/drawing/2014/main" id="{784B66D3-8FE7-4F7C-8A39-95118BBE875A}"/>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M02</a:t>
            </a:r>
          </a:p>
        </p:txBody>
      </p:sp>
      <p:sp>
        <p:nvSpPr>
          <p:cNvPr id="2" name="slide-title-4">
            <a:extLst xmlns:a="http://schemas.openxmlformats.org/drawingml/2006/main">
              <a:ext uri="{FF2B5EF4-FFF2-40B4-BE49-F238E27FC236}">
                <a16:creationId xmlns:a16="http://schemas.microsoft.com/office/drawing/2014/main" id="{598CF01B-21B0-460F-B98F-1D3B3ACA17B7}"/>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Building evidence-based applications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58440f0a9474dd7"/>
          <a:srcRect xmlns:a="http://schemas.openxmlformats.org/drawingml/2006/main" l="0" t="15121" r="0" b="15121"/>
          <a:stretch xmlns:a="http://schemas.openxmlformats.org/drawingml/2006/main">
            <a:fillRect l="0" t="0" r="0" b="0"/>
          </a:stretch>
        </p:blipFill>
        <p:spPr>
          <a:xfrm xmlns:a="http://schemas.openxmlformats.org/drawingml/2006/main">
            <a:off x="685800" y="1390650"/>
            <a:ext cx="4724400" cy="3295650"/>
          </a:xfrm>
          <a:prstGeom xmlns:a="http://schemas.openxmlformats.org/drawingml/2006/main" prst="roundRect">
            <a:avLst>
              <a:gd name="adj" fmla="val 6358"/>
            </a:avLst>
          </a:prstGeom>
        </p:spPr>
      </p:pic>
      <p:sp>
        <p:nvSpPr>
          <p:cNvPr id="4" name="theory-summary-2">
            <a:extLst xmlns:a="http://schemas.openxmlformats.org/drawingml/2006/main">
              <a:ext uri="{FF2B5EF4-FFF2-40B4-BE49-F238E27FC236}">
                <a16:creationId xmlns:a16="http://schemas.microsoft.com/office/drawing/2014/main" id="{8344B712-C7EB-46C9-9485-4D2C130C8DE4}"/>
              </a:ext>
            </a:extLst>
          </p:cNvPr>
          <p:cNvSpPr>
            <a:spLocks xmlns:a="http://schemas.openxmlformats.org/drawingml/2006/main" noGrp="1"/>
          </p:cNvSpPr>
          <p:nvPr/>
        </p:nvSpPr>
        <p:spPr>
          <a:xfrm xmlns:a="http://schemas.openxmlformats.org/drawingml/2006/main">
            <a:off x="58293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An application is an evidence argument. A résumé gives a clear record of relevant skills, education, experience and achievements. Quality control is part of employability.</a:t>
            </a:r>
          </a:p>
        </p:txBody>
      </p:sp>
      <p:sp>
        <p:nvSpPr>
          <p:cNvPr id="5" name="theory-evidence-surface-2">
            <a:extLst xmlns:a="http://schemas.openxmlformats.org/drawingml/2006/main">
              <a:ext uri="{FF2B5EF4-FFF2-40B4-BE49-F238E27FC236}">
                <a16:creationId xmlns:a16="http://schemas.microsoft.com/office/drawing/2014/main" id="{B9D84326-FF69-4F36-82DC-3A037EC73E32}"/>
              </a:ext>
            </a:extLst>
          </p:cNvPr>
          <p:cNvSpPr>
            <a:spLocks xmlns:a="http://schemas.openxmlformats.org/drawingml/2006/main" noGrp="1"/>
          </p:cNvSpPr>
          <p:nvPr/>
        </p:nvSpPr>
        <p:spPr>
          <a:xfrm xmlns:a="http://schemas.openxmlformats.org/drawingml/2006/main">
            <a:off x="5829300" y="3752850"/>
            <a:ext cx="5676900" cy="1581150"/>
          </a:xfrm>
          <a:prstGeom xmlns:a="http://schemas.openxmlformats.org/drawingml/2006/main" prst="roundRect">
            <a:avLst>
              <a:gd name="adj" fmla="val 8434"/>
            </a:avLst>
          </a:prstGeom>
          <a:solidFill xmlns:a="http://schemas.openxmlformats.org/drawingml/2006/main">
            <a:srgbClr val="F7E9C3"/>
          </a:solidFill>
          <a:ln xmlns:a="http://schemas.openxmlformats.org/drawingml/2006/main" w="0">
            <a:noFill/>
            <a:prstDash val="solid"/>
          </a:ln>
        </p:spPr>
      </p:sp>
      <p:sp>
        <p:nvSpPr>
          <p:cNvPr id="6" name="theory-evidence-label-2">
            <a:extLst xmlns:a="http://schemas.openxmlformats.org/drawingml/2006/main">
              <a:ext uri="{FF2B5EF4-FFF2-40B4-BE49-F238E27FC236}">
                <a16:creationId xmlns:a16="http://schemas.microsoft.com/office/drawing/2014/main" id="{DE780885-41BD-4170-BA87-A1F5BB2B0054}"/>
              </a:ext>
            </a:extLst>
          </p:cNvPr>
          <p:cNvSpPr>
            <a:spLocks xmlns:a="http://schemas.openxmlformats.org/drawingml/2006/main" noGrp="1"/>
          </p:cNvSpPr>
          <p:nvPr/>
        </p:nvSpPr>
        <p:spPr>
          <a:xfrm xmlns:a="http://schemas.openxmlformats.org/drawingml/2006/main">
            <a:off x="60388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2">
            <a:extLst xmlns:a="http://schemas.openxmlformats.org/drawingml/2006/main">
              <a:ext uri="{FF2B5EF4-FFF2-40B4-BE49-F238E27FC236}">
                <a16:creationId xmlns:a16="http://schemas.microsoft.com/office/drawing/2014/main" id="{DDD8B458-2897-4CC8-B6B9-6C4E8259D9D4}"/>
              </a:ext>
            </a:extLst>
          </p:cNvPr>
          <p:cNvSpPr>
            <a:spLocks xmlns:a="http://schemas.openxmlformats.org/drawingml/2006/main" noGrp="1"/>
          </p:cNvSpPr>
          <p:nvPr/>
        </p:nvSpPr>
        <p:spPr>
          <a:xfrm xmlns:a="http://schemas.openxmlformats.org/drawingml/2006/main">
            <a:off x="60388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Evidence statement workshop. Using fictional or privacy-safe experience, turn five vague claims into context–action–result evidence. Evidence: Five revised evidence statements plus one tailored résumé excerpt and letter paragraph.</a:t>
            </a:r>
          </a:p>
        </p:txBody>
      </p:sp>
      <p:sp>
        <p:nvSpPr>
          <p:cNvPr id="8" name="theory-notice-2">
            <a:extLst xmlns:a="http://schemas.openxmlformats.org/drawingml/2006/main">
              <a:ext uri="{FF2B5EF4-FFF2-40B4-BE49-F238E27FC236}">
                <a16:creationId xmlns:a16="http://schemas.microsoft.com/office/drawing/2014/main" id="{9DCED882-2EC3-4A2E-8FCD-B027186B34D8}"/>
              </a:ext>
            </a:extLst>
          </p:cNvPr>
          <p:cNvSpPr>
            <a:spLocks xmlns:a="http://schemas.openxmlformats.org/drawingml/2006/main" noGrp="1"/>
          </p:cNvSpPr>
          <p:nvPr/>
        </p:nvSpPr>
        <p:spPr>
          <a:xfrm xmlns:a="http://schemas.openxmlformats.org/drawingml/2006/main">
            <a:off x="685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which items are being selected and which remain aside. What makes evidence relevant rather than merely impressive?</a:t>
            </a:r>
          </a:p>
        </p:txBody>
      </p:sp>
      <p:sp>
        <p:nvSpPr>
          <p:cNvPr id="9" name="theory-success-2">
            <a:extLst xmlns:a="http://schemas.openxmlformats.org/drawingml/2006/main">
              <a:ext uri="{FF2B5EF4-FFF2-40B4-BE49-F238E27FC236}">
                <a16:creationId xmlns:a16="http://schemas.microsoft.com/office/drawing/2014/main" id="{84C1EA85-B742-4776-ABBA-21382771F7E6}"/>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select relevant evidence rather than list everything I have done.</a:t>
            </a:r>
          </a:p>
        </p:txBody>
      </p:sp>
      <p:sp>
        <p:nvSpPr>
          <p:cNvPr id="10" name="footer-rule-4">
            <a:extLst xmlns:a="http://schemas.openxmlformats.org/drawingml/2006/main">
              <a:ext uri="{FF2B5EF4-FFF2-40B4-BE49-F238E27FC236}">
                <a16:creationId xmlns:a16="http://schemas.microsoft.com/office/drawing/2014/main" id="{8C004405-ACFA-4617-ABC1-714F3B375EB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4">
            <a:extLst xmlns:a="http://schemas.openxmlformats.org/drawingml/2006/main">
              <a:ext uri="{FF2B5EF4-FFF2-40B4-BE49-F238E27FC236}">
                <a16:creationId xmlns:a16="http://schemas.microsoft.com/office/drawing/2014/main" id="{D174E0D6-1360-4A3E-8364-AB910CABDBA8}"/>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12" name="footer-number-4">
            <a:extLst xmlns:a="http://schemas.openxmlformats.org/drawingml/2006/main">
              <a:ext uri="{FF2B5EF4-FFF2-40B4-BE49-F238E27FC236}">
                <a16:creationId xmlns:a16="http://schemas.microsoft.com/office/drawing/2014/main" id="{2F0B9D44-407E-4957-B024-BC7FB67C211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04</a:t>
            </a:r>
          </a:p>
        </p:txBody>
      </p:sp>
    </p:spTree>
    <p:extLst>
      <p:ext uri="{BB962C8B-B14F-4D97-AF65-F5344CB8AC3E}">
        <p14:creationId xmlns:p14="http://schemas.microsoft.com/office/powerpoint/2010/main" val="301346742"/>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3" name="module-label-5">
            <a:extLst xmlns:a="http://schemas.openxmlformats.org/drawingml/2006/main">
              <a:ext uri="{FF2B5EF4-FFF2-40B4-BE49-F238E27FC236}">
                <a16:creationId xmlns:a16="http://schemas.microsoft.com/office/drawing/2014/main" id="{89F0A898-A164-4398-9556-5F7D803153D5}"/>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M02</a:t>
            </a:r>
          </a:p>
        </p:txBody>
      </p:sp>
      <p:sp>
        <p:nvSpPr>
          <p:cNvPr id="2" name="slide-title-5">
            <a:extLst xmlns:a="http://schemas.openxmlformats.org/drawingml/2006/main">
              <a:ext uri="{FF2B5EF4-FFF2-40B4-BE49-F238E27FC236}">
                <a16:creationId xmlns:a16="http://schemas.microsoft.com/office/drawing/2014/main" id="{E7B6EFF6-58C6-4996-A672-79A77CD415E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2700" b="1">
                <a:solidFill>
                  <a:srgbClr val="0B2637"/>
                </a:solidFill>
                <a:latin typeface="Aptos Display"/>
                <a:ea typeface="Aptos Display"/>
                <a:cs typeface="Aptos Display"/>
              </a:defRPr>
            </a:pPr>
            <a:r>
              <a:rPr sz="2700" b="1">
                <a:solidFill>
                  <a:srgbClr val="0B2637"/>
                </a:solidFill>
                <a:latin typeface="Aptos Display"/>
                <a:ea typeface="Aptos Display"/>
                <a:cs typeface="Aptos Display"/>
              </a:rPr>
              <a:t>Interview preparation, performance and reflection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a18439e4ada4db7"/>
          <a:srcRect xmlns:a="http://schemas.openxmlformats.org/drawingml/2006/main" l="0" t="15121" r="0" b="15121"/>
          <a:stretch xmlns:a="http://schemas.openxmlformats.org/drawingml/2006/main">
            <a:fillRect l="0" t="0" r="0" b="0"/>
          </a:stretch>
        </p:blipFill>
        <p:spPr>
          <a:xfrm xmlns:a="http://schemas.openxmlformats.org/drawingml/2006/main">
            <a:off x="6781800" y="1390650"/>
            <a:ext cx="4724400" cy="3295650"/>
          </a:xfrm>
          <a:prstGeom xmlns:a="http://schemas.openxmlformats.org/drawingml/2006/main" prst="roundRect">
            <a:avLst>
              <a:gd name="adj" fmla="val 6358"/>
            </a:avLst>
          </a:prstGeom>
        </p:spPr>
      </p:pic>
      <p:sp>
        <p:nvSpPr>
          <p:cNvPr id="4" name="theory-summary-3">
            <a:extLst xmlns:a="http://schemas.openxmlformats.org/drawingml/2006/main">
              <a:ext uri="{FF2B5EF4-FFF2-40B4-BE49-F238E27FC236}">
                <a16:creationId xmlns:a16="http://schemas.microsoft.com/office/drawing/2014/main" id="{E653987D-98BB-4C31-B7D1-592CA7177322}"/>
              </a:ext>
            </a:extLst>
          </p:cNvPr>
          <p:cNvSpPr>
            <a:spLocks xmlns:a="http://schemas.openxmlformats.org/drawingml/2006/main" noGrp="1"/>
          </p:cNvSpPr>
          <p:nvPr/>
        </p:nvSpPr>
        <p:spPr>
          <a:xfrm xmlns:a="http://schemas.openxmlformats.org/drawingml/2006/main">
            <a:off x="685800" y="1390650"/>
            <a:ext cx="56769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6000"/>
              </a:lnSpc>
              <a:buNone/>
              <a:defRPr sz="1500" b="0">
                <a:solidFill>
                  <a:srgbClr val="14232D"/>
                </a:solidFill>
                <a:latin typeface="Aptos"/>
                <a:ea typeface="Aptos"/>
                <a:cs typeface="Aptos"/>
              </a:defRPr>
            </a:pPr>
            <a:r>
              <a:rPr sz="1500" b="0">
                <a:solidFill>
                  <a:srgbClr val="14232D"/>
                </a:solidFill>
                <a:latin typeface="Aptos"/>
                <a:ea typeface="Aptos"/>
                <a:cs typeface="Aptos"/>
              </a:rPr>
              <a:t>Interview preparation begins with the vacancy and the application already submitted. Interview performance combines listening, thinking and communicating. An interview is also a two-way information exchange.</a:t>
            </a:r>
          </a:p>
        </p:txBody>
      </p:sp>
      <p:sp>
        <p:nvSpPr>
          <p:cNvPr id="5" name="theory-evidence-surface-3">
            <a:extLst xmlns:a="http://schemas.openxmlformats.org/drawingml/2006/main">
              <a:ext uri="{FF2B5EF4-FFF2-40B4-BE49-F238E27FC236}">
                <a16:creationId xmlns:a16="http://schemas.microsoft.com/office/drawing/2014/main" id="{0654D7F0-7EBB-4A7A-9A3E-2187EC9A28E5}"/>
              </a:ext>
            </a:extLst>
          </p:cNvPr>
          <p:cNvSpPr>
            <a:spLocks xmlns:a="http://schemas.openxmlformats.org/drawingml/2006/main" noGrp="1"/>
          </p:cNvSpPr>
          <p:nvPr/>
        </p:nvSpPr>
        <p:spPr>
          <a:xfrm xmlns:a="http://schemas.openxmlformats.org/drawingml/2006/main">
            <a:off x="685800" y="3752850"/>
            <a:ext cx="5676900" cy="1581150"/>
          </a:xfrm>
          <a:prstGeom xmlns:a="http://schemas.openxmlformats.org/drawingml/2006/main" prst="roundRect">
            <a:avLst>
              <a:gd name="adj" fmla="val 8434"/>
            </a:avLst>
          </a:prstGeom>
          <a:solidFill xmlns:a="http://schemas.openxmlformats.org/drawingml/2006/main">
            <a:srgbClr val="E5EFEA"/>
          </a:solidFill>
          <a:ln xmlns:a="http://schemas.openxmlformats.org/drawingml/2006/main" w="0">
            <a:noFill/>
            <a:prstDash val="solid"/>
          </a:ln>
        </p:spPr>
      </p:sp>
      <p:sp>
        <p:nvSpPr>
          <p:cNvPr id="6" name="theory-evidence-label-3">
            <a:extLst xmlns:a="http://schemas.openxmlformats.org/drawingml/2006/main">
              <a:ext uri="{FF2B5EF4-FFF2-40B4-BE49-F238E27FC236}">
                <a16:creationId xmlns:a16="http://schemas.microsoft.com/office/drawing/2014/main" id="{0CEAD21F-FAEC-488E-B4AD-E9CA91DC7434}"/>
              </a:ext>
            </a:extLst>
          </p:cNvPr>
          <p:cNvSpPr>
            <a:spLocks xmlns:a="http://schemas.openxmlformats.org/drawingml/2006/main" noGrp="1"/>
          </p:cNvSpPr>
          <p:nvPr/>
        </p:nvSpPr>
        <p:spPr>
          <a:xfrm xmlns:a="http://schemas.openxmlformats.org/drawingml/2006/main">
            <a:off x="895350" y="3905250"/>
            <a:ext cx="2190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APPLY AND SHOW</a:t>
            </a:r>
          </a:p>
        </p:txBody>
      </p:sp>
      <p:sp>
        <p:nvSpPr>
          <p:cNvPr id="7" name="theory-evidence-3">
            <a:extLst xmlns:a="http://schemas.openxmlformats.org/drawingml/2006/main">
              <a:ext uri="{FF2B5EF4-FFF2-40B4-BE49-F238E27FC236}">
                <a16:creationId xmlns:a16="http://schemas.microsoft.com/office/drawing/2014/main" id="{5D78A8B0-697F-417A-94F2-03CEFECDAAE2}"/>
              </a:ext>
            </a:extLst>
          </p:cNvPr>
          <p:cNvSpPr>
            <a:spLocks xmlns:a="http://schemas.openxmlformats.org/drawingml/2006/main" noGrp="1"/>
          </p:cNvSpPr>
          <p:nvPr/>
        </p:nvSpPr>
        <p:spPr>
          <a:xfrm xmlns:a="http://schemas.openxmlformats.org/drawingml/2006/main">
            <a:off x="895350" y="4229100"/>
            <a:ext cx="52578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350" b="1">
                <a:solidFill>
                  <a:srgbClr val="0B2637"/>
                </a:solidFill>
                <a:latin typeface="Aptos"/>
                <a:ea typeface="Aptos"/>
                <a:cs typeface="Aptos"/>
              </a:defRPr>
            </a:pPr>
            <a:r>
              <a:rPr sz="1350" b="1">
                <a:solidFill>
                  <a:srgbClr val="0B2637"/>
                </a:solidFill>
                <a:latin typeface="Aptos"/>
                <a:ea typeface="Aptos"/>
                <a:cs typeface="Aptos"/>
              </a:rPr>
              <a:t>Interview evidence rehearsal. Evidence: Three planning cards, peer feedback and a revised answer with a reflection note.</a:t>
            </a:r>
          </a:p>
        </p:txBody>
      </p:sp>
      <p:sp>
        <p:nvSpPr>
          <p:cNvPr id="8" name="theory-notice-3">
            <a:extLst xmlns:a="http://schemas.openxmlformats.org/drawingml/2006/main">
              <a:ext uri="{FF2B5EF4-FFF2-40B4-BE49-F238E27FC236}">
                <a16:creationId xmlns:a16="http://schemas.microsoft.com/office/drawing/2014/main" id="{422201F2-5418-4591-8AF5-18A0F32936D4}"/>
              </a:ext>
            </a:extLst>
          </p:cNvPr>
          <p:cNvSpPr>
            <a:spLocks xmlns:a="http://schemas.openxmlformats.org/drawingml/2006/main" noGrp="1"/>
          </p:cNvSpPr>
          <p:nvPr/>
        </p:nvSpPr>
        <p:spPr>
          <a:xfrm xmlns:a="http://schemas.openxmlformats.org/drawingml/2006/main">
            <a:off x="6781800" y="4876800"/>
            <a:ext cx="4724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00" b="0">
                <a:solidFill>
                  <a:srgbClr val="52616A"/>
                </a:solidFill>
                <a:latin typeface="Aptos"/>
                <a:ea typeface="Aptos"/>
                <a:cs typeface="Aptos"/>
              </a:defRPr>
            </a:pPr>
            <a:r>
              <a:rPr sz="1200" b="0">
                <a:solidFill>
                  <a:srgbClr val="52616A"/>
                </a:solidFill>
                <a:latin typeface="Aptos"/>
                <a:ea typeface="Aptos"/>
                <a:cs typeface="Aptos"/>
              </a:rPr>
              <a:t>Notice: Notice the practice partner, recording device and reflection notebook. What could the applicant review after the rehearsal?</a:t>
            </a:r>
          </a:p>
        </p:txBody>
      </p:sp>
      <p:sp>
        <p:nvSpPr>
          <p:cNvPr id="9" name="theory-success-3">
            <a:extLst xmlns:a="http://schemas.openxmlformats.org/drawingml/2006/main">
              <a:ext uri="{FF2B5EF4-FFF2-40B4-BE49-F238E27FC236}">
                <a16:creationId xmlns:a16="http://schemas.microsoft.com/office/drawing/2014/main" id="{B6FEAB7C-258E-45F1-8812-A3ADA84E53EF}"/>
              </a:ext>
            </a:extLst>
          </p:cNvPr>
          <p:cNvSpPr>
            <a:spLocks xmlns:a="http://schemas.openxmlformats.org/drawingml/2006/main" noGrp="1"/>
          </p:cNvSpPr>
          <p:nvPr/>
        </p:nvSpPr>
        <p:spPr>
          <a:xfrm xmlns:a="http://schemas.openxmlformats.org/drawingml/2006/main">
            <a:off x="685800" y="57150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350" b="1">
                <a:solidFill>
                  <a:srgbClr val="1F5141"/>
                </a:solidFill>
                <a:latin typeface="Aptos"/>
                <a:ea typeface="Aptos"/>
                <a:cs typeface="Aptos"/>
              </a:defRPr>
            </a:pPr>
            <a:r>
              <a:rPr sz="1350" b="1">
                <a:solidFill>
                  <a:srgbClr val="1F5141"/>
                </a:solidFill>
                <a:latin typeface="Aptos"/>
                <a:ea typeface="Aptos"/>
                <a:cs typeface="Aptos"/>
              </a:rPr>
              <a:t>You can show this when: I can prepare evidence for likely questions without memorising a script.</a:t>
            </a:r>
          </a:p>
        </p:txBody>
      </p:sp>
      <p:sp>
        <p:nvSpPr>
          <p:cNvPr id="10" name="footer-rule-5">
            <a:extLst xmlns:a="http://schemas.openxmlformats.org/drawingml/2006/main">
              <a:ext uri="{FF2B5EF4-FFF2-40B4-BE49-F238E27FC236}">
                <a16:creationId xmlns:a16="http://schemas.microsoft.com/office/drawing/2014/main" id="{F01E97A2-66C9-4B95-B13C-1D7DF47CF307}"/>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1" name="footer-module-5">
            <a:extLst xmlns:a="http://schemas.openxmlformats.org/drawingml/2006/main">
              <a:ext uri="{FF2B5EF4-FFF2-40B4-BE49-F238E27FC236}">
                <a16:creationId xmlns:a16="http://schemas.microsoft.com/office/drawing/2014/main" id="{DEF66C1F-DEF9-4882-8DC7-21219F3E7CFB}"/>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12" name="footer-number-5">
            <a:extLst xmlns:a="http://schemas.openxmlformats.org/drawingml/2006/main">
              <a:ext uri="{FF2B5EF4-FFF2-40B4-BE49-F238E27FC236}">
                <a16:creationId xmlns:a16="http://schemas.microsoft.com/office/drawing/2014/main" id="{A8D88596-4D98-49F3-A51C-BA6A874628B3}"/>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05</a:t>
            </a:r>
          </a:p>
        </p:txBody>
      </p:sp>
    </p:spTree>
    <p:extLst>
      <p:ext uri="{BB962C8B-B14F-4D97-AF65-F5344CB8AC3E}">
        <p14:creationId xmlns:p14="http://schemas.microsoft.com/office/powerpoint/2010/main" val="1213479073"/>
      </p:ext>
    </p:extLst>
  </p:cSld>
</p:sld>
</file>

<file path=ppt/slides/slide6.xml><?xml version="1.0" encoding="utf-8"?>
<p:sld xmlns:p="http://schemas.openxmlformats.org/presentationml/2006/main">
  <p:cSld>
    <p:bg>
      <p:bgPr>
        <a:solidFill xmlns:a="http://schemas.openxmlformats.org/drawingml/2006/main">
          <a:srgbClr val="F2F5EE"/>
        </a:solidFill>
      </p:bgPr>
    </p:bg>
    <p:spTree>
      <p:nvGrpSpPr>
        <p:cNvPr id="1" name=""/>
        <p:cNvGrpSpPr/>
        <p:nvPr/>
      </p:nvGrpSpPr>
      <p:grpSpPr>
        <a:xfrm xmlns:a="http://schemas.openxmlformats.org/drawingml/2006/main"/>
      </p:grpSpPr>
      <p:sp>
        <p:nvSpPr>
          <p:cNvPr id="18" name="module-label-6">
            <a:extLst xmlns:a="http://schemas.openxmlformats.org/drawingml/2006/main">
              <a:ext uri="{FF2B5EF4-FFF2-40B4-BE49-F238E27FC236}">
                <a16:creationId xmlns:a16="http://schemas.microsoft.com/office/drawing/2014/main" id="{817D79EA-5BA3-41DA-9650-0D93AEA879DA}"/>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M02</a:t>
            </a:r>
          </a:p>
        </p:txBody>
      </p:sp>
      <p:sp>
        <p:nvSpPr>
          <p:cNvPr id="2" name="slide-title-6">
            <a:extLst xmlns:a="http://schemas.openxmlformats.org/drawingml/2006/main">
              <a:ext uri="{FF2B5EF4-FFF2-40B4-BE49-F238E27FC236}">
                <a16:creationId xmlns:a16="http://schemas.microsoft.com/office/drawing/2014/main" id="{FCC64020-F918-40C3-8287-12B89436C77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0B2637"/>
                </a:solidFill>
                <a:latin typeface="Aptos Display"/>
                <a:ea typeface="Aptos Display"/>
                <a:cs typeface="Aptos Display"/>
              </a:defRPr>
            </a:pPr>
            <a:r>
              <a:rPr sz="3150" b="1">
                <a:solidFill>
                  <a:srgbClr val="0B2637"/>
                </a:solidFill>
                <a:latin typeface="Aptos Display"/>
                <a:ea typeface="Aptos Display"/>
                <a:cs typeface="Aptos Display"/>
              </a:rPr>
              <a:t>Retrieve the idea, then explain the reason</a:t>
            </a:r>
          </a:p>
        </p:txBody>
      </p:sp>
      <p:sp>
        <p:nvSpPr>
          <p:cNvPr id="3" name="retrieval-instruction">
            <a:extLst xmlns:a="http://schemas.openxmlformats.org/drawingml/2006/main">
              <a:ext uri="{FF2B5EF4-FFF2-40B4-BE49-F238E27FC236}">
                <a16:creationId xmlns:a16="http://schemas.microsoft.com/office/drawing/2014/main" id="{674FC74B-683E-4A55-8F76-FDE7DD61A074}"/>
              </a:ext>
            </a:extLst>
          </p:cNvPr>
          <p:cNvSpPr>
            <a:spLocks xmlns:a="http://schemas.openxmlformats.org/drawingml/2006/main" noGrp="1"/>
          </p:cNvSpPr>
          <p:nvPr/>
        </p:nvSpPr>
        <p:spPr>
          <a:xfrm xmlns:a="http://schemas.openxmlformats.org/drawingml/2006/main">
            <a:off x="685800" y="1200150"/>
            <a:ext cx="800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1F5141"/>
                </a:solidFill>
                <a:latin typeface="Aptos"/>
                <a:ea typeface="Aptos"/>
                <a:cs typeface="Aptos"/>
              </a:defRPr>
            </a:pPr>
            <a:r>
              <a:rPr sz="1575" b="1">
                <a:solidFill>
                  <a:srgbClr val="1F5141"/>
                </a:solidFill>
                <a:latin typeface="Aptos"/>
                <a:ea typeface="Aptos"/>
                <a:cs typeface="Aptos"/>
              </a:rPr>
              <a:t>Answer without notes first. Use one precise evidence-based sentence for each check.</a:t>
            </a:r>
          </a:p>
        </p:txBody>
      </p:sp>
      <p:sp>
        <p:nvSpPr>
          <p:cNvPr id="4" name="retrieval-number-1">
            <a:extLst xmlns:a="http://schemas.openxmlformats.org/drawingml/2006/main">
              <a:ext uri="{FF2B5EF4-FFF2-40B4-BE49-F238E27FC236}">
                <a16:creationId xmlns:a16="http://schemas.microsoft.com/office/drawing/2014/main" id="{38247592-F8E7-4B0C-8D3C-BCC24731DCB0}"/>
              </a:ext>
            </a:extLst>
          </p:cNvPr>
          <p:cNvSpPr>
            <a:spLocks xmlns:a="http://schemas.openxmlformats.org/drawingml/2006/main" noGrp="1"/>
          </p:cNvSpPr>
          <p:nvPr/>
        </p:nvSpPr>
        <p:spPr>
          <a:xfrm xmlns:a="http://schemas.openxmlformats.org/drawingml/2006/main">
            <a:off x="685800" y="18859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01</a:t>
            </a:r>
          </a:p>
        </p:txBody>
      </p:sp>
      <p:sp>
        <p:nvSpPr>
          <p:cNvPr id="5" name="retrieval-question-1">
            <a:extLst xmlns:a="http://schemas.openxmlformats.org/drawingml/2006/main">
              <a:ext uri="{FF2B5EF4-FFF2-40B4-BE49-F238E27FC236}">
                <a16:creationId xmlns:a16="http://schemas.microsoft.com/office/drawing/2014/main" id="{9C2BE6AC-F367-4691-8D1D-DBFB4787C9B2}"/>
              </a:ext>
            </a:extLst>
          </p:cNvPr>
          <p:cNvSpPr>
            <a:spLocks xmlns:a="http://schemas.openxmlformats.org/drawingml/2006/main" noGrp="1"/>
          </p:cNvSpPr>
          <p:nvPr/>
        </p:nvSpPr>
        <p:spPr>
          <a:xfrm xmlns:a="http://schemas.openxmlformats.org/drawingml/2006/main">
            <a:off x="1466850" y="18859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A criterion says ‘works effectively in a team’. What is the strongest matching evidence?</a:t>
            </a:r>
          </a:p>
        </p:txBody>
      </p:sp>
      <p:sp>
        <p:nvSpPr>
          <p:cNvPr id="6" name="retrieval-separator-1">
            <a:extLst xmlns:a="http://schemas.openxmlformats.org/drawingml/2006/main">
              <a:ext uri="{FF2B5EF4-FFF2-40B4-BE49-F238E27FC236}">
                <a16:creationId xmlns:a16="http://schemas.microsoft.com/office/drawing/2014/main" id="{6B8BC43B-461D-4B54-B991-F6C71FE159C8}"/>
              </a:ext>
            </a:extLst>
          </p:cNvPr>
          <p:cNvSpPr>
            <a:spLocks xmlns:a="http://schemas.openxmlformats.org/drawingml/2006/main" noGrp="1"/>
          </p:cNvSpPr>
          <p:nvPr/>
        </p:nvSpPr>
        <p:spPr>
          <a:xfrm xmlns:a="http://schemas.openxmlformats.org/drawingml/2006/main">
            <a:off x="685800" y="289560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7" name="retrieval-number-2">
            <a:extLst xmlns:a="http://schemas.openxmlformats.org/drawingml/2006/main">
              <a:ext uri="{FF2B5EF4-FFF2-40B4-BE49-F238E27FC236}">
                <a16:creationId xmlns:a16="http://schemas.microsoft.com/office/drawing/2014/main" id="{6BBB050E-3798-43D1-8D65-5FC059D23F9A}"/>
              </a:ext>
            </a:extLst>
          </p:cNvPr>
          <p:cNvSpPr>
            <a:spLocks xmlns:a="http://schemas.openxmlformats.org/drawingml/2006/main" noGrp="1"/>
          </p:cNvSpPr>
          <p:nvPr/>
        </p:nvSpPr>
        <p:spPr>
          <a:xfrm xmlns:a="http://schemas.openxmlformats.org/drawingml/2006/main">
            <a:off x="685800" y="316230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C6572F"/>
                </a:solidFill>
                <a:latin typeface="Aptos Display"/>
                <a:ea typeface="Aptos Display"/>
                <a:cs typeface="Aptos Display"/>
              </a:defRPr>
            </a:pPr>
            <a:r>
              <a:rPr sz="2325" b="1">
                <a:solidFill>
                  <a:srgbClr val="C6572F"/>
                </a:solidFill>
                <a:latin typeface="Aptos Display"/>
                <a:ea typeface="Aptos Display"/>
                <a:cs typeface="Aptos Display"/>
              </a:rPr>
              <a:t>02</a:t>
            </a:r>
          </a:p>
        </p:txBody>
      </p:sp>
      <p:sp>
        <p:nvSpPr>
          <p:cNvPr id="8" name="retrieval-question-2">
            <a:extLst xmlns:a="http://schemas.openxmlformats.org/drawingml/2006/main">
              <a:ext uri="{FF2B5EF4-FFF2-40B4-BE49-F238E27FC236}">
                <a16:creationId xmlns:a16="http://schemas.microsoft.com/office/drawing/2014/main" id="{877D17B6-35B3-4655-8BCD-EFEE2CFC9B35}"/>
              </a:ext>
            </a:extLst>
          </p:cNvPr>
          <p:cNvSpPr>
            <a:spLocks xmlns:a="http://schemas.openxmlformats.org/drawingml/2006/main" noGrp="1"/>
          </p:cNvSpPr>
          <p:nvPr/>
        </p:nvSpPr>
        <p:spPr>
          <a:xfrm xmlns:a="http://schemas.openxmlformats.org/drawingml/2006/main">
            <a:off x="1466850" y="316230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Which revision turns ‘helped customers’ into stronger evidence?</a:t>
            </a:r>
          </a:p>
        </p:txBody>
      </p:sp>
      <p:sp>
        <p:nvSpPr>
          <p:cNvPr id="9" name="retrieval-separator-2">
            <a:extLst xmlns:a="http://schemas.openxmlformats.org/drawingml/2006/main">
              <a:ext uri="{FF2B5EF4-FFF2-40B4-BE49-F238E27FC236}">
                <a16:creationId xmlns:a16="http://schemas.microsoft.com/office/drawing/2014/main" id="{A34AF6EE-E129-4EB5-8EEE-7BFA9F92C41E}"/>
              </a:ext>
            </a:extLst>
          </p:cNvPr>
          <p:cNvSpPr>
            <a:spLocks xmlns:a="http://schemas.openxmlformats.org/drawingml/2006/main" noGrp="1"/>
          </p:cNvSpPr>
          <p:nvPr/>
        </p:nvSpPr>
        <p:spPr>
          <a:xfrm xmlns:a="http://schemas.openxmlformats.org/drawingml/2006/main">
            <a:off x="685800" y="4171950"/>
            <a:ext cx="73152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0" name="retrieval-number-3">
            <a:extLst xmlns:a="http://schemas.openxmlformats.org/drawingml/2006/main">
              <a:ext uri="{FF2B5EF4-FFF2-40B4-BE49-F238E27FC236}">
                <a16:creationId xmlns:a16="http://schemas.microsoft.com/office/drawing/2014/main" id="{6EB58CB8-C58C-498B-B72B-BE6AAD0B8471}"/>
              </a:ext>
            </a:extLst>
          </p:cNvPr>
          <p:cNvSpPr>
            <a:spLocks xmlns:a="http://schemas.openxmlformats.org/drawingml/2006/main" noGrp="1"/>
          </p:cNvSpPr>
          <p:nvPr/>
        </p:nvSpPr>
        <p:spPr>
          <a:xfrm xmlns:a="http://schemas.openxmlformats.org/drawingml/2006/main">
            <a:off x="685800" y="4438650"/>
            <a:ext cx="552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325" b="1">
                <a:solidFill>
                  <a:srgbClr val="E6B64D"/>
                </a:solidFill>
                <a:latin typeface="Aptos Display"/>
                <a:ea typeface="Aptos Display"/>
                <a:cs typeface="Aptos Display"/>
              </a:defRPr>
            </a:pPr>
            <a:r>
              <a:rPr sz="2325" b="1">
                <a:solidFill>
                  <a:srgbClr val="E6B64D"/>
                </a:solidFill>
                <a:latin typeface="Aptos Display"/>
                <a:ea typeface="Aptos Display"/>
                <a:cs typeface="Aptos Display"/>
              </a:rPr>
              <a:t>03</a:t>
            </a:r>
          </a:p>
        </p:txBody>
      </p:sp>
      <p:sp>
        <p:nvSpPr>
          <p:cNvPr id="11" name="retrieval-question-3">
            <a:extLst xmlns:a="http://schemas.openxmlformats.org/drawingml/2006/main">
              <a:ext uri="{FF2B5EF4-FFF2-40B4-BE49-F238E27FC236}">
                <a16:creationId xmlns:a16="http://schemas.microsoft.com/office/drawing/2014/main" id="{ED713EC9-0EA8-4063-90F0-645DBA68480D}"/>
              </a:ext>
            </a:extLst>
          </p:cNvPr>
          <p:cNvSpPr>
            <a:spLocks xmlns:a="http://schemas.openxmlformats.org/drawingml/2006/main" noGrp="1"/>
          </p:cNvSpPr>
          <p:nvPr/>
        </p:nvSpPr>
        <p:spPr>
          <a:xfrm xmlns:a="http://schemas.openxmlformats.org/drawingml/2006/main">
            <a:off x="1466850" y="4438650"/>
            <a:ext cx="65341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800" b="1">
                <a:solidFill>
                  <a:srgbClr val="0B2637"/>
                </a:solidFill>
                <a:latin typeface="Aptos"/>
                <a:ea typeface="Aptos"/>
                <a:cs typeface="Aptos"/>
              </a:defRPr>
            </a:pPr>
            <a:r>
              <a:rPr sz="1800" b="1">
                <a:solidFill>
                  <a:srgbClr val="0B2637"/>
                </a:solidFill>
                <a:latin typeface="Aptos"/>
                <a:ea typeface="Aptos"/>
                <a:cs typeface="Aptos"/>
              </a:rPr>
              <a:t>What is the strongest preparation for a behavioural question?</a:t>
            </a:r>
          </a:p>
        </p:txBody>
      </p:sp>
      <p:sp>
        <p:nvSpPr>
          <p:cNvPr id="12" name="retrieval-cycle">
            <a:extLst xmlns:a="http://schemas.openxmlformats.org/drawingml/2006/main">
              <a:ext uri="{FF2B5EF4-FFF2-40B4-BE49-F238E27FC236}">
                <a16:creationId xmlns:a16="http://schemas.microsoft.com/office/drawing/2014/main" id="{964A37CA-E2A3-4741-B6FC-359B504311C2}"/>
              </a:ext>
            </a:extLst>
          </p:cNvPr>
          <p:cNvSpPr>
            <a:spLocks xmlns:a="http://schemas.openxmlformats.org/drawingml/2006/main" noGrp="1"/>
          </p:cNvSpPr>
          <p:nvPr/>
        </p:nvSpPr>
        <p:spPr>
          <a:xfrm xmlns:a="http://schemas.openxmlformats.org/drawingml/2006/main">
            <a:off x="8458200" y="1752600"/>
            <a:ext cx="3048000" cy="3714750"/>
          </a:xfrm>
          <a:prstGeom xmlns:a="http://schemas.openxmlformats.org/drawingml/2006/main" prst="roundRect">
            <a:avLst>
              <a:gd name="adj" fmla="val 5625"/>
            </a:avLst>
          </a:prstGeom>
          <a:solidFill xmlns:a="http://schemas.openxmlformats.org/drawingml/2006/main">
            <a:srgbClr val="0B2637"/>
          </a:solidFill>
          <a:ln xmlns:a="http://schemas.openxmlformats.org/drawingml/2006/main" w="0">
            <a:noFill/>
            <a:prstDash val="solid"/>
          </a:ln>
        </p:spPr>
      </p:sp>
      <p:sp>
        <p:nvSpPr>
          <p:cNvPr id="13" name="retrieval-cycle-title">
            <a:extLst xmlns:a="http://schemas.openxmlformats.org/drawingml/2006/main">
              <a:ext uri="{FF2B5EF4-FFF2-40B4-BE49-F238E27FC236}">
                <a16:creationId xmlns:a16="http://schemas.microsoft.com/office/drawing/2014/main" id="{D2BD9935-6335-45CA-AE74-6026270EEF5D}"/>
              </a:ext>
            </a:extLst>
          </p:cNvPr>
          <p:cNvSpPr>
            <a:spLocks xmlns:a="http://schemas.openxmlformats.org/drawingml/2006/main" noGrp="1"/>
          </p:cNvSpPr>
          <p:nvPr/>
        </p:nvSpPr>
        <p:spPr>
          <a:xfrm xmlns:a="http://schemas.openxmlformats.org/drawingml/2006/main">
            <a:off x="8763000" y="2095500"/>
            <a:ext cx="2438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A calm checking cycle</a:t>
            </a:r>
          </a:p>
        </p:txBody>
      </p:sp>
      <p:sp>
        <p:nvSpPr>
          <p:cNvPr id="14" name="retrieval-cycle-body">
            <a:extLst xmlns:a="http://schemas.openxmlformats.org/drawingml/2006/main">
              <a:ext uri="{FF2B5EF4-FFF2-40B4-BE49-F238E27FC236}">
                <a16:creationId xmlns:a16="http://schemas.microsoft.com/office/drawing/2014/main" id="{77391C4D-A45D-4D5F-BDE4-6BEC4F57D0BE}"/>
              </a:ext>
            </a:extLst>
          </p:cNvPr>
          <p:cNvSpPr>
            <a:spLocks xmlns:a="http://schemas.openxmlformats.org/drawingml/2006/main" noGrp="1"/>
          </p:cNvSpPr>
          <p:nvPr/>
        </p:nvSpPr>
        <p:spPr>
          <a:xfrm xmlns:a="http://schemas.openxmlformats.org/drawingml/2006/main">
            <a:off x="8763000" y="2971800"/>
            <a:ext cx="24193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1  Recall from memory</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2  Check the matching section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3  Correct the reason</a:t>
            </a:r>
          </a:p>
          <a:p xmlns:a="http://schemas.openxmlformats.org/drawingml/2006/main">
            <a:r>
              <a:t/>
            </a:r>
          </a:p>
          <a:p xmlns:a="http://schemas.openxmlformats.org/drawingml/2006/main">
            <a:pPr algn="l">
              <a:lnSpc>
                <a:spcPct val="103000"/>
              </a:lnSpc>
              <a:buNone/>
              <a:defRPr sz="1575" b="1">
                <a:solidFill>
                  <a:srgbClr val="FFFFFF"/>
                </a:solidFill>
                <a:latin typeface="Aptos"/>
                <a:ea typeface="Aptos"/>
                <a:cs typeface="Aptos"/>
              </a:defRPr>
            </a:pPr>
            <a:r>
              <a:rPr sz="1575" b="1">
                <a:solidFill>
                  <a:srgbClr val="FFFFFF"/>
                </a:solidFill>
                <a:latin typeface="Aptos"/>
                <a:ea typeface="Aptos"/>
                <a:cs typeface="Aptos"/>
              </a:rPr>
              <a:t>4  Try the question again</a:t>
            </a:r>
          </a:p>
        </p:txBody>
      </p:sp>
      <p:sp>
        <p:nvSpPr>
          <p:cNvPr id="15" name="footer-rule-6">
            <a:extLst xmlns:a="http://schemas.openxmlformats.org/drawingml/2006/main">
              <a:ext uri="{FF2B5EF4-FFF2-40B4-BE49-F238E27FC236}">
                <a16:creationId xmlns:a16="http://schemas.microsoft.com/office/drawing/2014/main" id="{1DFFC3DB-F273-43A2-ADD5-07FAF752BE9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16" name="footer-module-6">
            <a:extLst xmlns:a="http://schemas.openxmlformats.org/drawingml/2006/main">
              <a:ext uri="{FF2B5EF4-FFF2-40B4-BE49-F238E27FC236}">
                <a16:creationId xmlns:a16="http://schemas.microsoft.com/office/drawing/2014/main" id="{2C26B36C-4187-4963-B1C1-62E3CC6E8392}"/>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17" name="footer-number-6">
            <a:extLst xmlns:a="http://schemas.openxmlformats.org/drawingml/2006/main">
              <a:ext uri="{FF2B5EF4-FFF2-40B4-BE49-F238E27FC236}">
                <a16:creationId xmlns:a16="http://schemas.microsoft.com/office/drawing/2014/main" id="{03D21403-C7FF-4A33-8374-19FB998F7A88}"/>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06</a:t>
            </a:r>
          </a:p>
        </p:txBody>
      </p:sp>
    </p:spTree>
    <p:extLst>
      <p:ext uri="{BB962C8B-B14F-4D97-AF65-F5344CB8AC3E}">
        <p14:creationId xmlns:p14="http://schemas.microsoft.com/office/powerpoint/2010/main" val="2067864900"/>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7" name="module-label-7">
            <a:extLst xmlns:a="http://schemas.openxmlformats.org/drawingml/2006/main">
              <a:ext uri="{FF2B5EF4-FFF2-40B4-BE49-F238E27FC236}">
                <a16:creationId xmlns:a16="http://schemas.microsoft.com/office/drawing/2014/main" id="{0F1E47EF-FEA5-4C09-A0C2-D35962427D23}"/>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YEARS 11–12 WORK STUDIES  ·  YEAR 11  ·  M02</a:t>
            </a:r>
          </a:p>
        </p:txBody>
      </p:sp>
      <p:sp>
        <p:nvSpPr>
          <p:cNvPr id="2" name="slide-title-7">
            <a:extLst xmlns:a="http://schemas.openxmlformats.org/drawingml/2006/main">
              <a:ext uri="{FF2B5EF4-FFF2-40B4-BE49-F238E27FC236}">
                <a16:creationId xmlns:a16="http://schemas.microsoft.com/office/drawing/2014/main" id="{8419BB6C-520F-48AB-A023-9BA45C18C9FA}"/>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000" b="1">
                <a:solidFill>
                  <a:srgbClr val="0B2637"/>
                </a:solidFill>
                <a:latin typeface="Aptos Display"/>
                <a:ea typeface="Aptos Display"/>
                <a:cs typeface="Aptos Display"/>
              </a:defRPr>
            </a:pPr>
            <a:r>
              <a:rPr sz="3000" b="1">
                <a:solidFill>
                  <a:srgbClr val="0B2637"/>
                </a:solidFill>
                <a:latin typeface="Aptos Display"/>
                <a:ea typeface="Aptos Display"/>
                <a:cs typeface="Aptos Display"/>
              </a:rPr>
              <a:t>Build evidence that makes your reasoning visible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faa0b5eba20c48d6"/>
          <a:srcRect xmlns:a="http://schemas.openxmlformats.org/drawingml/2006/main" l="1676" t="0" r="1676" b="0"/>
          <a:stretch xmlns:a="http://schemas.openxmlformats.org/drawingml/2006/main">
            <a:fillRect l="0" t="0" r="0" b="0"/>
          </a:stretch>
        </p:blipFill>
        <p:spPr>
          <a:xfrm xmlns:a="http://schemas.openxmlformats.org/drawingml/2006/main">
            <a:off x="8210550" y="1428750"/>
            <a:ext cx="3295650" cy="3409950"/>
          </a:xfrm>
          <a:prstGeom xmlns:a="http://schemas.openxmlformats.org/drawingml/2006/main" prst="roundRect">
            <a:avLst>
              <a:gd name="adj" fmla="val 6358"/>
            </a:avLst>
          </a:prstGeom>
        </p:spPr>
      </p:pic>
      <p:sp>
        <p:nvSpPr>
          <p:cNvPr id="4" name="guided-prompt">
            <a:extLst xmlns:a="http://schemas.openxmlformats.org/drawingml/2006/main">
              <a:ext uri="{FF2B5EF4-FFF2-40B4-BE49-F238E27FC236}">
                <a16:creationId xmlns:a16="http://schemas.microsoft.com/office/drawing/2014/main" id="{4209C59A-E328-4B22-89BA-42D49FCB600D}"/>
              </a:ext>
            </a:extLst>
          </p:cNvPr>
          <p:cNvSpPr>
            <a:spLocks xmlns:a="http://schemas.openxmlformats.org/drawingml/2006/main" noGrp="1"/>
          </p:cNvSpPr>
          <p:nvPr/>
        </p:nvSpPr>
        <p:spPr>
          <a:xfrm xmlns:a="http://schemas.openxmlformats.org/drawingml/2006/main">
            <a:off x="685800" y="1352550"/>
            <a:ext cx="70675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2025" b="1">
                <a:solidFill>
                  <a:srgbClr val="0B2637"/>
                </a:solidFill>
                <a:latin typeface="Aptos Display"/>
                <a:ea typeface="Aptos Display"/>
                <a:cs typeface="Aptos Display"/>
              </a:defRPr>
            </a:pPr>
            <a:r>
              <a:rPr sz="2025" b="1">
                <a:solidFill>
                  <a:srgbClr val="0B2637"/>
                </a:solidFill>
                <a:latin typeface="Aptos Display"/>
                <a:ea typeface="Aptos Display"/>
                <a:cs typeface="Aptos Display"/>
              </a:rPr>
              <a:t>Evaluate a fictional interview performance and design a stronger preparation and response strategy.</a:t>
            </a:r>
          </a:p>
        </p:txBody>
      </p:sp>
      <p:sp>
        <p:nvSpPr>
          <p:cNvPr id="5" name="guided-step-number-1">
            <a:extLst xmlns:a="http://schemas.openxmlformats.org/drawingml/2006/main">
              <a:ext uri="{FF2B5EF4-FFF2-40B4-BE49-F238E27FC236}">
                <a16:creationId xmlns:a16="http://schemas.microsoft.com/office/drawing/2014/main" id="{D0967CD3-76BE-4767-89AC-5DD467D6CCA0}"/>
              </a:ext>
            </a:extLst>
          </p:cNvPr>
          <p:cNvSpPr>
            <a:spLocks xmlns:a="http://schemas.openxmlformats.org/drawingml/2006/main" noGrp="1"/>
          </p:cNvSpPr>
          <p:nvPr/>
        </p:nvSpPr>
        <p:spPr>
          <a:xfrm xmlns:a="http://schemas.openxmlformats.org/drawingml/2006/main">
            <a:off x="6858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01</a:t>
            </a:r>
          </a:p>
        </p:txBody>
      </p:sp>
      <p:sp>
        <p:nvSpPr>
          <p:cNvPr id="6" name="guided-step-label-1">
            <a:extLst xmlns:a="http://schemas.openxmlformats.org/drawingml/2006/main">
              <a:ext uri="{FF2B5EF4-FFF2-40B4-BE49-F238E27FC236}">
                <a16:creationId xmlns:a16="http://schemas.microsoft.com/office/drawing/2014/main" id="{6B3D96F0-2C0A-439E-BA30-87F960383587}"/>
              </a:ext>
            </a:extLst>
          </p:cNvPr>
          <p:cNvSpPr>
            <a:spLocks xmlns:a="http://schemas.openxmlformats.org/drawingml/2006/main" noGrp="1"/>
          </p:cNvSpPr>
          <p:nvPr/>
        </p:nvSpPr>
        <p:spPr>
          <a:xfrm xmlns:a="http://schemas.openxmlformats.org/drawingml/2006/main">
            <a:off x="6858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READ</a:t>
            </a:r>
          </a:p>
        </p:txBody>
      </p:sp>
      <p:sp>
        <p:nvSpPr>
          <p:cNvPr id="7" name="guided-step-detail-1">
            <a:extLst xmlns:a="http://schemas.openxmlformats.org/drawingml/2006/main">
              <a:ext uri="{FF2B5EF4-FFF2-40B4-BE49-F238E27FC236}">
                <a16:creationId xmlns:a16="http://schemas.microsoft.com/office/drawing/2014/main" id="{49669044-3AC7-4DEC-92EF-E6CEF4DD3B52}"/>
              </a:ext>
            </a:extLst>
          </p:cNvPr>
          <p:cNvSpPr>
            <a:spLocks xmlns:a="http://schemas.openxmlformats.org/drawingml/2006/main" noGrp="1"/>
          </p:cNvSpPr>
          <p:nvPr/>
        </p:nvSpPr>
        <p:spPr>
          <a:xfrm xmlns:a="http://schemas.openxmlformats.org/drawingml/2006/main">
            <a:off x="6858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Identify the command verb and the relationship.</a:t>
            </a:r>
          </a:p>
        </p:txBody>
      </p:sp>
      <p:sp>
        <p:nvSpPr>
          <p:cNvPr id="8" name="guided-step-line-1">
            <a:extLst xmlns:a="http://schemas.openxmlformats.org/drawingml/2006/main">
              <a:ext uri="{FF2B5EF4-FFF2-40B4-BE49-F238E27FC236}">
                <a16:creationId xmlns:a16="http://schemas.microsoft.com/office/drawing/2014/main" id="{166A0466-A0F7-477E-8B68-B6F4E7E96AD1}"/>
              </a:ext>
            </a:extLst>
          </p:cNvPr>
          <p:cNvSpPr>
            <a:spLocks xmlns:a="http://schemas.openxmlformats.org/drawingml/2006/main" noGrp="1"/>
          </p:cNvSpPr>
          <p:nvPr/>
        </p:nvSpPr>
        <p:spPr>
          <a:xfrm xmlns:a="http://schemas.openxmlformats.org/drawingml/2006/main">
            <a:off x="19812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9" name="guided-step-number-2">
            <a:extLst xmlns:a="http://schemas.openxmlformats.org/drawingml/2006/main">
              <a:ext uri="{FF2B5EF4-FFF2-40B4-BE49-F238E27FC236}">
                <a16:creationId xmlns:a16="http://schemas.microsoft.com/office/drawing/2014/main" id="{C48289A9-20FB-4DDC-890E-337611EBED5E}"/>
              </a:ext>
            </a:extLst>
          </p:cNvPr>
          <p:cNvSpPr>
            <a:spLocks xmlns:a="http://schemas.openxmlformats.org/drawingml/2006/main" noGrp="1"/>
          </p:cNvSpPr>
          <p:nvPr/>
        </p:nvSpPr>
        <p:spPr>
          <a:xfrm xmlns:a="http://schemas.openxmlformats.org/drawingml/2006/main">
            <a:off x="24384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02</a:t>
            </a:r>
          </a:p>
        </p:txBody>
      </p:sp>
      <p:sp>
        <p:nvSpPr>
          <p:cNvPr id="10" name="guided-step-label-2">
            <a:extLst xmlns:a="http://schemas.openxmlformats.org/drawingml/2006/main">
              <a:ext uri="{FF2B5EF4-FFF2-40B4-BE49-F238E27FC236}">
                <a16:creationId xmlns:a16="http://schemas.microsoft.com/office/drawing/2014/main" id="{DA55D26B-5E46-4D0F-8789-1AE488D0418D}"/>
              </a:ext>
            </a:extLst>
          </p:cNvPr>
          <p:cNvSpPr>
            <a:spLocks xmlns:a="http://schemas.openxmlformats.org/drawingml/2006/main" noGrp="1"/>
          </p:cNvSpPr>
          <p:nvPr/>
        </p:nvSpPr>
        <p:spPr>
          <a:xfrm xmlns:a="http://schemas.openxmlformats.org/drawingml/2006/main">
            <a:off x="24384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SELECT</a:t>
            </a:r>
          </a:p>
        </p:txBody>
      </p:sp>
      <p:sp>
        <p:nvSpPr>
          <p:cNvPr id="11" name="guided-step-detail-2">
            <a:extLst xmlns:a="http://schemas.openxmlformats.org/drawingml/2006/main">
              <a:ext uri="{FF2B5EF4-FFF2-40B4-BE49-F238E27FC236}">
                <a16:creationId xmlns:a16="http://schemas.microsoft.com/office/drawing/2014/main" id="{ABA05762-9746-4310-A26B-867AE53E9118}"/>
              </a:ext>
            </a:extLst>
          </p:cNvPr>
          <p:cNvSpPr>
            <a:spLocks xmlns:a="http://schemas.openxmlformats.org/drawingml/2006/main" noGrp="1"/>
          </p:cNvSpPr>
          <p:nvPr/>
        </p:nvSpPr>
        <p:spPr>
          <a:xfrm xmlns:a="http://schemas.openxmlformats.org/drawingml/2006/main">
            <a:off x="24384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Choose relevant course evidence.</a:t>
            </a:r>
          </a:p>
        </p:txBody>
      </p:sp>
      <p:sp>
        <p:nvSpPr>
          <p:cNvPr id="12" name="guided-step-line-2">
            <a:extLst xmlns:a="http://schemas.openxmlformats.org/drawingml/2006/main">
              <a:ext uri="{FF2B5EF4-FFF2-40B4-BE49-F238E27FC236}">
                <a16:creationId xmlns:a16="http://schemas.microsoft.com/office/drawing/2014/main" id="{AADB0F40-A185-466E-8005-825251E4EB05}"/>
              </a:ext>
            </a:extLst>
          </p:cNvPr>
          <p:cNvSpPr>
            <a:spLocks xmlns:a="http://schemas.openxmlformats.org/drawingml/2006/main" noGrp="1"/>
          </p:cNvSpPr>
          <p:nvPr/>
        </p:nvSpPr>
        <p:spPr>
          <a:xfrm xmlns:a="http://schemas.openxmlformats.org/drawingml/2006/main">
            <a:off x="37338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3" name="guided-step-number-3">
            <a:extLst xmlns:a="http://schemas.openxmlformats.org/drawingml/2006/main">
              <a:ext uri="{FF2B5EF4-FFF2-40B4-BE49-F238E27FC236}">
                <a16:creationId xmlns:a16="http://schemas.microsoft.com/office/drawing/2014/main" id="{3D2FAE30-61BC-44CF-B14E-978C2AE0508C}"/>
              </a:ext>
            </a:extLst>
          </p:cNvPr>
          <p:cNvSpPr>
            <a:spLocks xmlns:a="http://schemas.openxmlformats.org/drawingml/2006/main" noGrp="1"/>
          </p:cNvSpPr>
          <p:nvPr/>
        </p:nvSpPr>
        <p:spPr>
          <a:xfrm xmlns:a="http://schemas.openxmlformats.org/drawingml/2006/main">
            <a:off x="41910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C6572F"/>
                </a:solidFill>
                <a:latin typeface="Aptos Display"/>
                <a:ea typeface="Aptos Display"/>
                <a:cs typeface="Aptos Display"/>
              </a:defRPr>
            </a:pPr>
            <a:r>
              <a:rPr sz="2025" b="1">
                <a:solidFill>
                  <a:srgbClr val="C6572F"/>
                </a:solidFill>
                <a:latin typeface="Aptos Display"/>
                <a:ea typeface="Aptos Display"/>
                <a:cs typeface="Aptos Display"/>
              </a:rPr>
              <a:t>03</a:t>
            </a:r>
          </a:p>
        </p:txBody>
      </p:sp>
      <p:sp>
        <p:nvSpPr>
          <p:cNvPr id="14" name="guided-step-label-3">
            <a:extLst xmlns:a="http://schemas.openxmlformats.org/drawingml/2006/main">
              <a:ext uri="{FF2B5EF4-FFF2-40B4-BE49-F238E27FC236}">
                <a16:creationId xmlns:a16="http://schemas.microsoft.com/office/drawing/2014/main" id="{8AE9E395-F9F8-4297-B744-037707059293}"/>
              </a:ext>
            </a:extLst>
          </p:cNvPr>
          <p:cNvSpPr>
            <a:spLocks xmlns:a="http://schemas.openxmlformats.org/drawingml/2006/main" noGrp="1"/>
          </p:cNvSpPr>
          <p:nvPr/>
        </p:nvSpPr>
        <p:spPr>
          <a:xfrm xmlns:a="http://schemas.openxmlformats.org/drawingml/2006/main">
            <a:off x="41910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EXPLAIN</a:t>
            </a:r>
          </a:p>
        </p:txBody>
      </p:sp>
      <p:sp>
        <p:nvSpPr>
          <p:cNvPr id="15" name="guided-step-detail-3">
            <a:extLst xmlns:a="http://schemas.openxmlformats.org/drawingml/2006/main">
              <a:ext uri="{FF2B5EF4-FFF2-40B4-BE49-F238E27FC236}">
                <a16:creationId xmlns:a16="http://schemas.microsoft.com/office/drawing/2014/main" id="{2EDD3D3B-4686-47AB-A1F9-89B9DF6D08C7}"/>
              </a:ext>
            </a:extLst>
          </p:cNvPr>
          <p:cNvSpPr>
            <a:spLocks xmlns:a="http://schemas.openxmlformats.org/drawingml/2006/main" noGrp="1"/>
          </p:cNvSpPr>
          <p:nvPr/>
        </p:nvSpPr>
        <p:spPr>
          <a:xfrm xmlns:a="http://schemas.openxmlformats.org/drawingml/2006/main">
            <a:off x="41910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Connect evidence to a supported judgement.</a:t>
            </a:r>
          </a:p>
        </p:txBody>
      </p:sp>
      <p:sp>
        <p:nvSpPr>
          <p:cNvPr id="16" name="guided-step-line-3">
            <a:extLst xmlns:a="http://schemas.openxmlformats.org/drawingml/2006/main">
              <a:ext uri="{FF2B5EF4-FFF2-40B4-BE49-F238E27FC236}">
                <a16:creationId xmlns:a16="http://schemas.microsoft.com/office/drawing/2014/main" id="{B94518F4-D04E-468C-940D-99647C34CD6A}"/>
              </a:ext>
            </a:extLst>
          </p:cNvPr>
          <p:cNvSpPr>
            <a:spLocks xmlns:a="http://schemas.openxmlformats.org/drawingml/2006/main" noGrp="1"/>
          </p:cNvSpPr>
          <p:nvPr/>
        </p:nvSpPr>
        <p:spPr>
          <a:xfrm xmlns:a="http://schemas.openxmlformats.org/drawingml/2006/main">
            <a:off x="5486400" y="3009900"/>
            <a:ext cx="533400" cy="0"/>
          </a:xfrm>
          <a:prstGeom xmlns:a="http://schemas.openxmlformats.org/drawingml/2006/main" prst="line">
            <a:avLst/>
          </a:prstGeom>
          <a:noFill xmlns:a="http://schemas.openxmlformats.org/drawingml/2006/main"/>
          <a:ln xmlns:a="http://schemas.openxmlformats.org/drawingml/2006/main" w="19050">
            <a:solidFill>
              <a:srgbClr val="D9DDD4"/>
            </a:solidFill>
            <a:prstDash val="solid"/>
          </a:ln>
        </p:spPr>
      </p:sp>
      <p:sp>
        <p:nvSpPr>
          <p:cNvPr id="17" name="guided-step-number-4">
            <a:extLst xmlns:a="http://schemas.openxmlformats.org/drawingml/2006/main">
              <a:ext uri="{FF2B5EF4-FFF2-40B4-BE49-F238E27FC236}">
                <a16:creationId xmlns:a16="http://schemas.microsoft.com/office/drawing/2014/main" id="{CD09B5D9-5A53-4F60-8B57-A07CF12EA069}"/>
              </a:ext>
            </a:extLst>
          </p:cNvPr>
          <p:cNvSpPr>
            <a:spLocks xmlns:a="http://schemas.openxmlformats.org/drawingml/2006/main" noGrp="1"/>
          </p:cNvSpPr>
          <p:nvPr/>
        </p:nvSpPr>
        <p:spPr>
          <a:xfrm xmlns:a="http://schemas.openxmlformats.org/drawingml/2006/main">
            <a:off x="5943600" y="2838450"/>
            <a:ext cx="514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2025" b="1">
                <a:solidFill>
                  <a:srgbClr val="E6B64D"/>
                </a:solidFill>
                <a:latin typeface="Aptos Display"/>
                <a:ea typeface="Aptos Display"/>
                <a:cs typeface="Aptos Display"/>
              </a:defRPr>
            </a:pPr>
            <a:r>
              <a:rPr sz="2025" b="1">
                <a:solidFill>
                  <a:srgbClr val="E6B64D"/>
                </a:solidFill>
                <a:latin typeface="Aptos Display"/>
                <a:ea typeface="Aptos Display"/>
                <a:cs typeface="Aptos Display"/>
              </a:rPr>
              <a:t>04</a:t>
            </a:r>
          </a:p>
        </p:txBody>
      </p:sp>
      <p:sp>
        <p:nvSpPr>
          <p:cNvPr id="18" name="guided-step-label-4">
            <a:extLst xmlns:a="http://schemas.openxmlformats.org/drawingml/2006/main">
              <a:ext uri="{FF2B5EF4-FFF2-40B4-BE49-F238E27FC236}">
                <a16:creationId xmlns:a16="http://schemas.microsoft.com/office/drawing/2014/main" id="{0EC29226-1F9A-435B-B1A4-0588206C6448}"/>
              </a:ext>
            </a:extLst>
          </p:cNvPr>
          <p:cNvSpPr>
            <a:spLocks xmlns:a="http://schemas.openxmlformats.org/drawingml/2006/main" noGrp="1"/>
          </p:cNvSpPr>
          <p:nvPr/>
        </p:nvSpPr>
        <p:spPr>
          <a:xfrm xmlns:a="http://schemas.openxmlformats.org/drawingml/2006/main">
            <a:off x="5943600" y="3333750"/>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650" b="1">
                <a:solidFill>
                  <a:srgbClr val="1F5141"/>
                </a:solidFill>
                <a:latin typeface="Aptos"/>
                <a:ea typeface="Aptos"/>
                <a:cs typeface="Aptos"/>
              </a:defRPr>
            </a:pPr>
            <a:r>
              <a:rPr sz="1650" b="1">
                <a:solidFill>
                  <a:srgbClr val="1F5141"/>
                </a:solidFill>
                <a:latin typeface="Aptos"/>
                <a:ea typeface="Aptos"/>
                <a:cs typeface="Aptos"/>
              </a:rPr>
              <a:t>CHECK</a:t>
            </a:r>
          </a:p>
        </p:txBody>
      </p:sp>
      <p:sp>
        <p:nvSpPr>
          <p:cNvPr id="19" name="guided-step-detail-4">
            <a:extLst xmlns:a="http://schemas.openxmlformats.org/drawingml/2006/main">
              <a:ext uri="{FF2B5EF4-FFF2-40B4-BE49-F238E27FC236}">
                <a16:creationId xmlns:a16="http://schemas.microsoft.com/office/drawing/2014/main" id="{2808E539-D5F1-4760-8666-96E396FA236B}"/>
              </a:ext>
            </a:extLst>
          </p:cNvPr>
          <p:cNvSpPr>
            <a:spLocks xmlns:a="http://schemas.openxmlformats.org/drawingml/2006/main" noGrp="1"/>
          </p:cNvSpPr>
          <p:nvPr/>
        </p:nvSpPr>
        <p:spPr>
          <a:xfrm xmlns:a="http://schemas.openxmlformats.org/drawingml/2006/main">
            <a:off x="5943600" y="3733800"/>
            <a:ext cx="15621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5000"/>
              </a:lnSpc>
              <a:buNone/>
              <a:defRPr sz="1275" b="0">
                <a:solidFill>
                  <a:srgbClr val="14232D"/>
                </a:solidFill>
                <a:latin typeface="Aptos"/>
                <a:ea typeface="Aptos"/>
                <a:cs typeface="Aptos"/>
              </a:defRPr>
            </a:pPr>
            <a:r>
              <a:rPr sz="1275" b="0">
                <a:solidFill>
                  <a:srgbClr val="14232D"/>
                </a:solidFill>
                <a:latin typeface="Aptos"/>
                <a:ea typeface="Aptos"/>
                <a:cs typeface="Aptos"/>
              </a:rPr>
              <a:t>Answer every part and test the criteria.</a:t>
            </a:r>
          </a:p>
        </p:txBody>
      </p:sp>
      <p:sp>
        <p:nvSpPr>
          <p:cNvPr id="20" name="guided-success-band">
            <a:extLst xmlns:a="http://schemas.openxmlformats.org/drawingml/2006/main">
              <a:ext uri="{FF2B5EF4-FFF2-40B4-BE49-F238E27FC236}">
                <a16:creationId xmlns:a16="http://schemas.microsoft.com/office/drawing/2014/main" id="{7BDE69DC-4679-4F68-86AA-3D7F4CD05706}"/>
              </a:ext>
            </a:extLst>
          </p:cNvPr>
          <p:cNvSpPr>
            <a:spLocks xmlns:a="http://schemas.openxmlformats.org/drawingml/2006/main" noGrp="1"/>
          </p:cNvSpPr>
          <p:nvPr/>
        </p:nvSpPr>
        <p:spPr>
          <a:xfrm xmlns:a="http://schemas.openxmlformats.org/drawingml/2006/main">
            <a:off x="685800" y="5410200"/>
            <a:ext cx="10820400" cy="742950"/>
          </a:xfrm>
          <a:prstGeom xmlns:a="http://schemas.openxmlformats.org/drawingml/2006/main" prst="roundRect">
            <a:avLst>
              <a:gd name="adj" fmla="val 17949"/>
            </a:avLst>
          </a:prstGeom>
          <a:solidFill xmlns:a="http://schemas.openxmlformats.org/drawingml/2006/main">
            <a:srgbClr val="E5EFEA"/>
          </a:solidFill>
          <a:ln xmlns:a="http://schemas.openxmlformats.org/drawingml/2006/main" w="0">
            <a:noFill/>
            <a:prstDash val="solid"/>
          </a:ln>
        </p:spPr>
      </p:sp>
      <p:sp>
        <p:nvSpPr>
          <p:cNvPr id="21" name="guided-success-label">
            <a:extLst xmlns:a="http://schemas.openxmlformats.org/drawingml/2006/main">
              <a:ext uri="{FF2B5EF4-FFF2-40B4-BE49-F238E27FC236}">
                <a16:creationId xmlns:a16="http://schemas.microsoft.com/office/drawing/2014/main" id="{81C0623E-BEFB-4D47-A4F3-1ED42BC77A2A}"/>
              </a:ext>
            </a:extLst>
          </p:cNvPr>
          <p:cNvSpPr>
            <a:spLocks xmlns:a="http://schemas.openxmlformats.org/drawingml/2006/main" noGrp="1"/>
          </p:cNvSpPr>
          <p:nvPr/>
        </p:nvSpPr>
        <p:spPr>
          <a:xfrm xmlns:a="http://schemas.openxmlformats.org/drawingml/2006/main">
            <a:off x="933450" y="550545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C6572F"/>
                </a:solidFill>
                <a:latin typeface="Aptos"/>
                <a:ea typeface="Aptos"/>
                <a:cs typeface="Aptos"/>
              </a:defRPr>
            </a:pPr>
            <a:r>
              <a:rPr sz="1050" b="1">
                <a:solidFill>
                  <a:srgbClr val="C6572F"/>
                </a:solidFill>
                <a:latin typeface="Aptos"/>
                <a:ea typeface="Aptos"/>
                <a:cs typeface="Aptos"/>
              </a:rPr>
              <a:t>CHECK YOUR RESPONSE</a:t>
            </a:r>
          </a:p>
        </p:txBody>
      </p:sp>
      <p:sp>
        <p:nvSpPr>
          <p:cNvPr id="22" name="guided-success-text">
            <a:extLst xmlns:a="http://schemas.openxmlformats.org/drawingml/2006/main">
              <a:ext uri="{FF2B5EF4-FFF2-40B4-BE49-F238E27FC236}">
                <a16:creationId xmlns:a16="http://schemas.microsoft.com/office/drawing/2014/main" id="{2688567B-93A1-4FE5-A3C9-E7177105D3E3}"/>
              </a:ext>
            </a:extLst>
          </p:cNvPr>
          <p:cNvSpPr>
            <a:spLocks xmlns:a="http://schemas.openxmlformats.org/drawingml/2006/main" noGrp="1"/>
          </p:cNvSpPr>
          <p:nvPr/>
        </p:nvSpPr>
        <p:spPr>
          <a:xfrm xmlns:a="http://schemas.openxmlformats.org/drawingml/2006/main">
            <a:off x="933450" y="5715000"/>
            <a:ext cx="10325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Judges performance using observable evidence.</a:t>
            </a:r>
          </a:p>
          <a:p xmlns:a="http://schemas.openxmlformats.org/drawingml/2006/main">
            <a:pPr algn="l">
              <a:lnSpc>
                <a:spcPct val="102000"/>
              </a:lnSpc>
              <a:buNone/>
              <a:defRPr sz="1350" b="1">
                <a:solidFill>
                  <a:srgbClr val="0B2637"/>
                </a:solidFill>
                <a:latin typeface="Aptos"/>
                <a:ea typeface="Aptos"/>
                <a:cs typeface="Aptos"/>
              </a:defRPr>
            </a:pPr>
            <a:r>
              <a:rPr sz="1350" b="1">
                <a:solidFill>
                  <a:srgbClr val="0B2637"/>
                </a:solidFill>
                <a:latin typeface="Aptos"/>
                <a:ea typeface="Aptos"/>
                <a:cs typeface="Aptos"/>
              </a:rPr>
              <a:t>• Improves answers through relevant context–action–result examples.</a:t>
            </a:r>
          </a:p>
        </p:txBody>
      </p:sp>
      <p:sp>
        <p:nvSpPr>
          <p:cNvPr id="23" name="guided-visual-notice">
            <a:extLst xmlns:a="http://schemas.openxmlformats.org/drawingml/2006/main">
              <a:ext uri="{FF2B5EF4-FFF2-40B4-BE49-F238E27FC236}">
                <a16:creationId xmlns:a16="http://schemas.microsoft.com/office/drawing/2014/main" id="{12E844C4-7F37-4EE6-91B8-89861E6E0B1F}"/>
              </a:ext>
            </a:extLst>
          </p:cNvPr>
          <p:cNvSpPr>
            <a:spLocks xmlns:a="http://schemas.openxmlformats.org/drawingml/2006/main" noGrp="1"/>
          </p:cNvSpPr>
          <p:nvPr/>
        </p:nvSpPr>
        <p:spPr>
          <a:xfrm xmlns:a="http://schemas.openxmlformats.org/drawingml/2006/main">
            <a:off x="8210550" y="487680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0">
                <a:solidFill>
                  <a:srgbClr val="52616A"/>
                </a:solidFill>
                <a:latin typeface="Aptos"/>
                <a:ea typeface="Aptos"/>
                <a:cs typeface="Aptos"/>
              </a:defRPr>
            </a:pPr>
            <a:r>
              <a:rPr sz="1050" b="0">
                <a:solidFill>
                  <a:srgbClr val="52616A"/>
                </a:solidFill>
                <a:latin typeface="Aptos"/>
                <a:ea typeface="Aptos"/>
                <a:cs typeface="Aptos"/>
              </a:rPr>
              <a:t>Notice the different evidence types and how they are organised. Which item shows the work, and which item helps explain the learning?</a:t>
            </a:r>
          </a:p>
        </p:txBody>
      </p:sp>
      <p:sp>
        <p:nvSpPr>
          <p:cNvPr id="24" name="footer-rule-7">
            <a:extLst xmlns:a="http://schemas.openxmlformats.org/drawingml/2006/main">
              <a:ext uri="{FF2B5EF4-FFF2-40B4-BE49-F238E27FC236}">
                <a16:creationId xmlns:a16="http://schemas.microsoft.com/office/drawing/2014/main" id="{16651416-C298-41B9-BC2C-674791D48B19}"/>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D9DDD4"/>
            </a:solidFill>
            <a:prstDash val="solid"/>
          </a:ln>
        </p:spPr>
      </p:sp>
      <p:sp>
        <p:nvSpPr>
          <p:cNvPr id="25" name="footer-module-7">
            <a:extLst xmlns:a="http://schemas.openxmlformats.org/drawingml/2006/main">
              <a:ext uri="{FF2B5EF4-FFF2-40B4-BE49-F238E27FC236}">
                <a16:creationId xmlns:a16="http://schemas.microsoft.com/office/drawing/2014/main" id="{F1E4ED96-59CD-48D4-ADE7-5F7C0B57F99A}"/>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52616A"/>
                </a:solidFill>
                <a:latin typeface="Aptos"/>
                <a:ea typeface="Aptos"/>
                <a:cs typeface="Aptos"/>
              </a:defRPr>
            </a:pPr>
            <a:r>
              <a:rPr sz="900" b="0">
                <a:solidFill>
                  <a:srgbClr val="52616A"/>
                </a:solidFill>
                <a:latin typeface="Aptos"/>
                <a:ea typeface="Aptos"/>
                <a:cs typeface="Aptos"/>
              </a:rPr>
              <a:t>M02  ·  Preparing Job Applications</a:t>
            </a:r>
          </a:p>
        </p:txBody>
      </p:sp>
      <p:sp>
        <p:nvSpPr>
          <p:cNvPr id="26" name="footer-number-7">
            <a:extLst xmlns:a="http://schemas.openxmlformats.org/drawingml/2006/main">
              <a:ext uri="{FF2B5EF4-FFF2-40B4-BE49-F238E27FC236}">
                <a16:creationId xmlns:a16="http://schemas.microsoft.com/office/drawing/2014/main" id="{4450EC38-C484-4373-B0A5-34DE4D7ADF93}"/>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52616A"/>
                </a:solidFill>
                <a:latin typeface="Aptos"/>
                <a:ea typeface="Aptos"/>
                <a:cs typeface="Aptos"/>
              </a:defRPr>
            </a:pPr>
            <a:r>
              <a:rPr sz="1050" b="1">
                <a:solidFill>
                  <a:srgbClr val="52616A"/>
                </a:solidFill>
                <a:latin typeface="Aptos"/>
                <a:ea typeface="Aptos"/>
                <a:cs typeface="Aptos"/>
              </a:rPr>
              <a:t>07</a:t>
            </a:r>
          </a:p>
        </p:txBody>
      </p:sp>
    </p:spTree>
    <p:extLst>
      <p:ext uri="{BB962C8B-B14F-4D97-AF65-F5344CB8AC3E}">
        <p14:creationId xmlns:p14="http://schemas.microsoft.com/office/powerpoint/2010/main" val="734195761"/>
      </p:ext>
    </p:extLst>
  </p:cSld>
</p:sld>
</file>

<file path=ppt/slides/slide8.xml><?xml version="1.0" encoding="utf-8"?>
<p:sld xmlns:p="http://schemas.openxmlformats.org/presentationml/2006/main">
  <p:cSld>
    <p:bg>
      <p:bgPr>
        <a:solidFill xmlns:a="http://schemas.openxmlformats.org/drawingml/2006/main">
          <a:srgbClr val="1F5141"/>
        </a:solidFill>
      </p:bgPr>
    </p:bg>
    <p:spTree>
      <p:nvGrpSpPr>
        <p:cNvPr id="1" name=""/>
        <p:cNvGrpSpPr/>
        <p:nvPr/>
      </p:nvGrpSpPr>
      <p:grpSpPr>
        <a:xfrm xmlns:a="http://schemas.openxmlformats.org/drawingml/2006/main"/>
      </p:grpSpPr>
      <p:sp>
        <p:nvSpPr>
          <p:cNvPr id="18" name="module-label-8">
            <a:extLst xmlns:a="http://schemas.openxmlformats.org/drawingml/2006/main">
              <a:ext uri="{FF2B5EF4-FFF2-40B4-BE49-F238E27FC236}">
                <a16:creationId xmlns:a16="http://schemas.microsoft.com/office/drawing/2014/main" id="{F299E507-6554-4C1E-9F31-370B2FD3AE48}"/>
              </a:ext>
            </a:extLst>
          </p:cNvPr>
          <p:cNvSpPr>
            <a:spLocks xmlns:a="http://schemas.openxmlformats.org/drawingml/2006/main" noGrp="1"/>
          </p:cNvSpPr>
          <p:nvPr/>
        </p:nvSpPr>
        <p:spPr>
          <a:xfrm xmlns:a="http://schemas.openxmlformats.org/drawingml/2006/main">
            <a:off x="685800" y="26670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050" b="1">
                <a:solidFill>
                  <a:srgbClr val="F7E9C3"/>
                </a:solidFill>
                <a:latin typeface="Aptos"/>
                <a:ea typeface="Aptos"/>
                <a:cs typeface="Aptos"/>
              </a:defRPr>
            </a:pPr>
            <a:r>
              <a:rPr sz="1050" b="1">
                <a:solidFill>
                  <a:srgbClr val="F7E9C3"/>
                </a:solidFill>
                <a:latin typeface="Aptos"/>
                <a:ea typeface="Aptos"/>
                <a:cs typeface="Aptos"/>
              </a:rPr>
              <a:t>YEARS 11–12 WORK STUDIES  ·  YEAR 11  ·  M02</a:t>
            </a:r>
          </a:p>
        </p:txBody>
      </p:sp>
      <p:sp>
        <p:nvSpPr>
          <p:cNvPr id="2" name="slide-title-8">
            <a:extLst xmlns:a="http://schemas.openxmlformats.org/drawingml/2006/main">
              <a:ext uri="{FF2B5EF4-FFF2-40B4-BE49-F238E27FC236}">
                <a16:creationId xmlns:a16="http://schemas.microsoft.com/office/drawing/2014/main" id="{C8D2B68D-C727-4705-8D07-51039635941C}"/>
              </a:ext>
            </a:extLst>
          </p:cNvPr>
          <p:cNvSpPr>
            <a:spLocks xmlns:a="http://schemas.openxmlformats.org/drawingml/2006/main" noGrp="1"/>
          </p:cNvSpPr>
          <p:nvPr/>
        </p:nvSpPr>
        <p:spPr>
          <a:xfrm xmlns:a="http://schemas.openxmlformats.org/drawingml/2006/main">
            <a:off x="685800" y="59055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96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Leave with evidence and one useful next step</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713b42c852cf43e7"/>
          <a:srcRect xmlns:a="http://schemas.openxmlformats.org/drawingml/2006/main" l="0" t="1263" r="0" b="1263"/>
          <a:stretch xmlns:a="http://schemas.openxmlformats.org/drawingml/2006/main">
            <a:fillRect l="0" t="0" r="0" b="0"/>
          </a:stretch>
        </p:blipFill>
        <p:spPr>
          <a:xfrm xmlns:a="http://schemas.openxmlformats.org/drawingml/2006/main">
            <a:off x="7734300" y="1333500"/>
            <a:ext cx="3771900" cy="3676650"/>
          </a:xfrm>
          <a:prstGeom xmlns:a="http://schemas.openxmlformats.org/drawingml/2006/main" prst="roundRect">
            <a:avLst>
              <a:gd name="adj" fmla="val 5699"/>
            </a:avLst>
          </a:prstGeom>
        </p:spPr>
      </p:pic>
      <p:sp>
        <p:nvSpPr>
          <p:cNvPr id="4" name="close-number-1">
            <a:extLst xmlns:a="http://schemas.openxmlformats.org/drawingml/2006/main">
              <a:ext uri="{FF2B5EF4-FFF2-40B4-BE49-F238E27FC236}">
                <a16:creationId xmlns:a16="http://schemas.microsoft.com/office/drawing/2014/main" id="{30E6F543-7743-4DDD-937F-331130D722D8}"/>
              </a:ext>
            </a:extLst>
          </p:cNvPr>
          <p:cNvSpPr>
            <a:spLocks xmlns:a="http://schemas.openxmlformats.org/drawingml/2006/main" noGrp="1"/>
          </p:cNvSpPr>
          <p:nvPr/>
        </p:nvSpPr>
        <p:spPr>
          <a:xfrm xmlns:a="http://schemas.openxmlformats.org/drawingml/2006/main">
            <a:off x="685800" y="14859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01</a:t>
            </a:r>
          </a:p>
        </p:txBody>
      </p:sp>
      <p:sp>
        <p:nvSpPr>
          <p:cNvPr id="5" name="close-label-1">
            <a:extLst xmlns:a="http://schemas.openxmlformats.org/drawingml/2006/main">
              <a:ext uri="{FF2B5EF4-FFF2-40B4-BE49-F238E27FC236}">
                <a16:creationId xmlns:a16="http://schemas.microsoft.com/office/drawing/2014/main" id="{C0337F3C-8BF3-4790-916A-6891DDF2FF22}"/>
              </a:ext>
            </a:extLst>
          </p:cNvPr>
          <p:cNvSpPr>
            <a:spLocks xmlns:a="http://schemas.openxmlformats.org/drawingml/2006/main" noGrp="1"/>
          </p:cNvSpPr>
          <p:nvPr/>
        </p:nvSpPr>
        <p:spPr>
          <a:xfrm xmlns:a="http://schemas.openxmlformats.org/drawingml/2006/main">
            <a:off x="1638300" y="15049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RECALL</a:t>
            </a:r>
          </a:p>
        </p:txBody>
      </p:sp>
      <p:sp>
        <p:nvSpPr>
          <p:cNvPr id="6" name="close-body-1">
            <a:extLst xmlns:a="http://schemas.openxmlformats.org/drawingml/2006/main">
              <a:ext uri="{FF2B5EF4-FFF2-40B4-BE49-F238E27FC236}">
                <a16:creationId xmlns:a16="http://schemas.microsoft.com/office/drawing/2014/main" id="{AF24223E-DF2B-44BA-A408-2B5816B5D919}"/>
              </a:ext>
            </a:extLst>
          </p:cNvPr>
          <p:cNvSpPr>
            <a:spLocks xmlns:a="http://schemas.openxmlformats.org/drawingml/2006/main" noGrp="1"/>
          </p:cNvSpPr>
          <p:nvPr/>
        </p:nvSpPr>
        <p:spPr>
          <a:xfrm xmlns:a="http://schemas.openxmlformats.org/drawingml/2006/main">
            <a:off x="1638300" y="18859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Name one idea you can now explain accurately.</a:t>
            </a:r>
          </a:p>
        </p:txBody>
      </p:sp>
      <p:sp>
        <p:nvSpPr>
          <p:cNvPr id="7" name="close-number-2">
            <a:extLst xmlns:a="http://schemas.openxmlformats.org/drawingml/2006/main">
              <a:ext uri="{FF2B5EF4-FFF2-40B4-BE49-F238E27FC236}">
                <a16:creationId xmlns:a16="http://schemas.microsoft.com/office/drawing/2014/main" id="{864B9450-1F00-42AB-BB49-8E71AB6ACC50}"/>
              </a:ext>
            </a:extLst>
          </p:cNvPr>
          <p:cNvSpPr>
            <a:spLocks xmlns:a="http://schemas.openxmlformats.org/drawingml/2006/main" noGrp="1"/>
          </p:cNvSpPr>
          <p:nvPr/>
        </p:nvSpPr>
        <p:spPr>
          <a:xfrm xmlns:a="http://schemas.openxmlformats.org/drawingml/2006/main">
            <a:off x="685800" y="27051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02</a:t>
            </a:r>
          </a:p>
        </p:txBody>
      </p:sp>
      <p:sp>
        <p:nvSpPr>
          <p:cNvPr id="8" name="close-label-2">
            <a:extLst xmlns:a="http://schemas.openxmlformats.org/drawingml/2006/main">
              <a:ext uri="{FF2B5EF4-FFF2-40B4-BE49-F238E27FC236}">
                <a16:creationId xmlns:a16="http://schemas.microsoft.com/office/drawing/2014/main" id="{C8B2BBAE-B11D-4064-A50F-DC3C1AC85B23}"/>
              </a:ext>
            </a:extLst>
          </p:cNvPr>
          <p:cNvSpPr>
            <a:spLocks xmlns:a="http://schemas.openxmlformats.org/drawingml/2006/main" noGrp="1"/>
          </p:cNvSpPr>
          <p:nvPr/>
        </p:nvSpPr>
        <p:spPr>
          <a:xfrm xmlns:a="http://schemas.openxmlformats.org/drawingml/2006/main">
            <a:off x="1638300" y="27241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EVIDENCE</a:t>
            </a:r>
          </a:p>
        </p:txBody>
      </p:sp>
      <p:sp>
        <p:nvSpPr>
          <p:cNvPr id="9" name="close-body-2">
            <a:extLst xmlns:a="http://schemas.openxmlformats.org/drawingml/2006/main">
              <a:ext uri="{FF2B5EF4-FFF2-40B4-BE49-F238E27FC236}">
                <a16:creationId xmlns:a16="http://schemas.microsoft.com/office/drawing/2014/main" id="{0816667A-6FD9-41FE-8E0E-4676CA8973DD}"/>
              </a:ext>
            </a:extLst>
          </p:cNvPr>
          <p:cNvSpPr>
            <a:spLocks xmlns:a="http://schemas.openxmlformats.org/drawingml/2006/main" noGrp="1"/>
          </p:cNvSpPr>
          <p:nvPr/>
        </p:nvSpPr>
        <p:spPr>
          <a:xfrm xmlns:a="http://schemas.openxmlformats.org/drawingml/2006/main">
            <a:off x="1638300" y="31051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Record the detail that makes your explanation convincing.</a:t>
            </a:r>
          </a:p>
        </p:txBody>
      </p:sp>
      <p:sp>
        <p:nvSpPr>
          <p:cNvPr id="10" name="close-number-3">
            <a:extLst xmlns:a="http://schemas.openxmlformats.org/drawingml/2006/main">
              <a:ext uri="{FF2B5EF4-FFF2-40B4-BE49-F238E27FC236}">
                <a16:creationId xmlns:a16="http://schemas.microsoft.com/office/drawing/2014/main" id="{E50E9C5E-6688-46FB-9128-13D5A1B7DD0A}"/>
              </a:ext>
            </a:extLst>
          </p:cNvPr>
          <p:cNvSpPr>
            <a:spLocks xmlns:a="http://schemas.openxmlformats.org/drawingml/2006/main" noGrp="1"/>
          </p:cNvSpPr>
          <p:nvPr/>
        </p:nvSpPr>
        <p:spPr>
          <a:xfrm xmlns:a="http://schemas.openxmlformats.org/drawingml/2006/main">
            <a:off x="685800" y="392430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3000" b="1">
                <a:solidFill>
                  <a:srgbClr val="E6B64D"/>
                </a:solidFill>
                <a:latin typeface="Aptos Display"/>
                <a:ea typeface="Aptos Display"/>
                <a:cs typeface="Aptos Display"/>
              </a:defRPr>
            </a:pPr>
            <a:r>
              <a:rPr sz="3000" b="1">
                <a:solidFill>
                  <a:srgbClr val="E6B64D"/>
                </a:solidFill>
                <a:latin typeface="Aptos Display"/>
                <a:ea typeface="Aptos Display"/>
                <a:cs typeface="Aptos Display"/>
              </a:rPr>
              <a:t>03</a:t>
            </a:r>
          </a:p>
        </p:txBody>
      </p:sp>
      <p:sp>
        <p:nvSpPr>
          <p:cNvPr id="11" name="close-label-3">
            <a:extLst xmlns:a="http://schemas.openxmlformats.org/drawingml/2006/main">
              <a:ext uri="{FF2B5EF4-FFF2-40B4-BE49-F238E27FC236}">
                <a16:creationId xmlns:a16="http://schemas.microsoft.com/office/drawing/2014/main" id="{A888351D-5B48-4FC5-AC1F-38953933B6A8}"/>
              </a:ext>
            </a:extLst>
          </p:cNvPr>
          <p:cNvSpPr>
            <a:spLocks xmlns:a="http://schemas.openxmlformats.org/drawingml/2006/main" noGrp="1"/>
          </p:cNvSpPr>
          <p:nvPr/>
        </p:nvSpPr>
        <p:spPr>
          <a:xfrm xmlns:a="http://schemas.openxmlformats.org/drawingml/2006/main">
            <a:off x="1638300" y="39433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1725" b="1">
                <a:solidFill>
                  <a:srgbClr val="F7E9C3"/>
                </a:solidFill>
                <a:latin typeface="Aptos"/>
                <a:ea typeface="Aptos"/>
                <a:cs typeface="Aptos"/>
              </a:defRPr>
            </a:pPr>
            <a:r>
              <a:rPr sz="1725" b="1">
                <a:solidFill>
                  <a:srgbClr val="F7E9C3"/>
                </a:solidFill>
                <a:latin typeface="Aptos"/>
                <a:ea typeface="Aptos"/>
                <a:cs typeface="Aptos"/>
              </a:rPr>
              <a:t>NEXT</a:t>
            </a:r>
          </a:p>
        </p:txBody>
      </p:sp>
      <p:sp>
        <p:nvSpPr>
          <p:cNvPr id="12" name="close-body-3">
            <a:extLst xmlns:a="http://schemas.openxmlformats.org/drawingml/2006/main">
              <a:ext uri="{FF2B5EF4-FFF2-40B4-BE49-F238E27FC236}">
                <a16:creationId xmlns:a16="http://schemas.microsoft.com/office/drawing/2014/main" id="{C09EA914-7A7A-4CD9-9F99-43036AEE0C4E}"/>
              </a:ext>
            </a:extLst>
          </p:cNvPr>
          <p:cNvSpPr>
            <a:spLocks xmlns:a="http://schemas.openxmlformats.org/drawingml/2006/main" noGrp="1"/>
          </p:cNvSpPr>
          <p:nvPr/>
        </p:nvSpPr>
        <p:spPr>
          <a:xfrm xmlns:a="http://schemas.openxmlformats.org/drawingml/2006/main">
            <a:off x="1638300" y="4324350"/>
            <a:ext cx="5353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4000"/>
              </a:lnSpc>
              <a:buNone/>
              <a:defRPr sz="1500" b="1">
                <a:solidFill>
                  <a:srgbClr val="FFFFFF"/>
                </a:solidFill>
                <a:latin typeface="Aptos"/>
                <a:ea typeface="Aptos"/>
                <a:cs typeface="Aptos"/>
              </a:defRPr>
            </a:pPr>
            <a:r>
              <a:rPr sz="1500" b="1">
                <a:solidFill>
                  <a:srgbClr val="FFFFFF"/>
                </a:solidFill>
                <a:latin typeface="Aptos"/>
                <a:ea typeface="Aptos"/>
                <a:cs typeface="Aptos"/>
              </a:rPr>
              <a:t>Save the slide 7 response, then note one question about interview preparation, performance and reflection.</a:t>
            </a:r>
          </a:p>
        </p:txBody>
      </p:sp>
      <p:sp>
        <p:nvSpPr>
          <p:cNvPr id="13" name="close-boundary">
            <a:extLst xmlns:a="http://schemas.openxmlformats.org/drawingml/2006/main">
              <a:ext uri="{FF2B5EF4-FFF2-40B4-BE49-F238E27FC236}">
                <a16:creationId xmlns:a16="http://schemas.microsoft.com/office/drawing/2014/main" id="{8BB767E4-9A3A-4914-B541-50E9D52D1F1E}"/>
              </a:ext>
            </a:extLst>
          </p:cNvPr>
          <p:cNvSpPr>
            <a:spLocks xmlns:a="http://schemas.openxmlformats.org/drawingml/2006/main" noGrp="1"/>
          </p:cNvSpPr>
          <p:nvPr/>
        </p:nvSpPr>
        <p:spPr>
          <a:xfrm xmlns:a="http://schemas.openxmlformats.org/drawingml/2006/main">
            <a:off x="685800" y="5257800"/>
            <a:ext cx="10820400" cy="876300"/>
          </a:xfrm>
          <a:prstGeom xmlns:a="http://schemas.openxmlformats.org/drawingml/2006/main" prst="roundRect">
            <a:avLst>
              <a:gd name="adj" fmla="val 15217"/>
            </a:avLst>
          </a:prstGeom>
          <a:solidFill xmlns:a="http://schemas.openxmlformats.org/drawingml/2006/main">
            <a:srgbClr val="FFFDF8"/>
          </a:solidFill>
          <a:ln xmlns:a="http://schemas.openxmlformats.org/drawingml/2006/main" w="0">
            <a:noFill/>
            <a:prstDash val="solid"/>
          </a:ln>
        </p:spPr>
      </p:sp>
      <p:sp>
        <p:nvSpPr>
          <p:cNvPr id="14" name="close-boundary-text">
            <a:extLst xmlns:a="http://schemas.openxmlformats.org/drawingml/2006/main">
              <a:ext uri="{FF2B5EF4-FFF2-40B4-BE49-F238E27FC236}">
                <a16:creationId xmlns:a16="http://schemas.microsoft.com/office/drawing/2014/main" id="{170BF20E-055E-494B-8AA4-82E0EE941E06}"/>
              </a:ext>
            </a:extLst>
          </p:cNvPr>
          <p:cNvSpPr>
            <a:spLocks xmlns:a="http://schemas.openxmlformats.org/drawingml/2006/main" noGrp="1"/>
          </p:cNvSpPr>
          <p:nvPr/>
        </p:nvSpPr>
        <p:spPr>
          <a:xfrm xmlns:a="http://schemas.openxmlformats.org/drawingml/2006/main">
            <a:off x="990600" y="5495925"/>
            <a:ext cx="1021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3000"/>
              </a:lnSpc>
              <a:buNone/>
              <a:defRPr sz="1575" b="1">
                <a:solidFill>
                  <a:srgbClr val="0B2637"/>
                </a:solidFill>
                <a:latin typeface="Aptos"/>
                <a:ea typeface="Aptos"/>
                <a:cs typeface="Aptos"/>
              </a:defRPr>
            </a:pPr>
            <a:r>
              <a:rPr sz="1575" b="1">
                <a:solidFill>
                  <a:srgbClr val="0B2637"/>
                </a:solidFill>
                <a:latin typeface="Aptos"/>
                <a:ea typeface="Aptos"/>
                <a:cs typeface="Aptos"/>
              </a:rPr>
              <a:t>Save this as formative learning evidence. It is not an assessment submission. Follow the current teacher notice for any formal task.</a:t>
            </a:r>
          </a:p>
        </p:txBody>
      </p:sp>
      <p:sp>
        <p:nvSpPr>
          <p:cNvPr id="15" name="footer-rule-8">
            <a:extLst xmlns:a="http://schemas.openxmlformats.org/drawingml/2006/main">
              <a:ext uri="{FF2B5EF4-FFF2-40B4-BE49-F238E27FC236}">
                <a16:creationId xmlns:a16="http://schemas.microsoft.com/office/drawing/2014/main" id="{6854556A-2B47-4AC7-B4DC-768D14E5C356}"/>
              </a:ext>
            </a:extLst>
          </p:cNvPr>
          <p:cNvSpPr>
            <a:spLocks xmlns:a="http://schemas.openxmlformats.org/drawingml/2006/main" noGrp="1"/>
          </p:cNvSpPr>
          <p:nvPr/>
        </p:nvSpPr>
        <p:spPr>
          <a:xfrm xmlns:a="http://schemas.openxmlformats.org/drawingml/2006/main">
            <a:off x="685800" y="6381750"/>
            <a:ext cx="10820400" cy="0"/>
          </a:xfrm>
          <a:prstGeom xmlns:a="http://schemas.openxmlformats.org/drawingml/2006/main" prst="line">
            <a:avLst/>
          </a:prstGeom>
          <a:noFill xmlns:a="http://schemas.openxmlformats.org/drawingml/2006/main"/>
          <a:ln xmlns:a="http://schemas.openxmlformats.org/drawingml/2006/main" w="9525">
            <a:solidFill>
              <a:srgbClr val="4A7869"/>
            </a:solidFill>
            <a:prstDash val="solid"/>
          </a:ln>
        </p:spPr>
      </p:sp>
      <p:sp>
        <p:nvSpPr>
          <p:cNvPr id="16" name="footer-module-8">
            <a:extLst xmlns:a="http://schemas.openxmlformats.org/drawingml/2006/main">
              <a:ext uri="{FF2B5EF4-FFF2-40B4-BE49-F238E27FC236}">
                <a16:creationId xmlns:a16="http://schemas.microsoft.com/office/drawing/2014/main" id="{E1CB6CD1-D935-4922-9EE1-CFD4F81154D5}"/>
              </a:ext>
            </a:extLst>
          </p:cNvPr>
          <p:cNvSpPr>
            <a:spLocks xmlns:a="http://schemas.openxmlformats.org/drawingml/2006/main" noGrp="1"/>
          </p:cNvSpPr>
          <p:nvPr/>
        </p:nvSpPr>
        <p:spPr>
          <a:xfrm xmlns:a="http://schemas.openxmlformats.org/drawingml/2006/main">
            <a:off x="685800" y="6496050"/>
            <a:ext cx="857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3000"/>
              </a:lnSpc>
              <a:buNone/>
              <a:defRPr sz="900" b="0">
                <a:solidFill>
                  <a:srgbClr val="DDE8E5"/>
                </a:solidFill>
                <a:latin typeface="Aptos"/>
                <a:ea typeface="Aptos"/>
                <a:cs typeface="Aptos"/>
              </a:defRPr>
            </a:pPr>
            <a:r>
              <a:rPr sz="900" b="0">
                <a:solidFill>
                  <a:srgbClr val="DDE8E5"/>
                </a:solidFill>
                <a:latin typeface="Aptos"/>
                <a:ea typeface="Aptos"/>
                <a:cs typeface="Aptos"/>
              </a:rPr>
              <a:t>M02  ·  Preparing Job Applications</a:t>
            </a:r>
          </a:p>
        </p:txBody>
      </p:sp>
      <p:sp>
        <p:nvSpPr>
          <p:cNvPr id="17" name="footer-number-8">
            <a:extLst xmlns:a="http://schemas.openxmlformats.org/drawingml/2006/main">
              <a:ext uri="{FF2B5EF4-FFF2-40B4-BE49-F238E27FC236}">
                <a16:creationId xmlns:a16="http://schemas.microsoft.com/office/drawing/2014/main" id="{E02F72BD-E0CD-4267-8A83-0324851782D5}"/>
              </a:ext>
            </a:extLst>
          </p:cNvPr>
          <p:cNvSpPr>
            <a:spLocks xmlns:a="http://schemas.openxmlformats.org/drawingml/2006/main" noGrp="1"/>
          </p:cNvSpPr>
          <p:nvPr/>
        </p:nvSpPr>
        <p:spPr>
          <a:xfrm xmlns:a="http://schemas.openxmlformats.org/drawingml/2006/main">
            <a:off x="10934700" y="647700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3000"/>
              </a:lnSpc>
              <a:buNone/>
              <a:defRPr sz="1050" b="1">
                <a:solidFill>
                  <a:srgbClr val="DDE8E5"/>
                </a:solidFill>
                <a:latin typeface="Aptos"/>
                <a:ea typeface="Aptos"/>
                <a:cs typeface="Aptos"/>
              </a:defRPr>
            </a:pPr>
            <a:r>
              <a:rPr sz="1050" b="1">
                <a:solidFill>
                  <a:srgbClr val="DDE8E5"/>
                </a:solidFill>
                <a:latin typeface="Aptos"/>
                <a:ea typeface="Aptos"/>
                <a:cs typeface="Aptos"/>
              </a:rPr>
              <a:t>08</a:t>
            </a:r>
          </a:p>
        </p:txBody>
      </p:sp>
    </p:spTree>
    <p:extLst>
      <p:ext uri="{BB962C8B-B14F-4D97-AF65-F5344CB8AC3E}">
        <p14:creationId xmlns:p14="http://schemas.microsoft.com/office/powerpoint/2010/main" val="12695547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2026-08-31T09:25:28.4390000Z</dcterms:created>
  <dcterms:modified xsi:type="dcterms:W3CDTF">2026-08-31T09:25:28.4390000Z</dcterms:modified>
</coreProperties>
</file>