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9b0e967f944da9" /><Relationship Type="http://schemas.openxmlformats.org/officeDocument/2006/relationships/extended-properties" Target="/docProps/app.xml" Id="R60d8a81fda1748c8" /><Relationship Type="http://schemas.openxmlformats.org/officeDocument/2006/relationships/officeDocument" Target="/ppt/presentation.xml" Id="R7cdae7fc713c4395" /></Relationships>
</file>

<file path=ppt/presentation.xml><?xml version="1.0" encoding="utf-8"?>
<p:presentation xmlns:p="http://schemas.openxmlformats.org/presentationml/2006/main">
  <p:sldMasterIdLst>
    <p:sldMasterId xmlns:r="http://schemas.openxmlformats.org/officeDocument/2006/relationships" id="2147483648" r:id="R5acd818ed5854d52"/>
  </p:sldMasterIdLst>
  <p:notesMasterIdLst>
    <p:notesMasterId xmlns:r="http://schemas.openxmlformats.org/officeDocument/2006/relationships" r:id="Rd0355cd373194ebc"/>
  </p:notesMasterIdLst>
  <p:sldIdLst>
    <p:sldId xmlns:r="http://schemas.openxmlformats.org/officeDocument/2006/relationships" id="256" r:id="R8216c6b699da4859"/>
    <p:sldId xmlns:r="http://schemas.openxmlformats.org/officeDocument/2006/relationships" id="257" r:id="R1e3b9a998ea4410c"/>
    <p:sldId xmlns:r="http://schemas.openxmlformats.org/officeDocument/2006/relationships" id="258" r:id="R273ec33e2d864685"/>
    <p:sldId xmlns:r="http://schemas.openxmlformats.org/officeDocument/2006/relationships" id="259" r:id="R01835d47f7fc4c7a"/>
    <p:sldId xmlns:r="http://schemas.openxmlformats.org/officeDocument/2006/relationships" id="260" r:id="R234f6ecfa1ee4e14"/>
    <p:sldId xmlns:r="http://schemas.openxmlformats.org/officeDocument/2006/relationships" id="261" r:id="Ra392596bf7444170"/>
    <p:sldId xmlns:r="http://schemas.openxmlformats.org/officeDocument/2006/relationships" id="262" r:id="Rf53d7eee72264b21"/>
    <p:sldId xmlns:r="http://schemas.openxmlformats.org/officeDocument/2006/relationships" id="263" r:id="Ra1c9870ecaaa46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c7b6275a4c4762" /><Relationship Type="http://schemas.openxmlformats.org/officeDocument/2006/relationships/slideMaster" Target="/ppt/slideMasters/slideMaster1.xml" Id="R5acd818ed5854d52" /><Relationship Type="http://schemas.openxmlformats.org/officeDocument/2006/relationships/notesMaster" Target="/ppt/notesMasters/notesMaster1.xml" Id="Rd0355cd373194ebc" /><Relationship Type="http://schemas.openxmlformats.org/officeDocument/2006/relationships/presProps" Target="/ppt/presProps.xml" Id="Raf429131bbea47b6" /><Relationship Type="http://schemas.openxmlformats.org/officeDocument/2006/relationships/tableStyles" Target="/ppt/tableStyles.xml" Id="R281ad22dd492407a" /><Relationship Type="http://schemas.openxmlformats.org/officeDocument/2006/relationships/slide" Target="/ppt/slides/slide1.xml" Id="R8216c6b699da4859" /><Relationship Type="http://schemas.openxmlformats.org/officeDocument/2006/relationships/slide" Target="/ppt/slides/slide2.xml" Id="R1e3b9a998ea4410c" /><Relationship Type="http://schemas.openxmlformats.org/officeDocument/2006/relationships/slide" Target="/ppt/slides/slide3.xml" Id="R273ec33e2d864685" /><Relationship Type="http://schemas.openxmlformats.org/officeDocument/2006/relationships/slide" Target="/ppt/slides/slide4.xml" Id="R01835d47f7fc4c7a" /><Relationship Type="http://schemas.openxmlformats.org/officeDocument/2006/relationships/slide" Target="/ppt/slides/slide5.xml" Id="R234f6ecfa1ee4e14" /><Relationship Type="http://schemas.openxmlformats.org/officeDocument/2006/relationships/slide" Target="/ppt/slides/slide6.xml" Id="Ra392596bf7444170" /><Relationship Type="http://schemas.openxmlformats.org/officeDocument/2006/relationships/slide" Target="/ppt/slides/slide7.xml" Id="Rf53d7eee72264b21" /><Relationship Type="http://schemas.openxmlformats.org/officeDocument/2006/relationships/slide" Target="/ppt/slides/slide8.xml" Id="Ra1c9870ecaaa46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e54d180fa543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8a98dcd43842e1" /><Relationship Type="http://schemas.openxmlformats.org/officeDocument/2006/relationships/notesMaster" Target="/ppt/notesMasters/notesMaster1.xml" Id="Ra12fc03304254d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de5fe88c0448a3" /><Relationship Type="http://schemas.openxmlformats.org/officeDocument/2006/relationships/notesMaster" Target="/ppt/notesMasters/notesMaster1.xml" Id="R108748a0df114a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f0fa64dd624bf2" /><Relationship Type="http://schemas.openxmlformats.org/officeDocument/2006/relationships/notesMaster" Target="/ppt/notesMasters/notesMaster1.xml" Id="R650220d1a19448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835dc4ac8e4349" /><Relationship Type="http://schemas.openxmlformats.org/officeDocument/2006/relationships/notesMaster" Target="/ppt/notesMasters/notesMaster1.xml" Id="R34bc3b00e80443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0287d99f1b429a" /><Relationship Type="http://schemas.openxmlformats.org/officeDocument/2006/relationships/notesMaster" Target="/ppt/notesMasters/notesMaster1.xml" Id="R20aa660dd3d347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9425af81fe4270" /><Relationship Type="http://schemas.openxmlformats.org/officeDocument/2006/relationships/notesMaster" Target="/ppt/notesMasters/notesMaster1.xml" Id="Ra2245d19a2424f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5c2f874f024208" /><Relationship Type="http://schemas.openxmlformats.org/officeDocument/2006/relationships/notesMaster" Target="/ppt/notesMasters/notesMaster1.xml" Id="R1284416255f040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b9a1254ab045d8" /><Relationship Type="http://schemas.openxmlformats.org/officeDocument/2006/relationships/notesMaster" Target="/ppt/notesMasters/notesMaster1.xml" Id="Ra966f8c64bfc48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Team Enterprise Project.</a:t>
            </a:r>
          </a:p>
          <a:p xmlns:a="http://schemas.openxmlformats.org/drawingml/2006/main">
            <a:r>
              <a:t/>
            </a:r>
          </a:p>
          <a:p xmlns:a="http://schemas.openxmlformats.org/drawingml/2006/main">
            <a:r>
              <a:t>Talking points</a:t>
            </a:r>
          </a:p>
          <a:p xmlns:a="http://schemas.openxmlformats.org/drawingml/2006/main">
            <a:r>
              <a:t>- Plan, deliver and evaluate a purposeful team enterprise.</a:t>
            </a:r>
          </a:p>
          <a:p xmlns:a="http://schemas.openxmlformats.org/drawingml/2006/main">
            <a:r>
              <a:t>- Name the three learning areas without teaching them yet: Defining the problem and project purpose; Planning roles, resources, risks and communication; Delivering, evaluating and presenting enterprise evidence.</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9 -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Defining the problem and project purpose: Define a manageable team enterprise project from a verified need, stakeholder evidence and clear success indicators.</a:t>
            </a:r>
          </a:p>
          <a:p xmlns:a="http://schemas.openxmlformats.org/drawingml/2006/main">
            <a:r>
              <a:t>- 2. Planning roles, resources, risks and communication: Coordinate a team enterprise project through accountable roles, sequenced work, resource control, risk management and communication.</a:t>
            </a:r>
          </a:p>
          <a:p xmlns:a="http://schemas.openxmlformats.org/drawingml/2006/main">
            <a:r>
              <a:t>- 3. Delivering, evaluating and presenting enterprise evidence: Evaluate an enterprise project through outcome evidence, teamwork learning and an honest account of decisions and limitations.</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Defining the problem and project purpose.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9 -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Define a manageable team enterprise project from a verified need, stakeholder evidence and clear success indicators.</a:t>
            </a:r>
          </a:p>
          <a:p xmlns:a="http://schemas.openxmlformats.org/drawingml/2006/main">
            <a:r>
              <a:t/>
            </a:r>
          </a:p>
          <a:p xmlns:a="http://schemas.openxmlformats.org/drawingml/2006/main">
            <a:r>
              <a:t>Talking points</a:t>
            </a:r>
          </a:p>
          <a:p xmlns:a="http://schemas.openxmlformats.org/drawingml/2006/main">
            <a:r>
              <a:t>- The official module asks students to apply teamwork and enterprise skills through a project that resembles workplace situations. A project might explore a good, service, event, simulated business, community initiative or school support, but a possibility is not approval. The project, external contact, identity use, money, facilities, data and safety arrangements are Teacher to confirm. Until approval is explicit, students can complete a planning-only simulation using fictional stakeholders and costs.</a:t>
            </a:r>
          </a:p>
          <a:p xmlns:a="http://schemas.openxmlformats.org/drawingml/2006/main">
            <a:r>
              <a:t>- A strong project begins with a problem statement: who experiences what need, in which context, and what evidence shows it matters? Beginning with a favourite solution can cause solution fixation, where the team defends an idea before understanding the need. Stakeholder interviews, observations, existing records and small tests can clarify the problem, provided privacy and approval boundaries are followed. A purpose statement then describes the useful change the project intends to create without claiming an outcome that has not occurred.</a:t>
            </a:r>
          </a:p>
          <a:p xmlns:a="http://schemas.openxmlformats.org/drawingml/2006/main">
            <a:r>
              <a:t>- Scope makes the project manageable. It identifies inclusions, exclusions, time, resources, decision authority and constraints. Goals translate purpose into intended results; indicators describe evidence that would show progress or achievement. Both product or service outcomes and learning outcomes matter. A proposal should therefore connect problem, purpose, deliverable, stakeholders, scope, resources, risks, indicators and approval gates before implementation begins.</a:t>
            </a:r>
          </a:p>
          <a:p xmlns:a="http://schemas.openxmlformats.org/drawingml/2006/main">
            <a:r>
              <a:t>- Worked example — Scoping a reusable-resource initiative: A team wants to 'fix waste at school' by selling reusable kits. The claim is broad, no waste evidence has been collected and sales are not approved. The team narrows the problem to a hypothetical pattern of disposable items at one event, identifies users and organisers, and proposes an approved audit or simulated dataset. It compares kit, communication and process-change options rather than locking into sales. The proposal defines a small deliverable, exclusions, indicators and approval gates. The project remains planning-only unless the teacher confirms implementation.</a:t>
            </a:r>
          </a:p>
          <a:p xmlns:a="http://schemas.openxmlformats.org/drawingml/2006/main">
            <a:r>
              <a:t>- Visual caption: A project purpose should answer an observed need, not merely justify a solution the team already prefers.</a:t>
            </a:r>
          </a:p>
          <a:p xmlns:a="http://schemas.openxmlformats.org/drawingml/2006/main">
            <a:r>
              <a:t>- Visual notice: Notice what the team is photographing, sorting and tracing. What evidence would help define the problem more precisely?</a:t>
            </a:r>
          </a:p>
          <a:p xmlns:a="http://schemas.openxmlformats.org/drawingml/2006/main">
            <a:r>
              <a:t>- Applied evidence: Use a fictional or teacher-approved need to create a problem statement, stakeholder map, three alternative responses, scope boundary, deliverable and five indicators. Mark every approval dependency Teacher to confirm. A one-page proposal canvas and 90-second team pitch.</a:t>
            </a:r>
          </a:p>
          <a:p xmlns:a="http://schemas.openxmlformats.org/drawingml/2006/main">
            <a:r>
              <a:t/>
            </a:r>
          </a:p>
          <a:p xmlns:a="http://schemas.openxmlformats.org/drawingml/2006/main">
            <a:r>
              <a:t>Prompt: Test whether each indicator could provide usable evidence.</a:t>
            </a:r>
          </a:p>
          <a:p xmlns:a="http://schemas.openxmlformats.org/drawingml/2006/main">
            <a:r>
              <a:t/>
            </a:r>
          </a:p>
          <a:p xmlns:a="http://schemas.openxmlformats.org/drawingml/2006/main">
            <a:r>
              <a:t>Likely misconception or nuance</a:t>
            </a:r>
          </a:p>
          <a:p xmlns:a="http://schemas.openxmlformats.org/drawingml/2006/main">
            <a:r>
              <a:t>- A project proposal is strongest when it promises to solve the biggest possible problem. Correction: A credible proposal defines a bounded need, achievable deliverable, evidence and authority; exaggerated scope weakens feasibility and accountability.</a:t>
            </a:r>
          </a:p>
          <a:p xmlns:a="http://schemas.openxmlformats.org/drawingml/2006/main">
            <a:r>
              <a:t/>
            </a:r>
          </a:p>
          <a:p xmlns:a="http://schemas.openxmlformats.org/drawingml/2006/main">
            <a:r>
              <a:t>Transition: Move to Planning roles, resources, risks and communication.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9 -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specialists/visuals/web-ready/m09-s01.webp | original AI-generated raster | SHA-256 1621a23a0e3659a665dbb8f6192e6980babfddc1036ef4f6d4bb74cdcda972a3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Coordinate a team enterprise project through accountable roles, sequenced work, resource control, risk management and communication.</a:t>
            </a:r>
          </a:p>
          <a:p xmlns:a="http://schemas.openxmlformats.org/drawingml/2006/main">
            <a:r>
              <a:t/>
            </a:r>
          </a:p>
          <a:p xmlns:a="http://schemas.openxmlformats.org/drawingml/2006/main">
            <a:r>
              <a:t>Talking points</a:t>
            </a:r>
          </a:p>
          <a:p xmlns:a="http://schemas.openxmlformats.org/drawingml/2006/main">
            <a:r>
              <a:t>- Team planning converts a proposal into coordinated action. Roles should make responsibility visible without isolating information or allowing one person to dominate. A role allocation can consider capability, learning goals, availability and workload, with backup arrangements for critical tasks. Responsibility means owning the next action and reporting evidence; accountability remains shared where team decisions affect the whole project. Meeting records capture decisions, actions, owners and due dates rather than reproducing every spoken word.</a:t>
            </a:r>
          </a:p>
          <a:p xmlns:a="http://schemas.openxmlformats.org/drawingml/2006/main">
            <a:r>
              <a:t>- An action plan sequences tasks and shows dependencies—work that cannot begin until another task or approval is complete. Milestones mark meaningful progress, while a resource register tracks people, time, materials, equipment, information and any approved funds. Estimates should include contingencies and actual use should be recorded. A project can fail even when each individual is busy if critical dependencies, approvals or shared resources are not managed.</a:t>
            </a:r>
          </a:p>
          <a:p xmlns:a="http://schemas.openxmlformats.org/drawingml/2006/main">
            <a:r>
              <a:t>- Risk and communication are continuous, not one-off forms. The team reviews safety, financial, operational, privacy, reputational and participation risks as conditions change. A change request states what is proposed, why, impact on scope, time, resources and risk, and who can approve it. Communication is matched to audience and purpose, and disagreement is resolved through evidence, shared goals and agreed decision rules. Local tools, contacts and authorisation levels are Teacher to confirm.</a:t>
            </a:r>
          </a:p>
          <a:p xmlns:a="http://schemas.openxmlformats.org/drawingml/2006/main">
            <a:r>
              <a:t>- Worked example — Recovering a slipping event simulation: A team planning a simulated careers event has attractive promotion drafts but no confirmed session plan. The venue task depends on teacher approval and one member holds all stakeholder notes. The team maps dependencies, pauses promotion claims that rely on unconfirmed details and redistributes the notes to an approved shared location. Roles are reallocated by workload and capability, with one owner and backup for each critical task. A change request reduces the simulated event scope and updates milestones, risks and messages. The response targets the bottleneck rather than blaming the busiest-looking member.</a:t>
            </a:r>
          </a:p>
          <a:p xmlns:a="http://schemas.openxmlformats.org/drawingml/2006/main">
            <a:r>
              <a:t>- Visual caption: A deliverable plan connects who will act, what they need, when it happens, what may go wrong and how the team will stay informed.</a:t>
            </a:r>
          </a:p>
          <a:p xmlns:a="http://schemas.openxmlformats.org/drawingml/2006/main">
            <a:r>
              <a:t>- Visual notice: Notice the role, timeline, resource, risk and device cues. Which dependency could delay the rest of the plan?</a:t>
            </a:r>
          </a:p>
          <a:p xmlns:a="http://schemas.openxmlformats.org/drawingml/2006/main">
            <a:r>
              <a:t>- Applied evidence: Turn the approved or hypothetical proposal into a role matrix, dependency plan, milestone timeline, resource register, risk log and meeting record. Respond to a supplied disruption through a documented change request. A coordinated project-control pack and individual accountability note.</a:t>
            </a:r>
          </a:p>
          <a:p xmlns:a="http://schemas.openxmlformats.org/drawingml/2006/main">
            <a:r>
              <a:t/>
            </a:r>
          </a:p>
          <a:p xmlns:a="http://schemas.openxmlformats.org/drawingml/2006/main">
            <a:r>
              <a:t>Prompt: Approve or reject a change and update all affected records.</a:t>
            </a:r>
          </a:p>
          <a:p xmlns:a="http://schemas.openxmlformats.org/drawingml/2006/main">
            <a:r>
              <a:t/>
            </a:r>
          </a:p>
          <a:p xmlns:a="http://schemas.openxmlformats.org/drawingml/2006/main">
            <a:r>
              <a:t>Likely misconception or nuance</a:t>
            </a:r>
          </a:p>
          <a:p xmlns:a="http://schemas.openxmlformats.org/drawingml/2006/main">
            <a:r>
              <a:t>- Good teamwork means everyone completes exactly the same amount of every task. Correction: Fair teamwork allocates clear, meaningful contributions according to task need, capability, learning and workload, then makes accountability and support visible.</a:t>
            </a:r>
          </a:p>
          <a:p xmlns:a="http://schemas.openxmlformats.org/drawingml/2006/main">
            <a:r>
              <a:t/>
            </a:r>
          </a:p>
          <a:p xmlns:a="http://schemas.openxmlformats.org/drawingml/2006/main">
            <a:r>
              <a:t>Transition: Move to Delivering, evaluating and presenting enterprise evidence.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9 -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specialists/visuals/web-ready/m09-s02.webp | original AI-generated raster | SHA-256 c58e773a0f5683013c36ab20b52e04ecb61c371d43477017dd172dc8639a993d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Evaluate an enterprise project through outcome evidence, teamwork learning and an honest account of decisions and limitations.</a:t>
            </a:r>
          </a:p>
          <a:p xmlns:a="http://schemas.openxmlformats.org/drawingml/2006/main">
            <a:r>
              <a:t/>
            </a:r>
          </a:p>
          <a:p xmlns:a="http://schemas.openxmlformats.org/drawingml/2006/main">
            <a:r>
              <a:t>Talking points</a:t>
            </a:r>
          </a:p>
          <a:p xmlns:a="http://schemas.openxmlformats.org/drawingml/2006/main">
            <a:r>
              <a:t>- Delivery is controlled implementation, not simply finishing a product. Teams monitor quality, schedule, resources, participation and risk while recording decisions and changes. Evidence may include approved observations, counts, feedback, version history, meeting actions and product checks. The collection method should be proportional, privacy-safe and aligned with the indicator. More evidence is not automatically better if it is irrelevant, inconsistent or collected without authority.</a:t>
            </a:r>
          </a:p>
          <a:p xmlns:a="http://schemas.openxmlformats.org/drawingml/2006/main">
            <a:r>
              <a:t>- Evaluation compares what was intended with what occurred and explains why. Outcome evidence assesses the effect of the deliverable; process evidence assesses planning, communication and problem-solving; learning evidence shows growth in teamwork and enterprise skills. Attribution should be cautious: a positive change after a project does not prove the project caused all of it. Limitations, unexpected effects and stakeholder differences belong in a credible evaluation.</a:t>
            </a:r>
          </a:p>
          <a:p xmlns:a="http://schemas.openxmlformats.org/drawingml/2006/main">
            <a:r>
              <a:t>- A project presentation should make reasoning visible. It can move from need and purpose to proposal, implementation, adaptations, evidence, evaluation and next steps. Claims should match the strength of evidence, and setbacks should be analysed rather than hidden. Individual reflection identifies a specific contribution, feedback, learning and transfer to future work. Approved public-safe artefacts can illustrate the story; personal data, unapproved images, private messages and fabricated testimonials must be excluded.</a:t>
            </a:r>
          </a:p>
          <a:p xmlns:a="http://schemas.openxmlformats.org/drawingml/2006/main">
            <a:r>
              <a:t>- Worked example — Evaluating a simulated orientation resource: A team creates a prototype orientation guide. Five test users find information faster, but two pages remain confusing and only one test group was involved. The team compares completion time and feedback with its baseline and reports the small sample as a limitation. It explains the page redesign and shows version evidence. It does not claim the guide will work for every user or that the project is authorised for public release. Each member links an individual contribution and feedback to a transferable work skill.</a:t>
            </a:r>
          </a:p>
          <a:p xmlns:a="http://schemas.openxmlformats.org/drawingml/2006/main">
            <a:r>
              <a:t>- Visual caption: Evaluation is persuasive when the delivered outcome, evidence of change and feedback can be examined together.</a:t>
            </a:r>
          </a:p>
          <a:p xmlns:a="http://schemas.openxmlformats.org/drawingml/2006/main">
            <a:r>
              <a:t>- Visual notice: Notice the before-and-after photographs, checklist and stakeholder discussion. What evidence supports a claim that the project helped?</a:t>
            </a:r>
          </a:p>
          <a:p xmlns:a="http://schemas.openxmlformats.org/drawingml/2006/main">
            <a:r>
              <a:t>- Applied evidence: Use an approved or fictional project evidence pack to build a five-part presentation: need, action, adaptation, result and next step. Include one limitation and an individual transfer statement. A public-safe presentation storyboard, indicator table and individual reflection.</a:t>
            </a:r>
          </a:p>
          <a:p xmlns:a="http://schemas.openxmlformats.org/drawingml/2006/main">
            <a:r>
              <a:t/>
            </a:r>
          </a:p>
          <a:p xmlns:a="http://schemas.openxmlformats.org/drawingml/2006/main">
            <a:r>
              <a:t>Prompt: Add one limitation, adaptation and transferable learning statement.</a:t>
            </a:r>
          </a:p>
          <a:p xmlns:a="http://schemas.openxmlformats.org/drawingml/2006/main">
            <a:r>
              <a:t/>
            </a:r>
          </a:p>
          <a:p xmlns:a="http://schemas.openxmlformats.org/drawingml/2006/main">
            <a:r>
              <a:t>Likely misconception or nuance</a:t>
            </a:r>
          </a:p>
          <a:p xmlns:a="http://schemas.openxmlformats.org/drawingml/2006/main">
            <a:r>
              <a:t>- A successful presentation should hide every setback. Correction: Credible enterprise evidence explains setbacks, responses and limitations because adaptation and honest evaluation demonstrate workplace learning.</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9 -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specialists/visuals/web-ready/m09-s03.webp | original AI-generated raster | SHA-256 0fe0fafa3e8898077ed9a4163a18fd784cc40852dd8c0c1a266d7c482b2666d8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It keeps the need open to investigation and comparison of alternatives. Rationale: Separating problem and solution reduces fixation.</a:t>
            </a:r>
          </a:p>
          <a:p xmlns:a="http://schemas.openxmlformats.org/drawingml/2006/main">
            <a:r>
              <a:t>- Check 2: Task requirements considered with capability, learning goals, availability and balanced workload. Rationale: Role allocation should support both delivery and fair participation.</a:t>
            </a:r>
          </a:p>
          <a:p xmlns:a="http://schemas.openxmlformats.org/drawingml/2006/main">
            <a:r>
              <a:t>- Check 3: It provides a starting point against which later results can be compared. Rationale: Without a baseline, the scale and direction of change are harder to judge.</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9 -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Delivering, evaluating and presenting enterprise evidence.</a:t>
            </a:r>
          </a:p>
          <a:p xmlns:a="http://schemas.openxmlformats.org/drawingml/2006/main">
            <a:r>
              <a:t/>
            </a:r>
          </a:p>
          <a:p xmlns:a="http://schemas.openxmlformats.org/drawingml/2006/main">
            <a:r>
              <a:t>Talking points</a:t>
            </a:r>
          </a:p>
          <a:p xmlns:a="http://schemas.openxmlformats.org/drawingml/2006/main">
            <a:r>
              <a:t>- Prompt: Evaluate a team enterprise project using outcome, process and learning evidence, then propose a justified next step.</a:t>
            </a:r>
          </a:p>
          <a:p xmlns:a="http://schemas.openxmlformats.org/drawingml/2006/main">
            <a:r>
              <a:t>- Compare baseline, goals, indicators and actual results.</a:t>
            </a:r>
          </a:p>
          <a:p xmlns:a="http://schemas.openxmlformats.org/drawingml/2006/main">
            <a:r>
              <a:t>- Explain important decisions, adaptations and team processes using evidence.</a:t>
            </a:r>
          </a:p>
          <a:p xmlns:a="http://schemas.openxmlformats.org/drawingml/2006/main">
            <a:r>
              <a:t>- Assess attribution, stakeholder differences, limitations and unintended effects.</a:t>
            </a:r>
          </a:p>
          <a:p xmlns:a="http://schemas.openxmlformats.org/drawingml/2006/main">
            <a:r>
              <a:t>- Recommend the next step and identify your transferable individual learning.</a:t>
            </a:r>
          </a:p>
          <a:p xmlns:a="http://schemas.openxmlformats.org/drawingml/2006/main">
            <a:r>
              <a:t>- Success criteria: Integrates product, process and learning evidence.; Keeps claims within the evidence and acknowledges limitations.; Uses only approved, privacy-safe material in the proposed presentation.</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9 -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9 -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e225dc610448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ec79c011e24c2e" /><Relationship Type="http://schemas.openxmlformats.org/officeDocument/2006/relationships/slideLayout" Target="/ppt/slideLayouts/slideLayout1.xml" Id="R722b4e3199ee43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2b4e3199ee43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5562645b234ed1" /><Relationship Type="http://schemas.openxmlformats.org/officeDocument/2006/relationships/image" Target="/ppt/media/image.bin" Id="Rd4ab8acb0dd24b63" /><Relationship Type="http://schemas.openxmlformats.org/officeDocument/2006/relationships/notesSlide" Target="/ppt/notesSlides/notesSlide1.xml" Id="R3c18a3446fdf41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4eaefa502140e2" /><Relationship Type="http://schemas.openxmlformats.org/officeDocument/2006/relationships/notesSlide" Target="/ppt/notesSlides/notesSlide2.xml" Id="R94f54e0823de4f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6f0ea65b664378" /><Relationship Type="http://schemas.openxmlformats.org/officeDocument/2006/relationships/image" Target="/ppt/media/image2.bin" Id="R7637e001d3b5470f" /><Relationship Type="http://schemas.openxmlformats.org/officeDocument/2006/relationships/notesSlide" Target="/ppt/notesSlides/notesSlide3.xml" Id="R708d11e40d664b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7a9b1195734563" /><Relationship Type="http://schemas.openxmlformats.org/officeDocument/2006/relationships/image" Target="/ppt/media/image3.bin" Id="R0533c2c6aca142d6" /><Relationship Type="http://schemas.openxmlformats.org/officeDocument/2006/relationships/notesSlide" Target="/ppt/notesSlides/notesSlide4.xml" Id="R76ff85cf3d2f42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34151a51e34d74" /><Relationship Type="http://schemas.openxmlformats.org/officeDocument/2006/relationships/image" Target="/ppt/media/image4.bin" Id="R417b0e37f5d14f86" /><Relationship Type="http://schemas.openxmlformats.org/officeDocument/2006/relationships/notesSlide" Target="/ppt/notesSlides/notesSlide5.xml" Id="Rf8b260e056644b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59ccdc9d9a4e60" /><Relationship Type="http://schemas.openxmlformats.org/officeDocument/2006/relationships/notesSlide" Target="/ppt/notesSlides/notesSlide6.xml" Id="R1b36a314109f42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d9f4e538d347de" /><Relationship Type="http://schemas.openxmlformats.org/officeDocument/2006/relationships/image" Target="/ppt/media/image5.bin" Id="Rf33ba049ae3e48b8" /><Relationship Type="http://schemas.openxmlformats.org/officeDocument/2006/relationships/notesSlide" Target="/ppt/notesSlides/notesSlide7.xml" Id="R55739032ee8144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ac6e0331b8425a" /><Relationship Type="http://schemas.openxmlformats.org/officeDocument/2006/relationships/image" Target="/ppt/media/image6.bin" Id="R109c21a60d434fed" /><Relationship Type="http://schemas.openxmlformats.org/officeDocument/2006/relationships/notesSlide" Target="/ppt/notesSlides/notesSlide8.xml" Id="Rc93580aa55b44a07" /></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4ab8acb0dd24b63"/>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82EED772-2296-4FE4-9CB5-9F55444F805E}"/>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sp>
      <p:sp>
        <p:nvSpPr>
          <p:cNvPr id="3" name="purpose-course-label">
            <a:extLst xmlns:a="http://schemas.openxmlformats.org/drawingml/2006/main">
              <a:ext uri="{FF2B5EF4-FFF2-40B4-BE49-F238E27FC236}">
                <a16:creationId xmlns:a16="http://schemas.microsoft.com/office/drawing/2014/main" id="{20987944-1890-40F8-A651-16FB9E07B20C}"/>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11  ·  M09</a:t>
            </a:r>
          </a:p>
        </p:txBody>
      </p:sp>
      <p:sp>
        <p:nvSpPr>
          <p:cNvPr id="4" name="purpose-title">
            <a:extLst xmlns:a="http://schemas.openxmlformats.org/drawingml/2006/main">
              <a:ext uri="{FF2B5EF4-FFF2-40B4-BE49-F238E27FC236}">
                <a16:creationId xmlns:a16="http://schemas.microsoft.com/office/drawing/2014/main" id="{F807712E-35D1-4DDF-BC32-C4C4ABE12DF3}"/>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Team Enterprise Project</a:t>
            </a:r>
          </a:p>
        </p:txBody>
      </p:sp>
      <p:sp>
        <p:nvSpPr>
          <p:cNvPr id="5" name="purpose-summary">
            <a:extLst xmlns:a="http://schemas.openxmlformats.org/drawingml/2006/main">
              <a:ext uri="{FF2B5EF4-FFF2-40B4-BE49-F238E27FC236}">
                <a16:creationId xmlns:a16="http://schemas.microsoft.com/office/drawing/2014/main" id="{6CEC0E6D-9D6B-4E42-9153-74EE1AE33186}"/>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Plan, deliver and evaluate a purposeful team enterprise.</a:t>
            </a:r>
          </a:p>
        </p:txBody>
      </p:sp>
      <p:sp>
        <p:nvSpPr>
          <p:cNvPr id="6" name="purpose-before-label">
            <a:extLst xmlns:a="http://schemas.openxmlformats.org/drawingml/2006/main">
              <a:ext uri="{FF2B5EF4-FFF2-40B4-BE49-F238E27FC236}">
                <a16:creationId xmlns:a16="http://schemas.microsoft.com/office/drawing/2014/main" id="{36E12EC1-1806-49D4-B6B0-06EDB267F621}"/>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54460789-9A76-40D0-B197-33AAE19F1B9A}"/>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25881B3B-B96A-4B27-9F35-75E5CC7D2E3F}"/>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9" name="purpose-footer-module">
            <a:extLst xmlns:a="http://schemas.openxmlformats.org/drawingml/2006/main">
              <a:ext uri="{FF2B5EF4-FFF2-40B4-BE49-F238E27FC236}">
                <a16:creationId xmlns:a16="http://schemas.microsoft.com/office/drawing/2014/main" id="{8B1BE8B4-774B-46D7-BFF3-43AD396C3A7A}"/>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M09  ·  Team Enterprise Project</a:t>
            </a:r>
          </a:p>
        </p:txBody>
      </p:sp>
      <p:sp>
        <p:nvSpPr>
          <p:cNvPr id="10" name="purpose-footer-number">
            <a:extLst xmlns:a="http://schemas.openxmlformats.org/drawingml/2006/main">
              <a:ext uri="{FF2B5EF4-FFF2-40B4-BE49-F238E27FC236}">
                <a16:creationId xmlns:a16="http://schemas.microsoft.com/office/drawing/2014/main" id="{1C8C618C-6A6F-4598-B72C-978333D097C9}"/>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236228356"/>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2072FEC8-053C-4016-82F6-A8533F95CC8F}"/>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M09</a:t>
            </a:r>
          </a:p>
        </p:txBody>
      </p:sp>
      <p:sp>
        <p:nvSpPr>
          <p:cNvPr id="2" name="slide-title-2">
            <a:extLst xmlns:a="http://schemas.openxmlformats.org/drawingml/2006/main">
              <a:ext uri="{FF2B5EF4-FFF2-40B4-BE49-F238E27FC236}">
                <a16:creationId xmlns:a16="http://schemas.microsoft.com/office/drawing/2014/main" id="{5B0D375B-61BA-47B0-9EBC-350576C7B72A}"/>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1CD40635-996C-46AB-B0DF-4451E28235BF}"/>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23AAB1FE-26D9-466A-BEA4-9ADA35AC6725}"/>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Defining the problem and project purpose</a:t>
            </a:r>
          </a:p>
        </p:txBody>
      </p:sp>
      <p:sp>
        <p:nvSpPr>
          <p:cNvPr id="5" name="map-intention-1">
            <a:extLst xmlns:a="http://schemas.openxmlformats.org/drawingml/2006/main">
              <a:ext uri="{FF2B5EF4-FFF2-40B4-BE49-F238E27FC236}">
                <a16:creationId xmlns:a16="http://schemas.microsoft.com/office/drawing/2014/main" id="{8AF598CF-6E08-4AD5-AE36-337D1223A84B}"/>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Define a manageable team enterprise project from a verified need, stakeholder evidence and clear success indicators.</a:t>
            </a:r>
          </a:p>
        </p:txBody>
      </p:sp>
      <p:sp>
        <p:nvSpPr>
          <p:cNvPr id="6" name="map-divider-1">
            <a:extLst xmlns:a="http://schemas.openxmlformats.org/drawingml/2006/main">
              <a:ext uri="{FF2B5EF4-FFF2-40B4-BE49-F238E27FC236}">
                <a16:creationId xmlns:a16="http://schemas.microsoft.com/office/drawing/2014/main" id="{E624F9D7-3B8E-4A3B-8475-8AAF5FC65591}"/>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7" name="map-number-2">
            <a:extLst xmlns:a="http://schemas.openxmlformats.org/drawingml/2006/main">
              <a:ext uri="{FF2B5EF4-FFF2-40B4-BE49-F238E27FC236}">
                <a16:creationId xmlns:a16="http://schemas.microsoft.com/office/drawing/2014/main" id="{B6B71AB6-B0E5-4435-AE2A-D99DF0AF36C5}"/>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CBD9EEDC-3436-45FF-940A-8D47051B2D37}"/>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Planning roles, resources, risks and communication</a:t>
            </a:r>
          </a:p>
        </p:txBody>
      </p:sp>
      <p:sp>
        <p:nvSpPr>
          <p:cNvPr id="9" name="map-intention-2">
            <a:extLst xmlns:a="http://schemas.openxmlformats.org/drawingml/2006/main">
              <a:ext uri="{FF2B5EF4-FFF2-40B4-BE49-F238E27FC236}">
                <a16:creationId xmlns:a16="http://schemas.microsoft.com/office/drawing/2014/main" id="{98DB6F68-78E7-467C-963F-5C8B4B74AF37}"/>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Coordinate a team enterprise project through accountable roles, sequenced work, resource control, risk management and communication.</a:t>
            </a:r>
          </a:p>
        </p:txBody>
      </p:sp>
      <p:sp>
        <p:nvSpPr>
          <p:cNvPr id="10" name="map-divider-2">
            <a:extLst xmlns:a="http://schemas.openxmlformats.org/drawingml/2006/main">
              <a:ext uri="{FF2B5EF4-FFF2-40B4-BE49-F238E27FC236}">
                <a16:creationId xmlns:a16="http://schemas.microsoft.com/office/drawing/2014/main" id="{63674FBF-9BBB-479E-BDB9-82AE7619E29E}"/>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11" name="map-number-3">
            <a:extLst xmlns:a="http://schemas.openxmlformats.org/drawingml/2006/main">
              <a:ext uri="{FF2B5EF4-FFF2-40B4-BE49-F238E27FC236}">
                <a16:creationId xmlns:a16="http://schemas.microsoft.com/office/drawing/2014/main" id="{88503289-0266-44CE-849C-A4D29EA853AB}"/>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FE656D0A-A597-48F9-A734-21EA57A71F1D}"/>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Delivering, evaluating and presenting enterprise evidence</a:t>
            </a:r>
          </a:p>
        </p:txBody>
      </p:sp>
      <p:sp>
        <p:nvSpPr>
          <p:cNvPr id="13" name="map-intention-3">
            <a:extLst xmlns:a="http://schemas.openxmlformats.org/drawingml/2006/main">
              <a:ext uri="{FF2B5EF4-FFF2-40B4-BE49-F238E27FC236}">
                <a16:creationId xmlns:a16="http://schemas.microsoft.com/office/drawing/2014/main" id="{CFE162C4-9125-4677-AA90-39C30FDAF700}"/>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Evaluate an enterprise project through outcome evidence, teamwork learning and an honest account of decisions and limitations.</a:t>
            </a:r>
          </a:p>
        </p:txBody>
      </p:sp>
      <p:sp>
        <p:nvSpPr>
          <p:cNvPr id="14" name="map-prompt-band">
            <a:extLst xmlns:a="http://schemas.openxmlformats.org/drawingml/2006/main">
              <a:ext uri="{FF2B5EF4-FFF2-40B4-BE49-F238E27FC236}">
                <a16:creationId xmlns:a16="http://schemas.microsoft.com/office/drawing/2014/main" id="{63116431-18C3-479F-9776-AF014F90F47C}"/>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sp>
      <p:sp>
        <p:nvSpPr>
          <p:cNvPr id="15" name="map-retrieval-prompt">
            <a:extLst xmlns:a="http://schemas.openxmlformats.org/drawingml/2006/main">
              <a:ext uri="{FF2B5EF4-FFF2-40B4-BE49-F238E27FC236}">
                <a16:creationId xmlns:a16="http://schemas.microsoft.com/office/drawing/2014/main" id="{0B944988-F8A2-45DF-BFE6-13CD31383F7C}"/>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AF59B5B8-D668-4AF1-B76A-38AF75980459}"/>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7" name="footer-module-2">
            <a:extLst xmlns:a="http://schemas.openxmlformats.org/drawingml/2006/main">
              <a:ext uri="{FF2B5EF4-FFF2-40B4-BE49-F238E27FC236}">
                <a16:creationId xmlns:a16="http://schemas.microsoft.com/office/drawing/2014/main" id="{DF105E07-E57B-43C2-9209-992C8CBC8318}"/>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M09  ·  Team Enterprise Project</a:t>
            </a:r>
          </a:p>
        </p:txBody>
      </p:sp>
      <p:sp>
        <p:nvSpPr>
          <p:cNvPr id="18" name="footer-number-2">
            <a:extLst xmlns:a="http://schemas.openxmlformats.org/drawingml/2006/main">
              <a:ext uri="{FF2B5EF4-FFF2-40B4-BE49-F238E27FC236}">
                <a16:creationId xmlns:a16="http://schemas.microsoft.com/office/drawing/2014/main" id="{C93E7E98-C958-4ABC-9AA4-068104A66985}"/>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337257804"/>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4F699D0E-C2C4-4322-838E-C02F379094AB}"/>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M09</a:t>
            </a:r>
          </a:p>
        </p:txBody>
      </p:sp>
      <p:sp>
        <p:nvSpPr>
          <p:cNvPr id="2" name="slide-title-3">
            <a:extLst xmlns:a="http://schemas.openxmlformats.org/drawingml/2006/main">
              <a:ext uri="{FF2B5EF4-FFF2-40B4-BE49-F238E27FC236}">
                <a16:creationId xmlns:a16="http://schemas.microsoft.com/office/drawing/2014/main" id="{027CF4A7-38CE-4C69-81CD-B92447CFC3C7}"/>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Defining the problem and project purpose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637e001d3b5470f"/>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C440DA83-D522-4B59-B56A-4C6D9E1389AD}"/>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The official module asks students to apply teamwork and enterprise skills through a project that resembles workplace situations. A strong project begins with a problem statement: who experiences what need, in which context, and what evidence shows it matters? Scope makes the project manageable.</a:t>
            </a:r>
          </a:p>
        </p:txBody>
      </p:sp>
      <p:sp>
        <p:nvSpPr>
          <p:cNvPr id="5" name="theory-evidence-surface-1">
            <a:extLst xmlns:a="http://schemas.openxmlformats.org/drawingml/2006/main">
              <a:ext uri="{FF2B5EF4-FFF2-40B4-BE49-F238E27FC236}">
                <a16:creationId xmlns:a16="http://schemas.microsoft.com/office/drawing/2014/main" id="{FB712661-CCE2-4C8A-A67E-2EB7DDE70FDE}"/>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1">
            <a:extLst xmlns:a="http://schemas.openxmlformats.org/drawingml/2006/main">
              <a:ext uri="{FF2B5EF4-FFF2-40B4-BE49-F238E27FC236}">
                <a16:creationId xmlns:a16="http://schemas.microsoft.com/office/drawing/2014/main" id="{F9BA5D03-0D94-4B01-996F-60385626568F}"/>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CE7F2E9B-0558-4F51-B725-B44705E822A7}"/>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Problem-to-proposal sprint. Use a fictional or teacher-approved need to create a problem statement, stakeholder map, three alternative responses, scope boundary, deliverable and five indicators. Evidence: A one-page proposal canvas and 90-second team pitch.</a:t>
            </a:r>
          </a:p>
        </p:txBody>
      </p:sp>
      <p:sp>
        <p:nvSpPr>
          <p:cNvPr id="8" name="theory-notice-1">
            <a:extLst xmlns:a="http://schemas.openxmlformats.org/drawingml/2006/main">
              <a:ext uri="{FF2B5EF4-FFF2-40B4-BE49-F238E27FC236}">
                <a16:creationId xmlns:a16="http://schemas.microsoft.com/office/drawing/2014/main" id="{C449831C-7856-442A-8316-403B97A8168C}"/>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what the team is photographing, sorting and tracing. What evidence would help define the problem more precisely?</a:t>
            </a:r>
          </a:p>
        </p:txBody>
      </p:sp>
      <p:sp>
        <p:nvSpPr>
          <p:cNvPr id="9" name="theory-success-1">
            <a:extLst xmlns:a="http://schemas.openxmlformats.org/drawingml/2006/main">
              <a:ext uri="{FF2B5EF4-FFF2-40B4-BE49-F238E27FC236}">
                <a16:creationId xmlns:a16="http://schemas.microsoft.com/office/drawing/2014/main" id="{BE204222-E20E-476D-8471-62C2C2498654}"/>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write a problem statement that separates need from a preferred solution.</a:t>
            </a:r>
          </a:p>
        </p:txBody>
      </p:sp>
      <p:sp>
        <p:nvSpPr>
          <p:cNvPr id="10" name="footer-rule-3">
            <a:extLst xmlns:a="http://schemas.openxmlformats.org/drawingml/2006/main">
              <a:ext uri="{FF2B5EF4-FFF2-40B4-BE49-F238E27FC236}">
                <a16:creationId xmlns:a16="http://schemas.microsoft.com/office/drawing/2014/main" id="{7732D119-5D3F-4DA0-831B-60A3A4EEC846}"/>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3">
            <a:extLst xmlns:a="http://schemas.openxmlformats.org/drawingml/2006/main">
              <a:ext uri="{FF2B5EF4-FFF2-40B4-BE49-F238E27FC236}">
                <a16:creationId xmlns:a16="http://schemas.microsoft.com/office/drawing/2014/main" id="{90A0C089-3748-4B31-9CCC-33DCB03F94EB}"/>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M09  ·  Team Enterprise Project</a:t>
            </a:r>
          </a:p>
        </p:txBody>
      </p:sp>
      <p:sp>
        <p:nvSpPr>
          <p:cNvPr id="12" name="footer-number-3">
            <a:extLst xmlns:a="http://schemas.openxmlformats.org/drawingml/2006/main">
              <a:ext uri="{FF2B5EF4-FFF2-40B4-BE49-F238E27FC236}">
                <a16:creationId xmlns:a16="http://schemas.microsoft.com/office/drawing/2014/main" id="{323A3D62-B650-4B6D-9CD4-AB187320F75C}"/>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1219290788"/>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6D123DF5-CA41-4969-8FF8-140F54474B0C}"/>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M09</a:t>
            </a:r>
          </a:p>
        </p:txBody>
      </p:sp>
      <p:sp>
        <p:nvSpPr>
          <p:cNvPr id="2" name="slide-title-4">
            <a:extLst xmlns:a="http://schemas.openxmlformats.org/drawingml/2006/main">
              <a:ext uri="{FF2B5EF4-FFF2-40B4-BE49-F238E27FC236}">
                <a16:creationId xmlns:a16="http://schemas.microsoft.com/office/drawing/2014/main" id="{11769B09-6692-477B-BC9B-4F5F4F7D84DA}"/>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Planning roles, resources, risks and communication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33c2c6aca142d6"/>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572B1A43-7327-4B59-8AE8-9658397E94A4}"/>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Team planning converts a proposal into coordinated action. An action plan sequences tasks and shows dependencies—work that cannot begin until another task or approval is complete. Risk and communication are continuous, not one-off forms.</a:t>
            </a:r>
          </a:p>
        </p:txBody>
      </p:sp>
      <p:sp>
        <p:nvSpPr>
          <p:cNvPr id="5" name="theory-evidence-surface-2">
            <a:extLst xmlns:a="http://schemas.openxmlformats.org/drawingml/2006/main">
              <a:ext uri="{FF2B5EF4-FFF2-40B4-BE49-F238E27FC236}">
                <a16:creationId xmlns:a16="http://schemas.microsoft.com/office/drawing/2014/main" id="{0104DBB5-4BA9-4CFE-9CEE-D2228E62BC8B}"/>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sp>
      <p:sp>
        <p:nvSpPr>
          <p:cNvPr id="6" name="theory-evidence-label-2">
            <a:extLst xmlns:a="http://schemas.openxmlformats.org/drawingml/2006/main">
              <a:ext uri="{FF2B5EF4-FFF2-40B4-BE49-F238E27FC236}">
                <a16:creationId xmlns:a16="http://schemas.microsoft.com/office/drawing/2014/main" id="{82B6C266-7D98-4AAB-BE67-C9CA28FF86FF}"/>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090B4ED6-037D-4386-B150-23EF864C28CF}"/>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Enterprise control-room simulation. Turn the approved or hypothetical proposal into a role matrix, dependency plan, milestone timeline, resource register, risk log and meeting record. Evidence: A coordinated project-control pack and individual accountability note.</a:t>
            </a:r>
          </a:p>
        </p:txBody>
      </p:sp>
      <p:sp>
        <p:nvSpPr>
          <p:cNvPr id="8" name="theory-notice-2">
            <a:extLst xmlns:a="http://schemas.openxmlformats.org/drawingml/2006/main">
              <a:ext uri="{FF2B5EF4-FFF2-40B4-BE49-F238E27FC236}">
                <a16:creationId xmlns:a16="http://schemas.microsoft.com/office/drawing/2014/main" id="{833F0ADD-7437-4243-B9B9-FE7BB539365C}"/>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role, timeline, resource, risk and device cues. Which dependency could delay the rest of the plan?</a:t>
            </a:r>
          </a:p>
        </p:txBody>
      </p:sp>
      <p:sp>
        <p:nvSpPr>
          <p:cNvPr id="9" name="theory-success-2">
            <a:extLst xmlns:a="http://schemas.openxmlformats.org/drawingml/2006/main">
              <a:ext uri="{FF2B5EF4-FFF2-40B4-BE49-F238E27FC236}">
                <a16:creationId xmlns:a16="http://schemas.microsoft.com/office/drawing/2014/main" id="{BC654A43-6D65-411B-B26D-CC2669422EAB}"/>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allocate roles by task needs, capability and workload rather than status.</a:t>
            </a:r>
          </a:p>
        </p:txBody>
      </p:sp>
      <p:sp>
        <p:nvSpPr>
          <p:cNvPr id="10" name="footer-rule-4">
            <a:extLst xmlns:a="http://schemas.openxmlformats.org/drawingml/2006/main">
              <a:ext uri="{FF2B5EF4-FFF2-40B4-BE49-F238E27FC236}">
                <a16:creationId xmlns:a16="http://schemas.microsoft.com/office/drawing/2014/main" id="{B6BE89F4-DB8E-4570-AB25-6CCC6442EBEB}"/>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4">
            <a:extLst xmlns:a="http://schemas.openxmlformats.org/drawingml/2006/main">
              <a:ext uri="{FF2B5EF4-FFF2-40B4-BE49-F238E27FC236}">
                <a16:creationId xmlns:a16="http://schemas.microsoft.com/office/drawing/2014/main" id="{1033CE10-5D1D-434B-B54B-181C1DEA3BD7}"/>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M09  ·  Team Enterprise Project</a:t>
            </a:r>
          </a:p>
        </p:txBody>
      </p:sp>
      <p:sp>
        <p:nvSpPr>
          <p:cNvPr id="12" name="footer-number-4">
            <a:extLst xmlns:a="http://schemas.openxmlformats.org/drawingml/2006/main">
              <a:ext uri="{FF2B5EF4-FFF2-40B4-BE49-F238E27FC236}">
                <a16:creationId xmlns:a16="http://schemas.microsoft.com/office/drawing/2014/main" id="{F45283C9-1080-40FD-93D5-551E285F69AF}"/>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803051494"/>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CD94BA0C-4EA0-4B71-8310-E6DCD0AA40CF}"/>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M09</a:t>
            </a:r>
          </a:p>
        </p:txBody>
      </p:sp>
      <p:sp>
        <p:nvSpPr>
          <p:cNvPr id="2" name="slide-title-5">
            <a:extLst xmlns:a="http://schemas.openxmlformats.org/drawingml/2006/main">
              <a:ext uri="{FF2B5EF4-FFF2-40B4-BE49-F238E27FC236}">
                <a16:creationId xmlns:a16="http://schemas.microsoft.com/office/drawing/2014/main" id="{85AF2EFD-036B-4195-B251-2625C90A1ED4}"/>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Delivering, evaluating and presenting enterprise evidence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17b0e37f5d14f86"/>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E5911427-A9C9-4F29-AAB3-E6EADD8541DF}"/>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Delivery is controlled implementation, not simply finishing a product. Evaluation compares what was intended with what occurred and explains why. A project presentation should make reasoning visible.</a:t>
            </a:r>
          </a:p>
        </p:txBody>
      </p:sp>
      <p:sp>
        <p:nvSpPr>
          <p:cNvPr id="5" name="theory-evidence-surface-3">
            <a:extLst xmlns:a="http://schemas.openxmlformats.org/drawingml/2006/main">
              <a:ext uri="{FF2B5EF4-FFF2-40B4-BE49-F238E27FC236}">
                <a16:creationId xmlns:a16="http://schemas.microsoft.com/office/drawing/2014/main" id="{E206623B-D94F-4867-9B72-9B6E907B661F}"/>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3">
            <a:extLst xmlns:a="http://schemas.openxmlformats.org/drawingml/2006/main">
              <a:ext uri="{FF2B5EF4-FFF2-40B4-BE49-F238E27FC236}">
                <a16:creationId xmlns:a16="http://schemas.microsoft.com/office/drawing/2014/main" id="{1D895E2E-58B4-4835-9BAD-1BFA81CE7C9A}"/>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0C6DF4CB-BF6B-4A6B-9C6A-DCEC67DB972E}"/>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Evidence-to-story showcase. Use an approved or fictional project evidence pack to build a five-part presentation: need, action, adaptation, result and next step. Evidence: A public-safe presentation storyboard, indicator table and individual reflection.</a:t>
            </a:r>
          </a:p>
        </p:txBody>
      </p:sp>
      <p:sp>
        <p:nvSpPr>
          <p:cNvPr id="8" name="theory-notice-3">
            <a:extLst xmlns:a="http://schemas.openxmlformats.org/drawingml/2006/main">
              <a:ext uri="{FF2B5EF4-FFF2-40B4-BE49-F238E27FC236}">
                <a16:creationId xmlns:a16="http://schemas.microsoft.com/office/drawing/2014/main" id="{B9369F3A-6C46-46FF-8DAF-8195EAD78FB7}"/>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before-and-after photographs, checklist and stakeholder discussion. What evidence supports a claim that the project helped?</a:t>
            </a:r>
          </a:p>
        </p:txBody>
      </p:sp>
      <p:sp>
        <p:nvSpPr>
          <p:cNvPr id="9" name="theory-success-3">
            <a:extLst xmlns:a="http://schemas.openxmlformats.org/drawingml/2006/main">
              <a:ext uri="{FF2B5EF4-FFF2-40B4-BE49-F238E27FC236}">
                <a16:creationId xmlns:a16="http://schemas.microsoft.com/office/drawing/2014/main" id="{0FCA6E6D-C2CB-443D-8272-F797AA728600}"/>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compare results with baseline, goals and indicators.</a:t>
            </a:r>
          </a:p>
        </p:txBody>
      </p:sp>
      <p:sp>
        <p:nvSpPr>
          <p:cNvPr id="10" name="footer-rule-5">
            <a:extLst xmlns:a="http://schemas.openxmlformats.org/drawingml/2006/main">
              <a:ext uri="{FF2B5EF4-FFF2-40B4-BE49-F238E27FC236}">
                <a16:creationId xmlns:a16="http://schemas.microsoft.com/office/drawing/2014/main" id="{36E12815-D101-4549-A34D-ABCED7D28C8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5">
            <a:extLst xmlns:a="http://schemas.openxmlformats.org/drawingml/2006/main">
              <a:ext uri="{FF2B5EF4-FFF2-40B4-BE49-F238E27FC236}">
                <a16:creationId xmlns:a16="http://schemas.microsoft.com/office/drawing/2014/main" id="{C6B67586-2DAC-4624-A583-FA017ECE97E6}"/>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M09  ·  Team Enterprise Project</a:t>
            </a:r>
          </a:p>
        </p:txBody>
      </p:sp>
      <p:sp>
        <p:nvSpPr>
          <p:cNvPr id="12" name="footer-number-5">
            <a:extLst xmlns:a="http://schemas.openxmlformats.org/drawingml/2006/main">
              <a:ext uri="{FF2B5EF4-FFF2-40B4-BE49-F238E27FC236}">
                <a16:creationId xmlns:a16="http://schemas.microsoft.com/office/drawing/2014/main" id="{050DD734-819B-47D9-BA94-D5DDBF39A524}"/>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764680085"/>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7E164EF2-CC05-4D1D-A427-D4F9B6E90CCB}"/>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M09</a:t>
            </a:r>
          </a:p>
        </p:txBody>
      </p:sp>
      <p:sp>
        <p:nvSpPr>
          <p:cNvPr id="2" name="slide-title-6">
            <a:extLst xmlns:a="http://schemas.openxmlformats.org/drawingml/2006/main">
              <a:ext uri="{FF2B5EF4-FFF2-40B4-BE49-F238E27FC236}">
                <a16:creationId xmlns:a16="http://schemas.microsoft.com/office/drawing/2014/main" id="{79A889C0-54C6-4BD3-8834-AEB3835F8610}"/>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7DF1B2F4-9A41-453C-AF99-7A9F3FA73866}"/>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A8CFE211-612F-483F-A538-68E51BCF5658}"/>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F6213D6F-1A45-4EB5-A845-E1459AB4D85D}"/>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Why should a problem statement avoid naming the preferred solution?</a:t>
            </a:r>
          </a:p>
        </p:txBody>
      </p:sp>
      <p:sp>
        <p:nvSpPr>
          <p:cNvPr id="6" name="retrieval-separator-1">
            <a:extLst xmlns:a="http://schemas.openxmlformats.org/drawingml/2006/main">
              <a:ext uri="{FF2B5EF4-FFF2-40B4-BE49-F238E27FC236}">
                <a16:creationId xmlns:a16="http://schemas.microsoft.com/office/drawing/2014/main" id="{E3A3C9CA-12CA-4987-9E99-0FF5906DFBE7}"/>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7" name="retrieval-number-2">
            <a:extLst xmlns:a="http://schemas.openxmlformats.org/drawingml/2006/main">
              <a:ext uri="{FF2B5EF4-FFF2-40B4-BE49-F238E27FC236}">
                <a16:creationId xmlns:a16="http://schemas.microsoft.com/office/drawing/2014/main" id="{EBE190F8-E3A2-4CC3-8D88-A6705664272B}"/>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0A8CC41A-CC2D-410D-B598-7F44C265AF72}"/>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is the best basis for allocating team roles?</a:t>
            </a:r>
          </a:p>
        </p:txBody>
      </p:sp>
      <p:sp>
        <p:nvSpPr>
          <p:cNvPr id="9" name="retrieval-separator-2">
            <a:extLst xmlns:a="http://schemas.openxmlformats.org/drawingml/2006/main">
              <a:ext uri="{FF2B5EF4-FFF2-40B4-BE49-F238E27FC236}">
                <a16:creationId xmlns:a16="http://schemas.microsoft.com/office/drawing/2014/main" id="{0479EA7C-C455-4EA4-B0C9-1E9D9E08F440}"/>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0" name="retrieval-number-3">
            <a:extLst xmlns:a="http://schemas.openxmlformats.org/drawingml/2006/main">
              <a:ext uri="{FF2B5EF4-FFF2-40B4-BE49-F238E27FC236}">
                <a16:creationId xmlns:a16="http://schemas.microsoft.com/office/drawing/2014/main" id="{520896A7-A639-420F-BDC3-DA65E6297750}"/>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D8DFF4A8-9B4F-416B-9CF1-8F5EC9AFE021}"/>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Why is a baseline needed for evaluation?</a:t>
            </a:r>
          </a:p>
        </p:txBody>
      </p:sp>
      <p:sp>
        <p:nvSpPr>
          <p:cNvPr id="12" name="retrieval-cycle">
            <a:extLst xmlns:a="http://schemas.openxmlformats.org/drawingml/2006/main">
              <a:ext uri="{FF2B5EF4-FFF2-40B4-BE49-F238E27FC236}">
                <a16:creationId xmlns:a16="http://schemas.microsoft.com/office/drawing/2014/main" id="{DB2103E1-8F7F-4400-898A-52BD73936B1B}"/>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sp>
      <p:sp>
        <p:nvSpPr>
          <p:cNvPr id="13" name="retrieval-cycle-title">
            <a:extLst xmlns:a="http://schemas.openxmlformats.org/drawingml/2006/main">
              <a:ext uri="{FF2B5EF4-FFF2-40B4-BE49-F238E27FC236}">
                <a16:creationId xmlns:a16="http://schemas.microsoft.com/office/drawing/2014/main" id="{04587BF2-F448-4F87-8BA6-6784D42682FF}"/>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58906BA7-3FB4-4F07-AC5E-1400FC8D38B5}"/>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5E8296B3-E323-437C-85D8-BB91175210F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6" name="footer-module-6">
            <a:extLst xmlns:a="http://schemas.openxmlformats.org/drawingml/2006/main">
              <a:ext uri="{FF2B5EF4-FFF2-40B4-BE49-F238E27FC236}">
                <a16:creationId xmlns:a16="http://schemas.microsoft.com/office/drawing/2014/main" id="{DC91F5E0-9831-4DD9-8D5C-169B9660C19B}"/>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M09  ·  Team Enterprise Project</a:t>
            </a:r>
          </a:p>
        </p:txBody>
      </p:sp>
      <p:sp>
        <p:nvSpPr>
          <p:cNvPr id="17" name="footer-number-6">
            <a:extLst xmlns:a="http://schemas.openxmlformats.org/drawingml/2006/main">
              <a:ext uri="{FF2B5EF4-FFF2-40B4-BE49-F238E27FC236}">
                <a16:creationId xmlns:a16="http://schemas.microsoft.com/office/drawing/2014/main" id="{8D6379B7-100C-4D65-9B67-41E52DAD3488}"/>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1406688162"/>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D904CB5B-A5FD-4D5E-B985-81DD3738314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M09</a:t>
            </a:r>
          </a:p>
        </p:txBody>
      </p:sp>
      <p:sp>
        <p:nvSpPr>
          <p:cNvPr id="2" name="slide-title-7">
            <a:extLst xmlns:a="http://schemas.openxmlformats.org/drawingml/2006/main">
              <a:ext uri="{FF2B5EF4-FFF2-40B4-BE49-F238E27FC236}">
                <a16:creationId xmlns:a16="http://schemas.microsoft.com/office/drawing/2014/main" id="{6B17D450-A6BE-41D7-813C-717A6A042545}"/>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33ba049ae3e48b8"/>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EC479D01-7C29-4749-85B7-2BD6A1BE10AA}"/>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Evaluate a team enterprise project using outcome, process and learning evidence, then propose a justified next step.</a:t>
            </a:r>
          </a:p>
        </p:txBody>
      </p:sp>
      <p:sp>
        <p:nvSpPr>
          <p:cNvPr id="5" name="guided-step-number-1">
            <a:extLst xmlns:a="http://schemas.openxmlformats.org/drawingml/2006/main">
              <a:ext uri="{FF2B5EF4-FFF2-40B4-BE49-F238E27FC236}">
                <a16:creationId xmlns:a16="http://schemas.microsoft.com/office/drawing/2014/main" id="{579C7058-BE01-4FBA-A6D2-E5EF2FD89453}"/>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69406893-CCFE-4551-9F10-FB6080717FE9}"/>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D1B11849-F6C0-4AC7-9B69-A8508E6E9C54}"/>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DF81992F-A164-4CDE-B7D3-FA786976E399}"/>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9" name="guided-step-number-2">
            <a:extLst xmlns:a="http://schemas.openxmlformats.org/drawingml/2006/main">
              <a:ext uri="{FF2B5EF4-FFF2-40B4-BE49-F238E27FC236}">
                <a16:creationId xmlns:a16="http://schemas.microsoft.com/office/drawing/2014/main" id="{3BE65FA8-657F-440A-86FA-89BC47E4ED79}"/>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E1F26CB9-2DE5-487E-A14D-8D9B665E5DEB}"/>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2257113F-DCC9-482B-8976-9D0BA11373D6}"/>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832935D9-CD19-4C34-9D40-3417EB23EC90}"/>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3" name="guided-step-number-3">
            <a:extLst xmlns:a="http://schemas.openxmlformats.org/drawingml/2006/main">
              <a:ext uri="{FF2B5EF4-FFF2-40B4-BE49-F238E27FC236}">
                <a16:creationId xmlns:a16="http://schemas.microsoft.com/office/drawing/2014/main" id="{CB3A46C9-C3CB-4C85-9754-8505C96E112F}"/>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98A6E5B1-390F-42B4-8DEE-F92CE598AC79}"/>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4B6A47C1-5D01-4D07-9C92-12BE61920098}"/>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98086D34-D67F-436F-A89E-7382C2B2BCD2}"/>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7" name="guided-step-number-4">
            <a:extLst xmlns:a="http://schemas.openxmlformats.org/drawingml/2006/main">
              <a:ext uri="{FF2B5EF4-FFF2-40B4-BE49-F238E27FC236}">
                <a16:creationId xmlns:a16="http://schemas.microsoft.com/office/drawing/2014/main" id="{54F11949-DEE5-4EAC-8E8D-D0C38143AE30}"/>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C9023A32-B998-4870-BC45-B2AC1F72DC52}"/>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D585EBE7-501E-4B18-A3C4-570E3BB04663}"/>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1441580F-CFB0-40D1-A437-BFD530F8BDDC}"/>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sp>
      <p:sp>
        <p:nvSpPr>
          <p:cNvPr id="21" name="guided-success-label">
            <a:extLst xmlns:a="http://schemas.openxmlformats.org/drawingml/2006/main">
              <a:ext uri="{FF2B5EF4-FFF2-40B4-BE49-F238E27FC236}">
                <a16:creationId xmlns:a16="http://schemas.microsoft.com/office/drawing/2014/main" id="{B45F8E6A-BB33-4AA8-8F70-83038A9AA518}"/>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E3A57C22-F95B-4D79-BA08-28D12643330D}"/>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Integrates product, process and learning evidence.</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Keeps claims within the evidence and acknowledges limitations.</a:t>
            </a:r>
          </a:p>
        </p:txBody>
      </p:sp>
      <p:sp>
        <p:nvSpPr>
          <p:cNvPr id="23" name="guided-visual-notice">
            <a:extLst xmlns:a="http://schemas.openxmlformats.org/drawingml/2006/main">
              <a:ext uri="{FF2B5EF4-FFF2-40B4-BE49-F238E27FC236}">
                <a16:creationId xmlns:a16="http://schemas.microsoft.com/office/drawing/2014/main" id="{966A6B83-FA4B-4158-AC84-E5538BF93DE2}"/>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E25EC373-D9E0-449D-A99F-3A069D3A3FD1}"/>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25" name="footer-module-7">
            <a:extLst xmlns:a="http://schemas.openxmlformats.org/drawingml/2006/main">
              <a:ext uri="{FF2B5EF4-FFF2-40B4-BE49-F238E27FC236}">
                <a16:creationId xmlns:a16="http://schemas.microsoft.com/office/drawing/2014/main" id="{8AC4FACE-30DB-4976-B2D5-9ADF71EF1A03}"/>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M09  ·  Team Enterprise Project</a:t>
            </a:r>
          </a:p>
        </p:txBody>
      </p:sp>
      <p:sp>
        <p:nvSpPr>
          <p:cNvPr id="26" name="footer-number-7">
            <a:extLst xmlns:a="http://schemas.openxmlformats.org/drawingml/2006/main">
              <a:ext uri="{FF2B5EF4-FFF2-40B4-BE49-F238E27FC236}">
                <a16:creationId xmlns:a16="http://schemas.microsoft.com/office/drawing/2014/main" id="{061F880E-1AE5-4E19-8E86-6F7B18D87D15}"/>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267794147"/>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73AD657C-3A7A-41DB-BFE3-3A8A3F64964D}"/>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M09</a:t>
            </a:r>
          </a:p>
        </p:txBody>
      </p:sp>
      <p:sp>
        <p:nvSpPr>
          <p:cNvPr id="2" name="slide-title-8">
            <a:extLst xmlns:a="http://schemas.openxmlformats.org/drawingml/2006/main">
              <a:ext uri="{FF2B5EF4-FFF2-40B4-BE49-F238E27FC236}">
                <a16:creationId xmlns:a16="http://schemas.microsoft.com/office/drawing/2014/main" id="{C8344543-F65F-48E4-8A46-881359171ECF}"/>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09c21a60d434fed"/>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CAF2C26E-2BE9-41A5-A2B7-95C142CC17FD}"/>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BF43C0EE-224E-4440-B4DA-D1CC6B32001B}"/>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28F93AA3-D7C0-46A4-86BB-5A56A50BC9D2}"/>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826770BE-8A41-4D57-9F6E-6C5B94F8A829}"/>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9A1CC503-BBA6-45C8-8550-B545AF368BEB}"/>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5A298496-06B8-4B6B-8DB1-9B1FB835C7F6}"/>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BD9D3341-F9EC-415E-8A42-CC44EC3242C9}"/>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0AF808CB-EBE0-4FA3-A8DE-319CBEC8FB0B}"/>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FFB715C3-FDAB-45E7-993B-59CC275692FF}"/>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delivering, evaluating and presenting enterprise evidence.</a:t>
            </a:r>
          </a:p>
        </p:txBody>
      </p:sp>
      <p:sp>
        <p:nvSpPr>
          <p:cNvPr id="13" name="close-boundary">
            <a:extLst xmlns:a="http://schemas.openxmlformats.org/drawingml/2006/main">
              <a:ext uri="{FF2B5EF4-FFF2-40B4-BE49-F238E27FC236}">
                <a16:creationId xmlns:a16="http://schemas.microsoft.com/office/drawing/2014/main" id="{8957A557-D406-4CEF-B803-7919E5BC7EE0}"/>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sp>
      <p:sp>
        <p:nvSpPr>
          <p:cNvPr id="14" name="close-boundary-text">
            <a:extLst xmlns:a="http://schemas.openxmlformats.org/drawingml/2006/main">
              <a:ext uri="{FF2B5EF4-FFF2-40B4-BE49-F238E27FC236}">
                <a16:creationId xmlns:a16="http://schemas.microsoft.com/office/drawing/2014/main" id="{3ECA33D1-7B7D-4F9A-8820-CE91EE70EF19}"/>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169C50AC-C222-41D3-8539-F16DDEDD7B3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6" name="footer-module-8">
            <a:extLst xmlns:a="http://schemas.openxmlformats.org/drawingml/2006/main">
              <a:ext uri="{FF2B5EF4-FFF2-40B4-BE49-F238E27FC236}">
                <a16:creationId xmlns:a16="http://schemas.microsoft.com/office/drawing/2014/main" id="{271B44A7-C635-4A6B-A050-33589B606371}"/>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M09  ·  Team Enterprise Project</a:t>
            </a:r>
          </a:p>
        </p:txBody>
      </p:sp>
      <p:sp>
        <p:nvSpPr>
          <p:cNvPr id="17" name="footer-number-8">
            <a:extLst xmlns:a="http://schemas.openxmlformats.org/drawingml/2006/main">
              <a:ext uri="{FF2B5EF4-FFF2-40B4-BE49-F238E27FC236}">
                <a16:creationId xmlns:a16="http://schemas.microsoft.com/office/drawing/2014/main" id="{4C300A08-8F37-46BF-BB98-38DF59178C1C}"/>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89886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2026-08-31T09:25:35.1520000Z</dcterms:created>
  <dcterms:modified xsi:type="dcterms:W3CDTF">2026-08-31T09:25:35.1520000Z</dcterms:modified>
</coreProperties>
</file>