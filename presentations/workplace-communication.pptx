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c09e4881ec4bdf" /><Relationship Type="http://schemas.openxmlformats.org/officeDocument/2006/relationships/extended-properties" Target="/docProps/app.xml" Id="R28d93a6c19e54872" /><Relationship Type="http://schemas.openxmlformats.org/officeDocument/2006/relationships/officeDocument" Target="/ppt/presentation.xml" Id="Rc1b5f260e3fe4cb6" /></Relationships>
</file>

<file path=ppt/presentation.xml><?xml version="1.0" encoding="utf-8"?>
<p:presentation xmlns:p="http://schemas.openxmlformats.org/presentationml/2006/main">
  <p:sldMasterIdLst>
    <p:sldMasterId xmlns:r="http://schemas.openxmlformats.org/officeDocument/2006/relationships" id="2147483648" r:id="R3d4cadb03da64d92"/>
  </p:sldMasterIdLst>
  <p:notesMasterIdLst>
    <p:notesMasterId xmlns:r="http://schemas.openxmlformats.org/officeDocument/2006/relationships" r:id="R06335fac0ad64790"/>
  </p:notesMasterIdLst>
  <p:sldIdLst>
    <p:sldId xmlns:r="http://schemas.openxmlformats.org/officeDocument/2006/relationships" id="256" r:id="R34e534294dc34a05"/>
    <p:sldId xmlns:r="http://schemas.openxmlformats.org/officeDocument/2006/relationships" id="257" r:id="Rae40adeb749c4016"/>
    <p:sldId xmlns:r="http://schemas.openxmlformats.org/officeDocument/2006/relationships" id="258" r:id="R17ddc04d9e764c7e"/>
    <p:sldId xmlns:r="http://schemas.openxmlformats.org/officeDocument/2006/relationships" id="259" r:id="Rd1038532f2e049ed"/>
    <p:sldId xmlns:r="http://schemas.openxmlformats.org/officeDocument/2006/relationships" id="260" r:id="R27c1627000bf4cad"/>
    <p:sldId xmlns:r="http://schemas.openxmlformats.org/officeDocument/2006/relationships" id="261" r:id="R9bcf4349e6794509"/>
    <p:sldId xmlns:r="http://schemas.openxmlformats.org/officeDocument/2006/relationships" id="262" r:id="R2310c320e9c24eea"/>
    <p:sldId xmlns:r="http://schemas.openxmlformats.org/officeDocument/2006/relationships" id="263" r:id="R745cbf7518334e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dbc01999ce4d85" /><Relationship Type="http://schemas.openxmlformats.org/officeDocument/2006/relationships/slideMaster" Target="/ppt/slideMasters/slideMaster1.xml" Id="R3d4cadb03da64d92" /><Relationship Type="http://schemas.openxmlformats.org/officeDocument/2006/relationships/notesMaster" Target="/ppt/notesMasters/notesMaster1.xml" Id="R06335fac0ad64790" /><Relationship Type="http://schemas.openxmlformats.org/officeDocument/2006/relationships/presProps" Target="/ppt/presProps.xml" Id="R90506432416c4dfa" /><Relationship Type="http://schemas.openxmlformats.org/officeDocument/2006/relationships/tableStyles" Target="/ppt/tableStyles.xml" Id="Reab76282520245a7" /><Relationship Type="http://schemas.openxmlformats.org/officeDocument/2006/relationships/slide" Target="/ppt/slides/slide1.xml" Id="R34e534294dc34a05" /><Relationship Type="http://schemas.openxmlformats.org/officeDocument/2006/relationships/slide" Target="/ppt/slides/slide2.xml" Id="Rae40adeb749c4016" /><Relationship Type="http://schemas.openxmlformats.org/officeDocument/2006/relationships/slide" Target="/ppt/slides/slide3.xml" Id="R17ddc04d9e764c7e" /><Relationship Type="http://schemas.openxmlformats.org/officeDocument/2006/relationships/slide" Target="/ppt/slides/slide4.xml" Id="Rd1038532f2e049ed" /><Relationship Type="http://schemas.openxmlformats.org/officeDocument/2006/relationships/slide" Target="/ppt/slides/slide5.xml" Id="R27c1627000bf4cad" /><Relationship Type="http://schemas.openxmlformats.org/officeDocument/2006/relationships/slide" Target="/ppt/slides/slide6.xml" Id="R9bcf4349e6794509" /><Relationship Type="http://schemas.openxmlformats.org/officeDocument/2006/relationships/slide" Target="/ppt/slides/slide7.xml" Id="R2310c320e9c24eea" /><Relationship Type="http://schemas.openxmlformats.org/officeDocument/2006/relationships/slide" Target="/ppt/slides/slide8.xml" Id="R745cbf7518334e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a9433cc7fa42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78e1abac424834" /><Relationship Type="http://schemas.openxmlformats.org/officeDocument/2006/relationships/notesMaster" Target="/ppt/notesMasters/notesMaster1.xml" Id="Rd4197cb2393e4b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40597dd1e54c20" /><Relationship Type="http://schemas.openxmlformats.org/officeDocument/2006/relationships/notesMaster" Target="/ppt/notesMasters/notesMaster1.xml" Id="R961bdfe7d46f41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0bfc87746b4336" /><Relationship Type="http://schemas.openxmlformats.org/officeDocument/2006/relationships/notesMaster" Target="/ppt/notesMasters/notesMaster1.xml" Id="R4e2e5b29725a49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2fb77ca7ee4673" /><Relationship Type="http://schemas.openxmlformats.org/officeDocument/2006/relationships/notesMaster" Target="/ppt/notesMasters/notesMaster1.xml" Id="Rf89ead84321143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ade9a2599f4675" /><Relationship Type="http://schemas.openxmlformats.org/officeDocument/2006/relationships/notesMaster" Target="/ppt/notesMasters/notesMaster1.xml" Id="Rf72bd6e7edb34b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8e40da44f848e0" /><Relationship Type="http://schemas.openxmlformats.org/officeDocument/2006/relationships/notesMaster" Target="/ppt/notesMasters/notesMaster1.xml" Id="R24734f56cbf042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7bf3124d0e49f2" /><Relationship Type="http://schemas.openxmlformats.org/officeDocument/2006/relationships/notesMaster" Target="/ppt/notesMasters/notesMaster1.xml" Id="R52c1d1857e084f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959c3468484809" /><Relationship Type="http://schemas.openxmlformats.org/officeDocument/2006/relationships/notesMaster" Target="/ppt/notesMasters/notesMaster1.xml" Id="R9805d89d445e40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Workplace Communication.</a:t>
            </a:r>
          </a:p>
          <a:p xmlns:a="http://schemas.openxmlformats.org/drawingml/2006/main">
            <a:r>
              <a:t/>
            </a:r>
          </a:p>
          <a:p xmlns:a="http://schemas.openxmlformats.org/drawingml/2006/main">
            <a:r>
              <a:t>Talking points</a:t>
            </a:r>
          </a:p>
          <a:p xmlns:a="http://schemas.openxmlformats.org/drawingml/2006/main">
            <a:r>
              <a:t>- Choose suitable channels, communicate professionally and repair misunderstandings.</a:t>
            </a:r>
          </a:p>
          <a:p xmlns:a="http://schemas.openxmlformats.org/drawingml/2006/main">
            <a:r>
              <a:t>- Name the three learning areas without teaching them yet: Purpose, audience and communication channels; Professional spoken, written and digital communication; Feedback, conflict and communication repair.</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Purpose, audience and communication channels: Select and interpret workplace communication according to purpose, audience, context and risk.</a:t>
            </a:r>
          </a:p>
          <a:p xmlns:a="http://schemas.openxmlformats.org/drawingml/2006/main">
            <a:r>
              <a:t>- 2. Professional spoken, written and digital communication: Compose clear, courteous and accurate workplace messages across spoken, written and digital settings.</a:t>
            </a:r>
          </a:p>
          <a:p xmlns:a="http://schemas.openxmlformats.org/drawingml/2006/main">
            <a:r>
              <a:t>- 3. Feedback, conflict and communication repair: Use feedback, negotiation and communication repair to address disagreement or misunderstanding constructively.</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Purpose, audience and communication channels.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Select and interpret workplace communication according to purpose, audience, context and risk.</a:t>
            </a:r>
          </a:p>
          <a:p xmlns:a="http://schemas.openxmlformats.org/drawingml/2006/main">
            <a:r>
              <a:t/>
            </a:r>
          </a:p>
          <a:p xmlns:a="http://schemas.openxmlformats.org/drawingml/2006/main">
            <a:r>
              <a:t>Talking points</a:t>
            </a:r>
          </a:p>
          <a:p xmlns:a="http://schemas.openxmlformats.org/drawingml/2006/main">
            <a:r>
              <a:t>- Workplace communication has a purpose: to inform, instruct, request, confirm, persuade, record, warn, solve or build a relationship. It also has an audience whose knowledge, authority, language, culture and access needs affect the message. Effective communicators decide what the receiver needs to know, what action is expected and what evidence or record is required. They do not assume that sending information means it has been understood.</a:t>
            </a:r>
          </a:p>
          <a:p xmlns:a="http://schemas.openxmlformats.org/drawingml/2006/main">
            <a:r>
              <a:t>- Channels include face-to-face discussion, telephone or video, email, messaging, forms, reports, diagrams, numerical records and presentations. Spoken communication allows quick questions but may leave no record. Written communication can be checked and retained but may be too slow for an immediate hazard. Visual and numerical forms can make patterns or spatial information clearer, provided labels and values are accurate. Channel choice therefore depends on urgency, complexity, confidentiality, accessibility and the need for confirmation.</a:t>
            </a:r>
          </a:p>
          <a:p xmlns:a="http://schemas.openxmlformats.org/drawingml/2006/main">
            <a:r>
              <a:t>- Meaning is completed by the receiver. Active listening involves attention, relevant questions, paraphrasing and checking instructions rather than waiting to speak. Open questions invite detail; closed questions confirm a fact. Technical information may require definitions, diagrams or a demonstration. Confidential information should be shared only through authorised channels with people who need it for their role. When communication crosses cultures or abilities, clarity and respectful checking are stronger than assumptions about what another person should understand.</a:t>
            </a:r>
          </a:p>
          <a:p xmlns:a="http://schemas.openxmlformats.org/drawingml/2006/main">
            <a:r>
              <a:t>- Worked example — Choosing a channel for a delivery problem: A driver discovers that a delivery address conflicts with the order record. The customer is waiting, and the correction must also be documented. The driver uses an immediate authorised channel to contact the relevant coordinator, states the conflicting facts and asks a closed question to confirm the correct address. After the decision, the change is recorded in the system. The response combines speed with an accurate record and shares customer information only through the approved process.</a:t>
            </a:r>
          </a:p>
          <a:p xmlns:a="http://schemas.openxmlformats.org/drawingml/2006/main">
            <a:r>
              <a:t>- Visual caption: The same message may need a different channel depending on who needs it, how quickly and whether a record matters.</a:t>
            </a:r>
          </a:p>
          <a:p xmlns:a="http://schemas.openxmlformats.org/drawingml/2006/main">
            <a:r>
              <a:t>- Visual notice: Notice the face-to-face, phone, video and written options. Which would suit an urgent clarification, and which would leave a useful record?</a:t>
            </a:r>
          </a:p>
          <a:p xmlns:a="http://schemas.openxmlformats.org/drawingml/2006/main">
            <a:r>
              <a:t>- Applied evidence: For six workplace messages, select a channel, justify it using urgency, complexity, record, confidentiality and access, then add a method for checking understanding. A channel decision table and two model messages.</a:t>
            </a:r>
          </a:p>
          <a:p xmlns:a="http://schemas.openxmlformats.org/drawingml/2006/main">
            <a:r>
              <a:t/>
            </a:r>
          </a:p>
          <a:p xmlns:a="http://schemas.openxmlformats.org/drawingml/2006/main">
            <a:r>
              <a:t>Prompt: Defend the channel choice for the highest-risk message.</a:t>
            </a:r>
          </a:p>
          <a:p xmlns:a="http://schemas.openxmlformats.org/drawingml/2006/main">
            <a:r>
              <a:t/>
            </a:r>
          </a:p>
          <a:p xmlns:a="http://schemas.openxmlformats.org/drawingml/2006/main">
            <a:r>
              <a:t>Likely misconception or nuance</a:t>
            </a:r>
          </a:p>
          <a:p xmlns:a="http://schemas.openxmlformats.org/drawingml/2006/main">
            <a:r>
              <a:t>- If a message was sent, communication was successful. Correction: Communication is successful only when the intended meaning and required action are understood well enough for the context.</a:t>
            </a:r>
          </a:p>
          <a:p xmlns:a="http://schemas.openxmlformats.org/drawingml/2006/main">
            <a:r>
              <a:t/>
            </a:r>
          </a:p>
          <a:p xmlns:a="http://schemas.openxmlformats.org/drawingml/2006/main">
            <a:r>
              <a:t>Transition: Move to Professional spoken, written and digital communication.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specialists/visuals/web-ready/m03-s01.webp | original AI-generated raster | SHA-256 a50c27b0d21152c10f687a0032ba52dc0b15dcbf10fec798337796ad401d2bfc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Compose clear, courteous and accurate workplace messages across spoken, written and digital settings.</a:t>
            </a:r>
          </a:p>
          <a:p xmlns:a="http://schemas.openxmlformats.org/drawingml/2006/main">
            <a:r>
              <a:t/>
            </a:r>
          </a:p>
          <a:p xmlns:a="http://schemas.openxmlformats.org/drawingml/2006/main">
            <a:r>
              <a:t>Talking points</a:t>
            </a:r>
          </a:p>
          <a:p xmlns:a="http://schemas.openxmlformats.org/drawingml/2006/main">
            <a:r>
              <a:t>- Professional communication is clear, concise, correct, courteous and suited to the workplace. Spoken messages use an audible pace, relevant detail and listening. Written messages use a subject or heading, logical order, accurate spelling and punctuation, and a clear requested action. Numerical and visual messages need correct units, labels and calculations. These features are not about sounding formal for its own sake; they reduce ambiguity and help people act efficiently.</a:t>
            </a:r>
          </a:p>
          <a:p xmlns:a="http://schemas.openxmlformats.org/drawingml/2006/main">
            <a:r>
              <a:t>- Tone communicates the relationship as well as the information. A message to a customer, colleague or supervisor may differ in detail and formality, but all should remain respectful and honest. Personal presentation, body language and personal space can affect how a spoken message is received, yet cultural and individual differences require care. Inclusive communication provides accessible formats or alternatives where needed and avoids jokes, slang or assumptions that could exclude or offend.</a:t>
            </a:r>
          </a:p>
          <a:p xmlns:a="http://schemas.openxmlformats.org/drawingml/2006/main">
            <a:r>
              <a:t>- Digital tools support email, scheduling, documents, spreadsheets, databases, presentations, research and transactions. Responsible use follows workplace policy, protects accounts and confidential information, checks recipients and attachments, and separates personal activity from authorised work. Social media, personal devices and generative tools do not remove the worker’s responsibility for accuracy, privacy and authorship. If a digital message could cause harm when forwarded or misread, it deserves a slower review before sending.</a:t>
            </a:r>
          </a:p>
          <a:p xmlns:a="http://schemas.openxmlformats.org/drawingml/2006/main">
            <a:r>
              <a:t>- Worked example — Rewriting an unclear shift email: A team email says, ‘Roster changed. You know what to do,’ with no date, affected shifts or contact point. The revised message uses a specific subject, states when the change begins, identifies where the confirmed roster can be checked, explains who should respond and gives the authorised contact for questions. It avoids sharing unnecessary personal details. The change is now actionable and leaves a reliable record, while the actual roster decision remains with the workplace.</a:t>
            </a:r>
          </a:p>
          <a:p xmlns:a="http://schemas.openxmlformats.org/drawingml/2006/main">
            <a:r>
              <a:t>- Visual caption: Professional communication stays clear and respectful when the spoken exchange and written follow-up support each other.</a:t>
            </a:r>
          </a:p>
          <a:p xmlns:a="http://schemas.openxmlformats.org/drawingml/2006/main">
            <a:r>
              <a:t>- Visual notice: Notice the worker speaking and writing during the same task. What details should remain consistent across both channels?</a:t>
            </a:r>
          </a:p>
          <a:p xmlns:a="http://schemas.openxmlformats.org/drawingml/2006/main">
            <a:r>
              <a:t>- Applied evidence: Repair five fictional workplace messages with problems in purpose, tone, accuracy, accessibility or privacy. Annotate each change and identify the workplace check still required. Five revised messages and a short editing rationale for each.</a:t>
            </a:r>
          </a:p>
          <a:p xmlns:a="http://schemas.openxmlformats.org/drawingml/2006/main">
            <a:r>
              <a:t/>
            </a:r>
          </a:p>
          <a:p xmlns:a="http://schemas.openxmlformats.org/drawingml/2006/main">
            <a:r>
              <a:t>Prompt: Produce a plain-language version and explain one improvement.</a:t>
            </a:r>
          </a:p>
          <a:p xmlns:a="http://schemas.openxmlformats.org/drawingml/2006/main">
            <a:r>
              <a:t/>
            </a:r>
          </a:p>
          <a:p xmlns:a="http://schemas.openxmlformats.org/drawingml/2006/main">
            <a:r>
              <a:t>Likely misconception or nuance</a:t>
            </a:r>
          </a:p>
          <a:p xmlns:a="http://schemas.openxmlformats.org/drawingml/2006/main">
            <a:r>
              <a:t>- Professional writing must use long words and complicated sentences. Correction: Professional writing prioritises accurate, respectful meaning and a clear action; plain language is often stronger.</a:t>
            </a:r>
          </a:p>
          <a:p xmlns:a="http://schemas.openxmlformats.org/drawingml/2006/main">
            <a:r>
              <a:t/>
            </a:r>
          </a:p>
          <a:p xmlns:a="http://schemas.openxmlformats.org/drawingml/2006/main">
            <a:r>
              <a:t>Transition: Move to Feedback, conflict and communication repair.</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specialists/visuals/web-ready/m03-s02.webp | original AI-generated raster | SHA-256 8452074cc1f5109a058b002bd1039f4923d1f7d976cebdf69b8f71f51e7b80a9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Use feedback, negotiation and communication repair to address disagreement or misunderstanding constructively.</a:t>
            </a:r>
          </a:p>
          <a:p xmlns:a="http://schemas.openxmlformats.org/drawingml/2006/main">
            <a:r>
              <a:t/>
            </a:r>
          </a:p>
          <a:p xmlns:a="http://schemas.openxmlformats.org/drawingml/2006/main">
            <a:r>
              <a:t>Talking points</a:t>
            </a:r>
          </a:p>
          <a:p xmlns:a="http://schemas.openxmlformats.org/drawingml/2006/main">
            <a:r>
              <a:t>- Misunderstanding and disagreement are normal risks in workplaces because people have different roles, information, priorities and communication styles. Conflict becomes more manageable when people separate the issue from personal attack. A position is what someone says they want; an interest is the need or concern underneath it. Clarifying facts, listening actively and finding shared goals can reveal more options than arguing over fixed positions.</a:t>
            </a:r>
          </a:p>
          <a:p xmlns:a="http://schemas.openxmlformats.org/drawingml/2006/main">
            <a:r>
              <a:t>- Constructive feedback describes observable behaviour or work, explains its effect and identifies a practical next step. The receiver listens, asks questions, checks examples and decides what action is required rather than responding only to tone. Feedback can also be inaccurate or poorly delivered; receiving it professionally does not require automatic agreement. The person can seek evidence, clarify expectations and use the appropriate review pathway.</a:t>
            </a:r>
          </a:p>
          <a:p xmlns:a="http://schemas.openxmlformats.org/drawingml/2006/main">
            <a:r>
              <a:t>- Communication repair acknowledges the misunderstanding, corrects the record, checks impact and agrees on a next action. Negotiation may involve priorities, common ground, options, concessions and confirmation. Some matters can be resolved informally; repeated, unsafe, discriminatory or serious issues may need formal support or escalation. The exact local process is Teacher to confirm. Students should document facts and seek appropriate help rather than improvising mediation, disciplinary or legal procedures.</a:t>
            </a:r>
          </a:p>
          <a:p xmlns:a="http://schemas.openxmlformats.org/drawingml/2006/main">
            <a:r>
              <a:t>- Worked example — Repairing a missed handover: Sam believed Kai would finish a customer update; Kai believed Sam had accepted the task. The customer received no response. They avoid arguing about who ‘always’ fails. Each states the message they received, checks the handover record and identifies the missing confirmation. They apologise to the customer through the authorised channel, allocate the immediate task and add a closed-loop handover: sender names the task and deadline, receiver confirms, and both can see the record. Repair addresses the impact and the system.</a:t>
            </a:r>
          </a:p>
          <a:p xmlns:a="http://schemas.openxmlformats.org/drawingml/2006/main">
            <a:r>
              <a:t>- Visual caption: A difficult exchange can be repaired when people slow down, listen and clarify the issue together.</a:t>
            </a:r>
          </a:p>
          <a:p xmlns:a="http://schemas.openxmlformats.org/drawingml/2006/main">
            <a:r>
              <a:t>- Visual notice: Notice the seating, hand positions and neutral support person. Which cues suggest the conversation is moving towards repair?</a:t>
            </a:r>
          </a:p>
          <a:p xmlns:a="http://schemas.openxmlformats.org/drawingml/2006/main">
            <a:r>
              <a:t>- Applied evidence: Analyse a fictional conflict transcript. Mark positions, interests, facts and assumptions, then rewrite the exchange using active listening, constructive feedback and a confirmed next action. An annotated transcript, repaired dialogue and escalation decision.</a:t>
            </a:r>
          </a:p>
          <a:p xmlns:a="http://schemas.openxmlformats.org/drawingml/2006/main">
            <a:r>
              <a:t/>
            </a:r>
          </a:p>
          <a:p xmlns:a="http://schemas.openxmlformats.org/drawingml/2006/main">
            <a:r>
              <a:t>Prompt: Write a closing agreement that is specific and checkable.</a:t>
            </a:r>
          </a:p>
          <a:p xmlns:a="http://schemas.openxmlformats.org/drawingml/2006/main">
            <a:r>
              <a:t/>
            </a:r>
          </a:p>
          <a:p xmlns:a="http://schemas.openxmlformats.org/drawingml/2006/main">
            <a:r>
              <a:t>Likely misconception or nuance</a:t>
            </a:r>
          </a:p>
          <a:p xmlns:a="http://schemas.openxmlformats.org/drawingml/2006/main">
            <a:r>
              <a:t>- Conflict is solved when one person wins and the other gives up. Correction: Durable resolution often depends on evidence, interests, shared goals and a clear agreement; serious matters may require appropriate escalation.</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specialists/visuals/web-ready/m03-s03.webp | original AI-generated raster | SHA-256 b9296793efdd7a649d7b21e27123bf2ae85873c4725ba5f89da82ba94fc8d0b4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Give the immediate warning through the confirmed urgent channel, then record it as required. Rationale: Urgency and documentation can require a combined channel strategy.</a:t>
            </a:r>
          </a:p>
          <a:p xmlns:a="http://schemas.openxmlformats.org/drawingml/2006/main">
            <a:r>
              <a:t>- Check 2: Subject: Confirm availability for 12 September roster; reply by 3 pm Friday. Rationale: The subject identifies the task, date and response deadline.</a:t>
            </a:r>
          </a:p>
          <a:p xmlns:a="http://schemas.openxmlformats.org/drawingml/2006/main">
            <a:r>
              <a:t>- Check 3: State the specific misunderstanding and its impact without attacking the person. Rationale: Specific, neutral language makes evidence and repair possible.</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Feedback, conflict and communication repair.</a:t>
            </a:r>
          </a:p>
          <a:p xmlns:a="http://schemas.openxmlformats.org/drawingml/2006/main">
            <a:r>
              <a:t/>
            </a:r>
          </a:p>
          <a:p xmlns:a="http://schemas.openxmlformats.org/drawingml/2006/main">
            <a:r>
              <a:t>Talking points</a:t>
            </a:r>
          </a:p>
          <a:p xmlns:a="http://schemas.openxmlformats.org/drawingml/2006/main">
            <a:r>
              <a:t>- Prompt: Evaluate a workplace conflict response and design a communication repair and escalation plan.</a:t>
            </a:r>
          </a:p>
          <a:p xmlns:a="http://schemas.openxmlformats.org/drawingml/2006/main">
            <a:r>
              <a:t>- Separate positions, interests, facts and assumptions.</a:t>
            </a:r>
          </a:p>
          <a:p xmlns:a="http://schemas.openxmlformats.org/drawingml/2006/main">
            <a:r>
              <a:t>- Assess the feedback and listening used by each person.</a:t>
            </a:r>
          </a:p>
          <a:p xmlns:a="http://schemas.openxmlformats.org/drawingml/2006/main">
            <a:r>
              <a:t>- Design a repair that acknowledges impact and confirms action.</a:t>
            </a:r>
          </a:p>
          <a:p xmlns:a="http://schemas.openxmlformats.org/drawingml/2006/main">
            <a:r>
              <a:t>- Justify whether informal resolution or further support is appropriate.</a:t>
            </a:r>
          </a:p>
          <a:p xmlns:a="http://schemas.openxmlformats.org/drawingml/2006/main">
            <a:r>
              <a:t>- Success criteria: Uses evidence rather than personal labels.; Builds a specific, checkable repair agreement.; Matches escalation to seriousness and avoids inventing a local procedure.</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3 -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598892c07445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d15c2ac6d04817" /><Relationship Type="http://schemas.openxmlformats.org/officeDocument/2006/relationships/slideLayout" Target="/ppt/slideLayouts/slideLayout1.xml" Id="R28db1738f5f24c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db1738f5f24c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8f520a10784f51" /><Relationship Type="http://schemas.openxmlformats.org/officeDocument/2006/relationships/image" Target="/ppt/media/image.bin" Id="R3f1a9939bec147a7" /><Relationship Type="http://schemas.openxmlformats.org/officeDocument/2006/relationships/notesSlide" Target="/ppt/notesSlides/notesSlide1.xml" Id="R1e7d22f10d404d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078c42ebeb473c" /><Relationship Type="http://schemas.openxmlformats.org/officeDocument/2006/relationships/notesSlide" Target="/ppt/notesSlides/notesSlide2.xml" Id="Rf4cf26bf67e448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46dbae68e2487d" /><Relationship Type="http://schemas.openxmlformats.org/officeDocument/2006/relationships/image" Target="/ppt/media/image2.bin" Id="R70436e9e28844d72" /><Relationship Type="http://schemas.openxmlformats.org/officeDocument/2006/relationships/notesSlide" Target="/ppt/notesSlides/notesSlide3.xml" Id="Rb4afd697c94140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c8875774184726" /><Relationship Type="http://schemas.openxmlformats.org/officeDocument/2006/relationships/image" Target="/ppt/media/image3.bin" Id="R741cb8439bd94f1a" /><Relationship Type="http://schemas.openxmlformats.org/officeDocument/2006/relationships/notesSlide" Target="/ppt/notesSlides/notesSlide4.xml" Id="R6a9d4abed7144c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0be2a6a450431c" /><Relationship Type="http://schemas.openxmlformats.org/officeDocument/2006/relationships/image" Target="/ppt/media/image4.bin" Id="R28e3a4caf159472c" /><Relationship Type="http://schemas.openxmlformats.org/officeDocument/2006/relationships/notesSlide" Target="/ppt/notesSlides/notesSlide5.xml" Id="R3832e21cb8564d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f61d9669cc44f8" /><Relationship Type="http://schemas.openxmlformats.org/officeDocument/2006/relationships/notesSlide" Target="/ppt/notesSlides/notesSlide6.xml" Id="R7f51e01234fc4f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89549ab57f4dde" /><Relationship Type="http://schemas.openxmlformats.org/officeDocument/2006/relationships/image" Target="/ppt/media/image5.bin" Id="R8313ddab1ee14044" /><Relationship Type="http://schemas.openxmlformats.org/officeDocument/2006/relationships/notesSlide" Target="/ppt/notesSlides/notesSlide7.xml" Id="Rd3c27acb5b024e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34d8c3cae44b54" /><Relationship Type="http://schemas.openxmlformats.org/officeDocument/2006/relationships/image" Target="/ppt/media/image6.bin" Id="R28c123d5f33e4177" /><Relationship Type="http://schemas.openxmlformats.org/officeDocument/2006/relationships/notesSlide" Target="/ppt/notesSlides/notesSlide8.xml" Id="R0f4c1036bf684d72"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f1a9939bec147a7"/>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5554A2F7-0571-414D-AA84-65686FBB04AC}"/>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D9709E1E-4253-4895-84ED-4CD7ED35B7CB}"/>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11  ·  M03</a:t>
            </a:r>
          </a:p>
        </p:txBody>
      </p:sp>
      <p:sp>
        <p:nvSpPr>
          <p:cNvPr id="4" name="purpose-title">
            <a:extLst xmlns:a="http://schemas.openxmlformats.org/drawingml/2006/main">
              <a:ext uri="{FF2B5EF4-FFF2-40B4-BE49-F238E27FC236}">
                <a16:creationId xmlns:a16="http://schemas.microsoft.com/office/drawing/2014/main" id="{17FD932C-24B9-443B-8045-6A80637C8506}"/>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Workplace Communication</a:t>
            </a:r>
          </a:p>
        </p:txBody>
      </p:sp>
      <p:sp>
        <p:nvSpPr>
          <p:cNvPr id="5" name="purpose-summary">
            <a:extLst xmlns:a="http://schemas.openxmlformats.org/drawingml/2006/main">
              <a:ext uri="{FF2B5EF4-FFF2-40B4-BE49-F238E27FC236}">
                <a16:creationId xmlns:a16="http://schemas.microsoft.com/office/drawing/2014/main" id="{262A7421-1D80-4E0B-AA49-801013785542}"/>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Choose suitable channels, communicate professionally and repair misunderstandings.</a:t>
            </a:r>
          </a:p>
        </p:txBody>
      </p:sp>
      <p:sp>
        <p:nvSpPr>
          <p:cNvPr id="6" name="purpose-before-label">
            <a:extLst xmlns:a="http://schemas.openxmlformats.org/drawingml/2006/main">
              <a:ext uri="{FF2B5EF4-FFF2-40B4-BE49-F238E27FC236}">
                <a16:creationId xmlns:a16="http://schemas.microsoft.com/office/drawing/2014/main" id="{E4EEF4F1-94DF-4EDF-B813-4C02C3FAC90C}"/>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A91E0550-83FB-4981-B18B-63CFEA06B256}"/>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B04C7E02-6BC2-4CBB-884B-D7F885CC446D}"/>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5E585AD7-A68C-421E-931A-9F88BF1F87EE}"/>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M03  ·  Workplace Communication</a:t>
            </a:r>
          </a:p>
        </p:txBody>
      </p:sp>
      <p:sp>
        <p:nvSpPr>
          <p:cNvPr id="10" name="purpose-footer-number">
            <a:extLst xmlns:a="http://schemas.openxmlformats.org/drawingml/2006/main">
              <a:ext uri="{FF2B5EF4-FFF2-40B4-BE49-F238E27FC236}">
                <a16:creationId xmlns:a16="http://schemas.microsoft.com/office/drawing/2014/main" id="{1901B3A6-8CC3-4CF6-A1B9-1BADBC3EEFCC}"/>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85875402"/>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90535D67-5C16-4E91-99DF-C03018062FEB}"/>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M03</a:t>
            </a:r>
          </a:p>
        </p:txBody>
      </p:sp>
      <p:sp>
        <p:nvSpPr>
          <p:cNvPr id="2" name="slide-title-2">
            <a:extLst xmlns:a="http://schemas.openxmlformats.org/drawingml/2006/main">
              <a:ext uri="{FF2B5EF4-FFF2-40B4-BE49-F238E27FC236}">
                <a16:creationId xmlns:a16="http://schemas.microsoft.com/office/drawing/2014/main" id="{3B76D37D-66E1-4FA0-AB28-8CB8D747C5B4}"/>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E43D15F1-6F5B-4C3E-80B6-93B79E401B6F}"/>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04349B86-7B0F-4509-8D5B-01E800980345}"/>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Purpose, audience and communication channels</a:t>
            </a:r>
          </a:p>
        </p:txBody>
      </p:sp>
      <p:sp>
        <p:nvSpPr>
          <p:cNvPr id="5" name="map-intention-1">
            <a:extLst xmlns:a="http://schemas.openxmlformats.org/drawingml/2006/main">
              <a:ext uri="{FF2B5EF4-FFF2-40B4-BE49-F238E27FC236}">
                <a16:creationId xmlns:a16="http://schemas.microsoft.com/office/drawing/2014/main" id="{8E68B3F4-EBA1-4A1B-B33C-9B5B50AA9CBB}"/>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Select and interpret workplace communication according to purpose, audience, context and risk.</a:t>
            </a:r>
          </a:p>
        </p:txBody>
      </p:sp>
      <p:sp>
        <p:nvSpPr>
          <p:cNvPr id="6" name="map-divider-1">
            <a:extLst xmlns:a="http://schemas.openxmlformats.org/drawingml/2006/main">
              <a:ext uri="{FF2B5EF4-FFF2-40B4-BE49-F238E27FC236}">
                <a16:creationId xmlns:a16="http://schemas.microsoft.com/office/drawing/2014/main" id="{7A2C8DE8-26C8-40E6-BB9A-3BAFA8F9BD10}"/>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03EC8824-F70F-42A2-A170-A71FAFAB047C}"/>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D4F5F577-DDF6-4A3B-83D3-F503D9192F12}"/>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Professional spoken, written and digital communication</a:t>
            </a:r>
          </a:p>
        </p:txBody>
      </p:sp>
      <p:sp>
        <p:nvSpPr>
          <p:cNvPr id="9" name="map-intention-2">
            <a:extLst xmlns:a="http://schemas.openxmlformats.org/drawingml/2006/main">
              <a:ext uri="{FF2B5EF4-FFF2-40B4-BE49-F238E27FC236}">
                <a16:creationId xmlns:a16="http://schemas.microsoft.com/office/drawing/2014/main" id="{690BE17C-0A97-47A2-A4A7-0D58C689D5C2}"/>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Compose clear, courteous and accurate workplace messages across spoken, written and digital settings.</a:t>
            </a:r>
          </a:p>
        </p:txBody>
      </p:sp>
      <p:sp>
        <p:nvSpPr>
          <p:cNvPr id="10" name="map-divider-2">
            <a:extLst xmlns:a="http://schemas.openxmlformats.org/drawingml/2006/main">
              <a:ext uri="{FF2B5EF4-FFF2-40B4-BE49-F238E27FC236}">
                <a16:creationId xmlns:a16="http://schemas.microsoft.com/office/drawing/2014/main" id="{E1370313-7715-46E4-9128-EC97656E4BF0}"/>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98CB60EA-6D6B-406C-9D04-C6670488DD36}"/>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712AF67B-BCAE-44A7-9C8F-9370DAE30212}"/>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Feedback, conflict and communication repair</a:t>
            </a:r>
          </a:p>
        </p:txBody>
      </p:sp>
      <p:sp>
        <p:nvSpPr>
          <p:cNvPr id="13" name="map-intention-3">
            <a:extLst xmlns:a="http://schemas.openxmlformats.org/drawingml/2006/main">
              <a:ext uri="{FF2B5EF4-FFF2-40B4-BE49-F238E27FC236}">
                <a16:creationId xmlns:a16="http://schemas.microsoft.com/office/drawing/2014/main" id="{1C52B77B-1F84-4D92-961F-6ABCA9B6E1C3}"/>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Use feedback, negotiation and communication repair to address disagreement or misunderstanding constructively.</a:t>
            </a:r>
          </a:p>
        </p:txBody>
      </p:sp>
      <p:sp>
        <p:nvSpPr>
          <p:cNvPr id="14" name="map-prompt-band">
            <a:extLst xmlns:a="http://schemas.openxmlformats.org/drawingml/2006/main">
              <a:ext uri="{FF2B5EF4-FFF2-40B4-BE49-F238E27FC236}">
                <a16:creationId xmlns:a16="http://schemas.microsoft.com/office/drawing/2014/main" id="{DA5BAC21-A0FB-465D-8ABC-26AC6D3237E9}"/>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7AE2C60D-86D3-41EA-9A35-6801EBB8B566}"/>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905CDFB1-309F-46B8-BB9D-274EDA73FF0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300F9C31-060E-49A4-8805-184AC2291A48}"/>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M03  ·  Workplace Communication</a:t>
            </a:r>
          </a:p>
        </p:txBody>
      </p:sp>
      <p:sp>
        <p:nvSpPr>
          <p:cNvPr id="18" name="footer-number-2">
            <a:extLst xmlns:a="http://schemas.openxmlformats.org/drawingml/2006/main">
              <a:ext uri="{FF2B5EF4-FFF2-40B4-BE49-F238E27FC236}">
                <a16:creationId xmlns:a16="http://schemas.microsoft.com/office/drawing/2014/main" id="{C6159147-59A0-4E32-901B-0160611368C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633339605"/>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FFAC0031-787D-472A-8A7C-ADFF3DF932EA}"/>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M03</a:t>
            </a:r>
          </a:p>
        </p:txBody>
      </p:sp>
      <p:sp>
        <p:nvSpPr>
          <p:cNvPr id="2" name="slide-title-3">
            <a:extLst xmlns:a="http://schemas.openxmlformats.org/drawingml/2006/main">
              <a:ext uri="{FF2B5EF4-FFF2-40B4-BE49-F238E27FC236}">
                <a16:creationId xmlns:a16="http://schemas.microsoft.com/office/drawing/2014/main" id="{5A1FA0E5-4D2D-469D-823D-A3CDD96A0A0C}"/>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Purpose, audience and communication channels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436e9e28844d72"/>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F696A646-7FD1-4497-88CE-300CA672F7E2}"/>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Workplace communication has a purpose: to inform, instruct, request, confirm, persuade, record, warn, solve or build a relationship. Channels include face-to-face discussion, telephone or video, email, messaging, forms, reports, diagrams, numerical records and presentations. Meaning is completed by the receiver.</a:t>
            </a:r>
          </a:p>
        </p:txBody>
      </p:sp>
      <p:sp>
        <p:nvSpPr>
          <p:cNvPr id="5" name="theory-evidence-surface-1">
            <a:extLst xmlns:a="http://schemas.openxmlformats.org/drawingml/2006/main">
              <a:ext uri="{FF2B5EF4-FFF2-40B4-BE49-F238E27FC236}">
                <a16:creationId xmlns:a16="http://schemas.microsoft.com/office/drawing/2014/main" id="{3590FA4E-AF41-4962-BBA2-1A4BF55DE2D4}"/>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40ACD052-E559-4971-9A57-AF806349FD0A}"/>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CF1AC7B0-F502-4935-9CCC-ED080DDD1D09}"/>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Channel decision lab. For six workplace messages, select a channel, justify it using urgency, complexity, record, confidentiality and access, then add a method for checking understanding. Evidence: A channel decision table and two model messages.</a:t>
            </a:r>
          </a:p>
        </p:txBody>
      </p:sp>
      <p:sp>
        <p:nvSpPr>
          <p:cNvPr id="8" name="theory-notice-1">
            <a:extLst xmlns:a="http://schemas.openxmlformats.org/drawingml/2006/main">
              <a:ext uri="{FF2B5EF4-FFF2-40B4-BE49-F238E27FC236}">
                <a16:creationId xmlns:a16="http://schemas.microsoft.com/office/drawing/2014/main" id="{CEC502A7-E515-4139-B787-B44CC11873B6}"/>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face-to-face, phone, video and written options. Which would suit an urgent clarification, and which would leave a useful record?</a:t>
            </a:r>
          </a:p>
        </p:txBody>
      </p:sp>
      <p:sp>
        <p:nvSpPr>
          <p:cNvPr id="9" name="theory-success-1">
            <a:extLst xmlns:a="http://schemas.openxmlformats.org/drawingml/2006/main">
              <a:ext uri="{FF2B5EF4-FFF2-40B4-BE49-F238E27FC236}">
                <a16:creationId xmlns:a16="http://schemas.microsoft.com/office/drawing/2014/main" id="{C3B1C935-A550-44CB-AD7F-FCA4D5DE380F}"/>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identify the purpose and audience of a message.</a:t>
            </a:r>
          </a:p>
        </p:txBody>
      </p:sp>
      <p:sp>
        <p:nvSpPr>
          <p:cNvPr id="10" name="footer-rule-3">
            <a:extLst xmlns:a="http://schemas.openxmlformats.org/drawingml/2006/main">
              <a:ext uri="{FF2B5EF4-FFF2-40B4-BE49-F238E27FC236}">
                <a16:creationId xmlns:a16="http://schemas.microsoft.com/office/drawing/2014/main" id="{BA3C549E-EFEF-442A-8412-E54D52118252}"/>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854EF494-7DCE-4BBA-992F-F16093D3AACC}"/>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M03  ·  Workplace Communication</a:t>
            </a:r>
          </a:p>
        </p:txBody>
      </p:sp>
      <p:sp>
        <p:nvSpPr>
          <p:cNvPr id="12" name="footer-number-3">
            <a:extLst xmlns:a="http://schemas.openxmlformats.org/drawingml/2006/main">
              <a:ext uri="{FF2B5EF4-FFF2-40B4-BE49-F238E27FC236}">
                <a16:creationId xmlns:a16="http://schemas.microsoft.com/office/drawing/2014/main" id="{7655E6DC-D7AE-4C23-98FB-6A8B0576BD8E}"/>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197034838"/>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C403761C-C85C-411D-BA86-7DEB2D3E12B8}"/>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M03</a:t>
            </a:r>
          </a:p>
        </p:txBody>
      </p:sp>
      <p:sp>
        <p:nvSpPr>
          <p:cNvPr id="2" name="slide-title-4">
            <a:extLst xmlns:a="http://schemas.openxmlformats.org/drawingml/2006/main">
              <a:ext uri="{FF2B5EF4-FFF2-40B4-BE49-F238E27FC236}">
                <a16:creationId xmlns:a16="http://schemas.microsoft.com/office/drawing/2014/main" id="{24000860-2A86-4FD5-BBB7-DF0DA6B53B0E}"/>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Professional spoken, written and digital communication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41cb8439bd94f1a"/>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ADE2B496-703C-46C1-A958-7E4127D4EE92}"/>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Professional communication is clear, concise, correct, courteous and suited to the workplace. Tone communicates the relationship as well as the information. Digital tools support email, scheduling, documents, spreadsheets, databases, presentations, research and transactions.</a:t>
            </a:r>
          </a:p>
        </p:txBody>
      </p:sp>
      <p:sp>
        <p:nvSpPr>
          <p:cNvPr id="5" name="theory-evidence-surface-2">
            <a:extLst xmlns:a="http://schemas.openxmlformats.org/drawingml/2006/main">
              <a:ext uri="{FF2B5EF4-FFF2-40B4-BE49-F238E27FC236}">
                <a16:creationId xmlns:a16="http://schemas.microsoft.com/office/drawing/2014/main" id="{9BB57408-46A0-4EC8-B30C-4D08ABF28F28}"/>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5D577B5D-515F-4E6A-BC73-48A52BDB79C5}"/>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C89B1FAB-3A85-43B5-9A0C-A07CFB50B621}"/>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Message makeover studio. Repair five fictional workplace messages with problems in purpose, tone, accuracy, accessibility or privacy. Evidence: Five revised messages and a short editing rationale for each.</a:t>
            </a:r>
          </a:p>
        </p:txBody>
      </p:sp>
      <p:sp>
        <p:nvSpPr>
          <p:cNvPr id="8" name="theory-notice-2">
            <a:extLst xmlns:a="http://schemas.openxmlformats.org/drawingml/2006/main">
              <a:ext uri="{FF2B5EF4-FFF2-40B4-BE49-F238E27FC236}">
                <a16:creationId xmlns:a16="http://schemas.microsoft.com/office/drawing/2014/main" id="{B763C3D7-1C47-476D-B94A-AF9BED07190C}"/>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worker speaking and writing during the same task. What details should remain consistent across both channels?</a:t>
            </a:r>
          </a:p>
        </p:txBody>
      </p:sp>
      <p:sp>
        <p:nvSpPr>
          <p:cNvPr id="9" name="theory-success-2">
            <a:extLst xmlns:a="http://schemas.openxmlformats.org/drawingml/2006/main">
              <a:ext uri="{FF2B5EF4-FFF2-40B4-BE49-F238E27FC236}">
                <a16:creationId xmlns:a16="http://schemas.microsoft.com/office/drawing/2014/main" id="{4C3C04DF-5D79-401B-B456-EB18FDE0A4C9}"/>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structure a message around purpose and action.</a:t>
            </a:r>
          </a:p>
        </p:txBody>
      </p:sp>
      <p:sp>
        <p:nvSpPr>
          <p:cNvPr id="10" name="footer-rule-4">
            <a:extLst xmlns:a="http://schemas.openxmlformats.org/drawingml/2006/main">
              <a:ext uri="{FF2B5EF4-FFF2-40B4-BE49-F238E27FC236}">
                <a16:creationId xmlns:a16="http://schemas.microsoft.com/office/drawing/2014/main" id="{A8CF8606-F316-4242-8B6A-A0F49037177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9D1B81A0-2598-47DC-A52D-0F52ABE27B47}"/>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M03  ·  Workplace Communication</a:t>
            </a:r>
          </a:p>
        </p:txBody>
      </p:sp>
      <p:sp>
        <p:nvSpPr>
          <p:cNvPr id="12" name="footer-number-4">
            <a:extLst xmlns:a="http://schemas.openxmlformats.org/drawingml/2006/main">
              <a:ext uri="{FF2B5EF4-FFF2-40B4-BE49-F238E27FC236}">
                <a16:creationId xmlns:a16="http://schemas.microsoft.com/office/drawing/2014/main" id="{18AD019F-EDAB-42D0-8076-3353B6D4DA4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628805654"/>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306A31EF-4D23-4D3C-BF17-A189836F4F8B}"/>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M03</a:t>
            </a:r>
          </a:p>
        </p:txBody>
      </p:sp>
      <p:sp>
        <p:nvSpPr>
          <p:cNvPr id="2" name="slide-title-5">
            <a:extLst xmlns:a="http://schemas.openxmlformats.org/drawingml/2006/main">
              <a:ext uri="{FF2B5EF4-FFF2-40B4-BE49-F238E27FC236}">
                <a16:creationId xmlns:a16="http://schemas.microsoft.com/office/drawing/2014/main" id="{EDFF95B7-CFB8-45A1-9A39-DFFB9B6163D4}"/>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Feedback, conflict and communication repair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8e3a4caf159472c"/>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1AA8C119-B35B-4D90-A6F3-078E486CB84B}"/>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Misunderstanding and disagreement are normal risks in workplaces because people have different roles, information, priorities and communication styles. Constructive feedback describes observable behaviour or work, explains its effect and identifies a practical next step. Communication repair acknowledges the misunderstanding, corrects the record, checks impact and agrees on a next action.</a:t>
            </a:r>
          </a:p>
        </p:txBody>
      </p:sp>
      <p:sp>
        <p:nvSpPr>
          <p:cNvPr id="5" name="theory-evidence-surface-3">
            <a:extLst xmlns:a="http://schemas.openxmlformats.org/drawingml/2006/main">
              <a:ext uri="{FF2B5EF4-FFF2-40B4-BE49-F238E27FC236}">
                <a16:creationId xmlns:a16="http://schemas.microsoft.com/office/drawing/2014/main" id="{746CFC3A-7314-449B-A7EB-5D434E90BEC5}"/>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25524400-39A9-4EF2-90A8-17668CFBAD26}"/>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9BEABBA0-991E-4859-B12F-7D45DB75577A}"/>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Repair the handover. Analyse a fictional conflict transcript. Evidence: An annotated transcript, repaired dialogue and escalation decision.</a:t>
            </a:r>
          </a:p>
        </p:txBody>
      </p:sp>
      <p:sp>
        <p:nvSpPr>
          <p:cNvPr id="8" name="theory-notice-3">
            <a:extLst xmlns:a="http://schemas.openxmlformats.org/drawingml/2006/main">
              <a:ext uri="{FF2B5EF4-FFF2-40B4-BE49-F238E27FC236}">
                <a16:creationId xmlns:a16="http://schemas.microsoft.com/office/drawing/2014/main" id="{BE077BC9-68C5-48FA-A1D2-C30EE4AC9A77}"/>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seating, hand positions and neutral support person. Which cues suggest the conversation is moving towards repair?</a:t>
            </a:r>
          </a:p>
        </p:txBody>
      </p:sp>
      <p:sp>
        <p:nvSpPr>
          <p:cNvPr id="9" name="theory-success-3">
            <a:extLst xmlns:a="http://schemas.openxmlformats.org/drawingml/2006/main">
              <a:ext uri="{FF2B5EF4-FFF2-40B4-BE49-F238E27FC236}">
                <a16:creationId xmlns:a16="http://schemas.microsoft.com/office/drawing/2014/main" id="{2FD715CD-AB07-407E-8197-E4018B22101B}"/>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position, interest and evidence in a disagreement.</a:t>
            </a:r>
          </a:p>
        </p:txBody>
      </p:sp>
      <p:sp>
        <p:nvSpPr>
          <p:cNvPr id="10" name="footer-rule-5">
            <a:extLst xmlns:a="http://schemas.openxmlformats.org/drawingml/2006/main">
              <a:ext uri="{FF2B5EF4-FFF2-40B4-BE49-F238E27FC236}">
                <a16:creationId xmlns:a16="http://schemas.microsoft.com/office/drawing/2014/main" id="{2D522D7B-6153-464B-954E-0AF01FF2A5E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C6D17CC7-7765-480A-ACB2-EFCB7BDFCD7F}"/>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M03  ·  Workplace Communication</a:t>
            </a:r>
          </a:p>
        </p:txBody>
      </p:sp>
      <p:sp>
        <p:nvSpPr>
          <p:cNvPr id="12" name="footer-number-5">
            <a:extLst xmlns:a="http://schemas.openxmlformats.org/drawingml/2006/main">
              <a:ext uri="{FF2B5EF4-FFF2-40B4-BE49-F238E27FC236}">
                <a16:creationId xmlns:a16="http://schemas.microsoft.com/office/drawing/2014/main" id="{1991213B-0EBB-4D56-B6A8-B3D84B82498E}"/>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255711555"/>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7D7D6BAE-C081-4F74-9246-614B0873F56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M03</a:t>
            </a:r>
          </a:p>
        </p:txBody>
      </p:sp>
      <p:sp>
        <p:nvSpPr>
          <p:cNvPr id="2" name="slide-title-6">
            <a:extLst xmlns:a="http://schemas.openxmlformats.org/drawingml/2006/main">
              <a:ext uri="{FF2B5EF4-FFF2-40B4-BE49-F238E27FC236}">
                <a16:creationId xmlns:a16="http://schemas.microsoft.com/office/drawing/2014/main" id="{AB259DEA-CDAC-4380-BBBE-317CD4F7D9ED}"/>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4B2005BE-96BA-422B-B20C-1FD99D35277B}"/>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FFA0B4B4-0177-4229-B0ED-D1A96B6F760E}"/>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9B8913EA-58DC-44AD-961A-B59C8FCF4661}"/>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channel is strongest for an immediate hazard that also needs a record?</a:t>
            </a:r>
          </a:p>
        </p:txBody>
      </p:sp>
      <p:sp>
        <p:nvSpPr>
          <p:cNvPr id="6" name="retrieval-separator-1">
            <a:extLst xmlns:a="http://schemas.openxmlformats.org/drawingml/2006/main">
              <a:ext uri="{FF2B5EF4-FFF2-40B4-BE49-F238E27FC236}">
                <a16:creationId xmlns:a16="http://schemas.microsoft.com/office/drawing/2014/main" id="{BD53E3B9-1688-4A32-B4A7-2750C538C7B0}"/>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C496D77D-206D-4E37-AF06-CB2EF4A554B9}"/>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ED19A3F9-C139-48EA-A0D9-7C76E0A5AF17}"/>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email opening is most actionable?</a:t>
            </a:r>
          </a:p>
        </p:txBody>
      </p:sp>
      <p:sp>
        <p:nvSpPr>
          <p:cNvPr id="9" name="retrieval-separator-2">
            <a:extLst xmlns:a="http://schemas.openxmlformats.org/drawingml/2006/main">
              <a:ext uri="{FF2B5EF4-FFF2-40B4-BE49-F238E27FC236}">
                <a16:creationId xmlns:a16="http://schemas.microsoft.com/office/drawing/2014/main" id="{784E7ED0-4322-4346-850B-D6ACD553A711}"/>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00F835F5-0DED-48D8-B987-2A24F1DC905D}"/>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40F9D2CE-0310-40DF-8AC2-FBB2016D5F94}"/>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is the best opening to a communication repair?</a:t>
            </a:r>
          </a:p>
        </p:txBody>
      </p:sp>
      <p:sp>
        <p:nvSpPr>
          <p:cNvPr id="12" name="retrieval-cycle">
            <a:extLst xmlns:a="http://schemas.openxmlformats.org/drawingml/2006/main">
              <a:ext uri="{FF2B5EF4-FFF2-40B4-BE49-F238E27FC236}">
                <a16:creationId xmlns:a16="http://schemas.microsoft.com/office/drawing/2014/main" id="{33D6BD96-6194-4E5E-94DB-9C8C25702EE0}"/>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C2D4D8F6-1635-4520-A808-CF8AA17CFBB0}"/>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B7CD5466-4079-4C4C-AAFA-1DC8A12EA753}"/>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FE791411-2D09-43F9-81D1-F3AE5D080E4C}"/>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AC081DD3-EFDA-4DBC-8C20-BD3F6F4C4FE8}"/>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M03  ·  Workplace Communication</a:t>
            </a:r>
          </a:p>
        </p:txBody>
      </p:sp>
      <p:sp>
        <p:nvSpPr>
          <p:cNvPr id="17" name="footer-number-6">
            <a:extLst xmlns:a="http://schemas.openxmlformats.org/drawingml/2006/main">
              <a:ext uri="{FF2B5EF4-FFF2-40B4-BE49-F238E27FC236}">
                <a16:creationId xmlns:a16="http://schemas.microsoft.com/office/drawing/2014/main" id="{70E0DF10-880F-4F57-98A0-F31EAE6432DC}"/>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1377451504"/>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48638FF7-1EC9-4F4C-8393-7177ACB09F4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M03</a:t>
            </a:r>
          </a:p>
        </p:txBody>
      </p:sp>
      <p:sp>
        <p:nvSpPr>
          <p:cNvPr id="2" name="slide-title-7">
            <a:extLst xmlns:a="http://schemas.openxmlformats.org/drawingml/2006/main">
              <a:ext uri="{FF2B5EF4-FFF2-40B4-BE49-F238E27FC236}">
                <a16:creationId xmlns:a16="http://schemas.microsoft.com/office/drawing/2014/main" id="{06C6B308-2E28-4D4C-972A-043E848BD561}"/>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313ddab1ee14044"/>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91F40E79-6E91-4528-9043-F5655B0D6374}"/>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a workplace conflict response and design a communication repair and escalation plan.</a:t>
            </a:r>
          </a:p>
        </p:txBody>
      </p:sp>
      <p:sp>
        <p:nvSpPr>
          <p:cNvPr id="5" name="guided-step-number-1">
            <a:extLst xmlns:a="http://schemas.openxmlformats.org/drawingml/2006/main">
              <a:ext uri="{FF2B5EF4-FFF2-40B4-BE49-F238E27FC236}">
                <a16:creationId xmlns:a16="http://schemas.microsoft.com/office/drawing/2014/main" id="{2F2206D5-FF6F-47B2-A41C-7BA45BDC928B}"/>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F8AEE3E8-9DA3-40FC-B646-AC05A6D13D0A}"/>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8DF0FE39-BADF-4115-A355-1DB538708B2E}"/>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FD336F17-34AC-400E-A302-61BAB1D1AB69}"/>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04618DEF-EDB3-4341-89EC-D1FCFDFB9F83}"/>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B9F22162-1088-435F-A8B6-D84B111CB88F}"/>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CB728353-2326-48CC-8060-C633D9DF9785}"/>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4E4B2707-CC9E-4032-AAA4-E7B0A41968C1}"/>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3DE3806D-BA64-43E5-B414-3D970BB3063E}"/>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A4EA675F-6310-43FF-B31A-2D2941D46282}"/>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CAACA8C1-EB57-46E2-AE0F-C04A193A8320}"/>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8306F9D9-6011-46F3-8B9F-6C76B646595D}"/>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5557B18E-1B56-4725-8B4C-DB0BA653246F}"/>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B1C87F7B-CCB8-4E9B-A569-78ACA28AF140}"/>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DFB9A775-DD05-4878-924D-932F931BE3F7}"/>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4E63AD70-37D0-4E41-8508-1CF866B1EC26}"/>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C9F7F057-3E59-481B-936D-C2DE05496275}"/>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260F91C4-C499-470D-B734-407B4B4441ED}"/>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Uses evidence rather than personal labels.</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Builds a specific, checkable repair agreement.</a:t>
            </a:r>
          </a:p>
        </p:txBody>
      </p:sp>
      <p:sp>
        <p:nvSpPr>
          <p:cNvPr id="23" name="guided-visual-notice">
            <a:extLst xmlns:a="http://schemas.openxmlformats.org/drawingml/2006/main">
              <a:ext uri="{FF2B5EF4-FFF2-40B4-BE49-F238E27FC236}">
                <a16:creationId xmlns:a16="http://schemas.microsoft.com/office/drawing/2014/main" id="{BA77C1D8-F81E-4025-B4C8-5B2F071D0187}"/>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00D33FAC-E40A-4314-8F2C-A11D4137A99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F3B5807A-A81E-4F90-9D61-85135AADC0FC}"/>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M03  ·  Workplace Communication</a:t>
            </a:r>
          </a:p>
        </p:txBody>
      </p:sp>
      <p:sp>
        <p:nvSpPr>
          <p:cNvPr id="26" name="footer-number-7">
            <a:extLst xmlns:a="http://schemas.openxmlformats.org/drawingml/2006/main">
              <a:ext uri="{FF2B5EF4-FFF2-40B4-BE49-F238E27FC236}">
                <a16:creationId xmlns:a16="http://schemas.microsoft.com/office/drawing/2014/main" id="{24006519-83D7-48F9-8E43-83A26DA660FA}"/>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1807252588"/>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8BF75C45-2B31-4694-85A3-D04DD9968D9E}"/>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M03</a:t>
            </a:r>
          </a:p>
        </p:txBody>
      </p:sp>
      <p:sp>
        <p:nvSpPr>
          <p:cNvPr id="2" name="slide-title-8">
            <a:extLst xmlns:a="http://schemas.openxmlformats.org/drawingml/2006/main">
              <a:ext uri="{FF2B5EF4-FFF2-40B4-BE49-F238E27FC236}">
                <a16:creationId xmlns:a16="http://schemas.microsoft.com/office/drawing/2014/main" id="{D1ABEB5E-4BB0-4F10-820D-FC86BA4E3DA0}"/>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8c123d5f33e4177"/>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C2AED981-AC28-4BA8-B3CB-18F193DAB57D}"/>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D3D0FA1B-0376-4529-A337-727BC56FB414}"/>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10948FEB-2D54-4003-91E8-2C74EE5072D5}"/>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4A50E167-5C66-4A52-A2D1-80C2D4D9A77C}"/>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38242A79-EBDC-46BC-AD31-E2BEAB191DBC}"/>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4ED3DFA4-0F47-478A-900B-3F5DB140814E}"/>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68B59A99-0F20-47B3-8935-994A83672962}"/>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A549E4AD-DD01-4D5C-9FF6-AD70A906BFD2}"/>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80821925-E597-4DFF-ACC9-CAC342CE2BF1}"/>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feedback, conflict and communication repair.</a:t>
            </a:r>
          </a:p>
        </p:txBody>
      </p:sp>
      <p:sp>
        <p:nvSpPr>
          <p:cNvPr id="13" name="close-boundary">
            <a:extLst xmlns:a="http://schemas.openxmlformats.org/drawingml/2006/main">
              <a:ext uri="{FF2B5EF4-FFF2-40B4-BE49-F238E27FC236}">
                <a16:creationId xmlns:a16="http://schemas.microsoft.com/office/drawing/2014/main" id="{9E9B8BB1-5C36-4B47-99F0-CDD71B51CD90}"/>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97F220D6-3820-4BD6-9889-40A5C78FC05D}"/>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1EC17313-67BE-4F4F-9CCC-CE87FEFE919E}"/>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AF433B35-44A8-406E-8D1F-DBB5DC4CC545}"/>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M03  ·  Workplace Communication</a:t>
            </a:r>
          </a:p>
        </p:txBody>
      </p:sp>
      <p:sp>
        <p:nvSpPr>
          <p:cNvPr id="17" name="footer-number-8">
            <a:extLst xmlns:a="http://schemas.openxmlformats.org/drawingml/2006/main">
              <a:ext uri="{FF2B5EF4-FFF2-40B4-BE49-F238E27FC236}">
                <a16:creationId xmlns:a16="http://schemas.microsoft.com/office/drawing/2014/main" id="{61871FF6-0FEA-4909-86FB-F5E008F2CA6E}"/>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19223963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2026-08-31T09:25:30.6490000Z</dcterms:created>
  <dcterms:modified xsi:type="dcterms:W3CDTF">2026-08-31T09:25:30.6490000Z</dcterms:modified>
</coreProperties>
</file>